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58"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7"/>
    <p:restoredTop sz="94610"/>
  </p:normalViewPr>
  <p:slideViewPr>
    <p:cSldViewPr snapToGrid="0" snapToObjects="1">
      <p:cViewPr varScale="1">
        <p:scale>
          <a:sx n="69" d="100"/>
          <a:sy n="69" d="100"/>
        </p:scale>
        <p:origin x="84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6" Type="http://schemas.openxmlformats.org/officeDocument/2006/relationships/slide" Target="slides/slide23.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383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Boa noite. Agradeço à coordenação do curso de Administração pelo convite e a todos vocês pela presença. Hoje quero conversar sobre uma pergunta prática: como uma decisão pública chega até a vida das pessoas. O título fala do papel do administrador na implementação de políticas públicas. O subtítulo resume o percurso desta noite: da decisão pública à capacidade de entrega. No final, quero mostrar como a pesquisa empírica pode fortalecer a carreira de quem trabalha com gestão.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 Antes de entrar no tema, uma breve apresentação. Minha formação inicial é em Arquitetura e Urbanismo, pela UFBA. A arquitetura me deu um olhar para o espaço que levo até hoje. Depois fui para a gestão pública. No Tribunal de Justiça da Bahia, atuei na liderança administrativa. Fiz o doutorado em Ciências Empresariais e Sociais na UCES, em Buenos Aires, com foco em desempenho organizacional. Hoje sou Analista Judiciário no Conselho Nacional de Justiça e coordeno a área de Desenvolvimento Educacional, Pesquisa e Inovação da ENAJU. Também faço pós-doutorado na ENAP, em Governança e Avaliação de Políticas Públicas. Conto isso por um motivo simples. Tudo o que vou apresentar nasceu de problemas reais de gestão. A pesquisa veio depois, para entender melhor esses problemas.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 Vou deixar a tese clara desde já. O administrador faz a política pública acontecer quando organiza o lugar em que ela encontra o cidadão. A tese tem três partes, e a palestra segue essa ordem. Primeiro: a implementação acontece em lugares concretos. Balcões, sistemas, filas, formulários. Segundo: esses lugares podem ser lidos e redesenhados com método. É aqui que apresento a minha pesquisa de pós-doutorado. Terceiro: a pesquisa empírica dá ao administrador essa capacidade. E isso faz diferença na carreira.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 Começo com uma cena que todos conhecem. Uma política pública é bem desenhada. A norma está publicada. O orçamento existe. A comunicação foi feita. Mesmo assim, o cidadão chega ao atendimento e sai sem resolver. Não encontra a fila certa. Não acha a sala. Não entende o formulário. Quem aqui já passou por isso em um órgão público, num banco ou num hospital? [Pausa. Ouvir uma ou duas respostas.] Essa experiência levanta a pergunta que guia a palestra: onde a política pública acontece de fato? Pressman e Wildavsky mostraram, em 1973, que a distância entre decidir e executar é enorme. Essa distância é o território da Administração.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 s. Muito obrigado. No QR code estão os materiais e as referências da palestra. Fico à disposição para perguntas.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 Entre uma decisão pública e o resultado na vida das pessoas existe uma organização inteira. A decisão define a intenção. A entrega é o que o cidadão percebe. No meio está a capacidade organizacional: equipes, rotinas, sistemas, espaços, orçamento e informação. Weber descreveu a burocracia como a forma moderna de organizar essa capacidade. Simon mostrou que as organizações decidem o tempo todo, em cada nível, com informação limitada. Lipsky mostrou que boa parte da política é decidida na linha de frente, por quem atende. O administrador trabalha nesse degrau do meio. Ele coordena recursos, pessoas, rotinas, evidências e adaptações. É ali que a intenção vira funcionamento.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 O campo de estudos da implementação nasceu dessa constatação. Pressman e Wildavsky estudaram um programa federal de emprego aprovado em Washington. Na execução, em Oakland, ele se perdeu entre aprovações, atores e prazos. Lipsky, em 1980, olhou para o servidor da linha de frente: o professor, o policial, o assistente social. Ele mostrou que essas pessoas produzem a política real, sob pressão de demanda e com recursos escassos. Hill e Hupe organizaram o campo e mostraram como organização, discricionariedade e condições institucionais moldam a ação pública. A conclusão para nós é direta. Decidir é só o começo. Execução é gestão. E gestão é o trabalho do administrador.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30 s. Implementar é traduzir. Uma norma precisa virar processo, sistema, espaço, rotina e decisão de linha de frente. Toda tradução envolve interpretação, adaptação e alguma perda. Lascoumes e Le Galès mostram que os instrumentos de política organizam relações e produzem efeitos próprios. Por isso a mesma política gera experiências diferentes em unidades diferentes. Pensem em duas agências do mesmo banco, com as mesmas regras. Uma funciona bem. A outra vive com fila e reclamação. A regra é a mesma. A tradução foi diferente.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30 s. Se a política é traduzida, ela ganha forma em algum lugar. Balcões, salas de atendimento, formulários, sistemas, filas, interfaces, corredores, plataformas. Esses lugares costumam ser tratados como detalhe operacional. Várias tradições de pesquisa mostram que eles importam. O conceito de servicescape, de Bitner, mostrou como o ambiente afeta clientes e funcionários. A literatura de custos administrativos, de Herd e Moynihan, mostrou o peso que o Estado transfere ao cidadão quando o acesso é difícil. Nesses arranjos a norma vira prática, o trabalho se organiza e o cidadão forma sua experiência com o Estado.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 Na pesquisa de pós-doutorado, a primeira tarefa foi verificar o que a literatura já sabia. Foram quatro frentes de revisão bibliográfica e documental, com protocolo de revisão de escopo. O resultado aponta fragmentação. Na literatura de política judiciária, termos ligados à infraestrutura física ficam fora dos temas centrais. Esse resultado é reproduzível. Na literatura de implementação, poucos trabalhos tratam o espaço como variável ativa. Nas evidências empíricas, o conhecimento se concentra no trabalho dos servidores e deixa lacunas nas outras dimensões. Faço uma ressalva importante. Três desses resultados ainda são preliminares. Eles indicam um padrão. A medida exata depende de etapas de triagem em andamento.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Este é o relatório do primeiro ano do pós-doutorado na ENAP, na linha de Governança e práticas de avaliação de políticas públicas, com supervisão da professora Regina Luna. O título resume o percurso: das arquiteturas judiciárias às arenas sociomateriais de implementação. A pesquisa começou pela infraestrutura dos tribunais e por uma escala de avaliação, a ARQJUD, desenvolvida no doutorado. Ao aprofundar o problema, a pergunta cresceu. Como espaços, tecnologias, normas e pessoas participam juntos da implementação? A resposta proposta é o framework ARENAS, depois ampliado pela literatura de governança regulatória.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 O conceito central é o de arena. Uma arena sociomaterial de implementação é uma configuração situada de atores, prescrições institucionais, espaços, artefatos, tecnologias e infraestruturas. É por meio dela que uma política é interpretada, executada, negociada e experimentada. Dois exemplos ajudam. Num mesmo fórum funcionam uma vara de família e um juizado especial. São duas arenas, porque são duas políticas, com práticas e pontos de contato próprios. Já um benefício pedido por aplicativo e validado num posto presencial forma uma arena só, porque o percurso do cidadão é único. A base teórica vem dos estudos de sociomaterialidade, de Orlikowski e de Leonardi.</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30 s. A arena tem cinco componentes. Atores: profissionais, cidadãos, gestores e intermediários. Prescrições: normas, regras e critérios. Materialidades: prédios, salas, balcões e documentos. Tecnologias: sistemas, plataformas e sinalização. Práticas: esperar, circular, atender, decidir, adaptar. O ponto principal está na relação entre eles. Uma norma de acessibilidade só existe de fato quando encontra rampa, sistema, servidor preparado e rotina de atendimento. Leonardi chama isso de imbricação. As decisões passadas se sedimentam na configuração e condicionam o presente.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 30 s. Como esses lugares participam da política? O framework propõe cinco mecanismos. O primeiro é a instrumentação: a norma vira arranjo concreto, como uma resolução de acessibilidade que vira rampa e sinalização tátil. Ou deixa de virar. O segundo é a mediação do trabalho: processos empilhados no corredor porque o arquivo fica em outro andar. O terceiro é a mediação da experiência. Tyler mostrou que as pessoas avaliam a justiça pela qualidade do tratamento recebido. Uma bancada muito elevada na sala de audiência reforça a distância. O quarto é a legibilidade: um tribunal sem sinalização obriga o cidadão a perguntar várias vezes. O quinto é a aprendizagem: erros recorrentes do sistema que nunca chegam a quem decide. Argyris e Schön chamariam isso de falha de aprendizagem organizacional. Cada mecanismo tem uma proposição testável.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 Um desses resultados conversa direto com decisões de gestão. Quando as transações rotineiras migram para o digital, o prédio recebe menos pessoas. Os atendimentos que permanecem presenciais tendem a ser mais complexos. Exigem mais coordenação, mais proteção e mais infraestrutura. A consequência é forte para quem administra. A ocupação média do prédio perde força como indicador de valor público. Isso afeta decisões sobre fechar unidades, reduzir áreas ou redesenhar o atendimento. Deixo claro que é uma proposição a testar. O desenho do teste já existe: acompanhar redes que digitalizaram em fases e medir a complexidade dos atendimentos antes e depois.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 Para levar o framework à prática, desenvolvi o Método ARENAS. Ele organiza o diagnóstico em seis lentes. Arranjo espacial. Rotinas de trabalho. Experiência. Navegabilidade. Aprendizagem. E sociomaterialidade, que costura as demais. O método segue um ciclo: observar, diagnosticar, redesenhar, testar e avaliar, aprender. Há um baralho de vinte e quatro cartas e um checklist bilíngue para conduzir oficinas. Torfing lembra que aprender exige espaços de diálogo com autonomia para agir. O método é um protótipo e ainda não foi testado em oficina. Gostaria muito de testá-lo com estudantes.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 min. Vamos usar o método agora. Imaginem um órgão que lançou um novo protocolo de atendimento. O fluxo foi redesenhado. A meta foi definida. A equipe foi comunicada. Três meses depois, o tempo de atendimento quase não mudou. Onde vocês investigariam? [Pausa. Ouvir respostas.] As lentes ajudam a organizar as hipóteses. A distribuição de pessoas e recursos mudou? O trabalho real seguiu o fluxo prescrito? Usuários e equipe entenderam a mudança? O percurso ficou mais claro? As falhas voltaram para quem decide? Essa é a lógica da gestão baseada em evidências, como defendem Briner, Denyer e Rousseau. Antes de trocar a regra de novo, investigue.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 Isso nos leva à terceira parte da tese. Pesquisa empírica é uma competência do administrador. Ela tem quatro elementos. Problema: enxergar além do sintoma. Método: organizar a investigação. Evidência: sustentar decisões. Comunicação: produzir autoridade técnica. Simon já defendia, em 1947, que administrar é decidir. Quem decide com evidência decide melhor. A pesquisa ensina a separar opinião, hipótese e evidência. A experiência profissional ganha força quando pode ser descrita, analisada e comunicada com método.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 Como começar? Seu local de trabalho já é um campo de pesquisa. Primeiro, observe. Que problema se repete no seu estágio ou no seu emprego? Segundo, registre. Anote casos, fluxos, reclamações e improvisos. Terceiro, meça. Quase toda organização já produz dados administrativos que ninguém analisa. Quarto, escreva. Transforme o achado em artigo, relatório ou proposta. Quem pesquisa o próprio trabalho decide melhor e se diferencia na carreira. Por isso defendo que a metodologia de pesquisa esteja presente na formação de todos os cursos.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30 s. Deixo também um convite de campo. O sistema de Justiça também é organização e serviço público. Ali há temas de governança, produtividade, acessibilidade, inteligência artificial e dados, educação judicial e experiência do usuário. Sadek mostrou, há duas décadas, que o Judiciário passou a ser objeto de reforma e de política pública. Gomes e Guimarães consolidaram uma agenda de pesquisa sobre desempenho e administração da justiça. Para quem estuda Administração, é um campo cheio de problemas reais de gestão.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30 s. Uma palavra sobre rigor. Na pesquisa, cada resultado tem um estágio. Proposição. Evidência preliminar. Manuscrito. Aceite. Publicação. Declarar o estágio de cada resultado protege a credibilidade. Hoje o ARENAS é uma formulação teórica fundamentada. O segundo ano do pós-doutorado abre o teste empírico das proposições e a validação dos instrumentos. Essa disciplina vale também para a gestão. O administrador que apresenta dados com o grau de certeza declarado ganha a confiança de quem decide.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30 s. Para fechar o argumento. O administrador transforma decisões públicas em capacidade de entrega. Quatro perguntas resumem a palestra e servem para qualquer organização. Como a política foi traduzida? Que arena a implementa? Que evidências mostram o funcionamento real? Como a organização aprende com a experiência? Pressman e Wildavsky mostraram a distância entre decidir e executar. Lipsky mostrou que a política é feita na linha de frente. A Administração organiza essa passagem. A pesquisa empírica a torna visível e aperfeiçoável.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Termino com um convite. Que pergunta o seu trabalho já está fazendo? A pesquisa empírica começa na observação atenta da prática. A Administração é um campo privilegiado para isso, porque vive no meio dos problemas reais. [Opcional:] Tenho interesse em ajudar a construir aqui um espaço de pesquisa com estudantes, em que problemas reais de gestão virem projetos de iniciação científica.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UDO">
    <p:bg>
      <p:bgPr>
        <a:solidFill>
          <a:srgbClr val="FBFAF7"/>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FF5A1F"/>
          </a:solidFill>
          <a:ln w="12700">
            <a:solidFill>
              <a:srgbClr val="FF5A1F"/>
            </a:solidFill>
            <a:prstDash val="solid"/>
          </a:ln>
        </p:spPr>
      </p:sp>
      <p:sp>
        <p:nvSpPr>
          <p:cNvPr id="3" name="Text 1"/>
          <p:cNvSpPr/>
          <p:nvPr/>
        </p:nvSpPr>
        <p:spPr>
          <a:xfrm>
            <a:off x="566928" y="256032"/>
            <a:ext cx="5852160" cy="237744"/>
          </a:xfrm>
          <a:prstGeom prst="rect">
            <a:avLst/>
          </a:prstGeom>
          <a:noFill/>
          <a:ln/>
        </p:spPr>
        <p:txBody>
          <a:bodyPr wrap="square" lIns="0" tIns="0" rIns="0" bIns="0" rtlCol="0" anchor="ctr"/>
          <a:lstStyle/>
          <a:p>
            <a:pPr marL="0" indent="0">
              <a:buNone/>
            </a:pPr>
            <a:r>
              <a:rPr lang="en-US" sz="900" b="1" kern="0" spc="50" dirty="0">
                <a:solidFill>
                  <a:srgbClr val="0A2252"/>
                </a:solidFill>
                <a:latin typeface="Aptos" pitchFamily="34" charset="0"/>
                <a:ea typeface="Aptos" pitchFamily="34" charset="-122"/>
                <a:cs typeface="Aptos" pitchFamily="34" charset="-120"/>
              </a:rPr>
              <a:t>IV CONGRESSO CIENTÍFICO  |  ANHANGUERA ASA NORTE</a:t>
            </a:r>
            <a:endParaRPr lang="en-US" sz="900" dirty="0"/>
          </a:p>
        </p:txBody>
      </p:sp>
      <p:sp>
        <p:nvSpPr>
          <p:cNvPr id="4" name="Text 2"/>
          <p:cNvSpPr/>
          <p:nvPr/>
        </p:nvSpPr>
        <p:spPr>
          <a:xfrm>
            <a:off x="9738360" y="256032"/>
            <a:ext cx="1874520" cy="237744"/>
          </a:xfrm>
          <a:prstGeom prst="rect">
            <a:avLst/>
          </a:prstGeom>
          <a:noFill/>
          <a:ln/>
        </p:spPr>
        <p:txBody>
          <a:bodyPr wrap="square" lIns="0" tIns="0" rIns="0" bIns="0" rtlCol="0" anchor="ctr"/>
          <a:lstStyle/>
          <a:p>
            <a:pPr marL="0" indent="0" algn="r">
              <a:buNone/>
            </a:pPr>
            <a:r>
              <a:rPr lang="en-US" sz="900" dirty="0">
                <a:solidFill>
                  <a:srgbClr val="687386"/>
                </a:solidFill>
                <a:latin typeface="Aptos" pitchFamily="34" charset="0"/>
                <a:ea typeface="Aptos" pitchFamily="34" charset="-122"/>
                <a:cs typeface="Aptos" pitchFamily="34" charset="-120"/>
              </a:rPr>
              <a:t>06 e 07 de outubro de 2026</a:t>
            </a:r>
            <a:endParaRPr lang="en-US" sz="900" dirty="0"/>
          </a:p>
        </p:txBody>
      </p:sp>
      <p:sp>
        <p:nvSpPr>
          <p:cNvPr id="5" name="Shape 3"/>
          <p:cNvSpPr/>
          <p:nvPr/>
        </p:nvSpPr>
        <p:spPr>
          <a:xfrm>
            <a:off x="566928" y="621792"/>
            <a:ext cx="11045952" cy="0"/>
          </a:xfrm>
          <a:prstGeom prst="line">
            <a:avLst/>
          </a:prstGeom>
          <a:noFill/>
          <a:ln w="12700">
            <a:solidFill>
              <a:srgbClr val="E7E2DA"/>
            </a:solidFill>
            <a:prstDash val="solid"/>
          </a:ln>
        </p:spPr>
      </p:sp>
      <p:sp>
        <p:nvSpPr>
          <p:cNvPr id="6" name="Text 4"/>
          <p:cNvSpPr/>
          <p:nvPr/>
        </p:nvSpPr>
        <p:spPr>
          <a:xfrm>
            <a:off x="566928" y="6492240"/>
            <a:ext cx="2743200" cy="182880"/>
          </a:xfrm>
          <a:prstGeom prst="rect">
            <a:avLst/>
          </a:prstGeom>
          <a:noFill/>
          <a:ln/>
        </p:spPr>
        <p:txBody>
          <a:bodyPr wrap="square" lIns="0" tIns="0" rIns="0" bIns="0" rtlCol="0" anchor="ctr"/>
          <a:lstStyle/>
          <a:p>
            <a:pPr marL="0" indent="0">
              <a:buNone/>
            </a:pPr>
            <a:r>
              <a:rPr lang="en-US" sz="850" b="1" dirty="0">
                <a:solidFill>
                  <a:srgbClr val="FF5A1F"/>
                </a:solidFill>
              </a:rPr>
              <a:t>Conhecimento que transforma</a:t>
            </a:r>
            <a:endParaRPr lang="en-US" sz="850" dirty="0"/>
          </a:p>
        </p:txBody>
      </p:sp>
      <p:sp>
        <p:nvSpPr>
          <p:cNvPr id="7" name="Text 5"/>
          <p:cNvSpPr/>
          <p:nvPr/>
        </p:nvSpPr>
        <p:spPr>
          <a:xfrm>
            <a:off x="8001000" y="6492240"/>
            <a:ext cx="3611880" cy="182880"/>
          </a:xfrm>
          <a:prstGeom prst="rect">
            <a:avLst/>
          </a:prstGeom>
          <a:noFill/>
          <a:ln/>
        </p:spPr>
        <p:txBody>
          <a:bodyPr wrap="square" lIns="0" tIns="0" rIns="0" bIns="0" rtlCol="0" anchor="ctr"/>
          <a:lstStyle/>
          <a:p>
            <a:pPr marL="0" indent="0" algn="r">
              <a:buNone/>
            </a:pPr>
            <a:r>
              <a:rPr lang="en-US" sz="850" dirty="0">
                <a:solidFill>
                  <a:srgbClr val="7D8797"/>
                </a:solidFill>
              </a:rPr>
              <a:t>IV Congresso Científico • Anhanguera Asa Norte</a:t>
            </a:r>
            <a:endParaRPr lang="en-US" sz="850" dirty="0"/>
          </a:p>
        </p:txBody>
      </p:sp>
      <p:sp>
        <p:nvSpPr>
          <p:cNvPr id="8" name="Shape 6"/>
          <p:cNvSpPr/>
          <p:nvPr/>
        </p:nvSpPr>
        <p:spPr>
          <a:xfrm>
            <a:off x="566928" y="6345936"/>
            <a:ext cx="11045952" cy="0"/>
          </a:xfrm>
          <a:prstGeom prst="line">
            <a:avLst/>
          </a:prstGeom>
          <a:noFill/>
          <a:ln w="12700">
            <a:solidFill>
              <a:srgbClr val="E7E2DA"/>
            </a:solidFill>
            <a:prstDash val="solid"/>
          </a:ln>
        </p:spPr>
      </p:sp>
      <p:sp>
        <p:nvSpPr>
          <p:cNvPr id="25" name="Slide Number Placeholder 0"/>
          <p:cNvSpPr>
            <a:spLocks noGrp="1"/>
          </p:cNvSpPr>
          <p:nvPr>
            <p:ph type="sldNum" sz="quarter" idx="4294967295"/>
          </p:nvPr>
        </p:nvSpPr>
        <p:spPr>
          <a:xfrm>
            <a:off x="11631168" y="6473952"/>
            <a:ext cx="164592" cy="164592"/>
          </a:xfrm>
          <a:prstGeom prst="rect">
            <a:avLst/>
          </a:prstGeom>
          <a:extLst>
            <a:ext uri="{C572A759-6A51-4108-AA02-DFA0A04FC94B}">
              <ma14:wrappingTextBoxFlag xmlns:ma14="http://schemas.microsoft.com/office/mac/drawingml/2011/main" xmlns="" val="0"/>
            </a:ext>
          </a:extLst>
        </p:spPr>
        <p:txBody>
          <a:bodyPr/>
          <a:lstStyle>
            <a:lvl1pPr>
              <a:defRPr sz="850">
                <a:solidFill>
                  <a:srgbClr val="7D8797"/>
                </a:solidFill>
              </a:defRPr>
            </a:lvl1pPr>
          </a:lstStyle>
          <a:p>
            <a:pPr algn="r"/>
            <a:fld id="{F7021451-1387-4CA6-816F-3879F97B5CBC}" type="slidenum">
              <a:rPr lang="en-US" b="0"/>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31168" y="6473952"/>
            <a:ext cx="164592" cy="164592"/>
          </a:xfrm>
          <a:prstGeom prst="rect">
            <a:avLst/>
          </a:prstGeom>
          <a:extLst>
            <a:ext uri="{C572A759-6A51-4108-AA02-DFA0A04FC94B}">
              <ma14:wrappingTextBoxFlag xmlns:ma14="http://schemas.microsoft.com/office/mac/drawingml/2011/main" xmlns="" val="0"/>
            </a:ext>
          </a:extLst>
        </p:spPr>
        <p:txBody>
          <a:bodyPr/>
          <a:lstStyle>
            <a:lvl1pPr>
              <a:defRPr sz="850">
                <a:solidFill>
                  <a:srgbClr val="7D8797"/>
                </a:solidFill>
              </a:defRPr>
            </a:lvl1pPr>
          </a:lstStyle>
          <a:p>
            <a:pPr algn="r"/>
            <a:fld id="{F7021451-1387-4CA6-816F-3879F97B5CBC}" type="slidenum">
              <a:rPr lang="en-US" b="0"/>
              <a:t>‹nº›</a:t>
            </a:fld>
            <a:endParaRPr lang="en-US"/>
          </a:p>
        </p:txBody>
      </p:sp>
      <p:sp>
        <p:nvSpPr>
          <p:cNvPr id="3" name="CaixaDeTexto 2">
            <a:extLst>
              <a:ext uri="{FF2B5EF4-FFF2-40B4-BE49-F238E27FC236}">
                <a16:creationId xmlns:a16="http://schemas.microsoft.com/office/drawing/2014/main" id="{3CC41D57-8196-B888-4883-FCEB715D50D7}"/>
              </a:ext>
            </a:extLst>
          </p:cNvPr>
          <p:cNvSpPr txBox="1"/>
          <p:nvPr userDrawn="1">
            <p:extLst>
              <p:ext uri="{1162E1C5-73C7-4A58-AE30-91384D911F3F}">
                <p184:classification xmlns:p184="http://schemas.microsoft.com/office/powerpoint/2018/4/main" val="ftr"/>
              </p:ext>
            </p:extLst>
          </p:nvPr>
        </p:nvSpPr>
        <p:spPr>
          <a:xfrm>
            <a:off x="63500" y="6642100"/>
            <a:ext cx="441325" cy="152400"/>
          </a:xfrm>
          <a:prstGeom prst="rect">
            <a:avLst/>
          </a:prstGeom>
        </p:spPr>
        <p:txBody>
          <a:bodyPr horzOverflow="overflow" lIns="0" tIns="0" rIns="0" bIns="0">
            <a:spAutoFit/>
          </a:bodyPr>
          <a:lstStyle/>
          <a:p>
            <a:pPr algn="l"/>
            <a:r>
              <a:rPr lang="pt-BR" sz="1000">
                <a:solidFill>
                  <a:srgbClr val="000000">
                    <a:alpha val="50000"/>
                  </a:srgbClr>
                </a:solidFill>
                <a:latin typeface="Aptos" panose="020B0004020202020204" pitchFamily="34" charset="0"/>
              </a:rPr>
              <a:t>Público</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M1" Type="http://schemas.openxmlformats.org/officeDocument/2006/relationships/image" Target="../media/il-organizacao.jpeg"/><Relationship Id="rId1" Type="http://schemas.openxmlformats.org/officeDocument/2006/relationships/slideLayout" Target="../slideLayouts/slideLayout2.xml"/><Relationship Id="rId3" Type="http://schemas.openxmlformats.org/officeDocument/2006/relationships/image" Target="../media/image1.png"/><Relationship Id="rId4"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M1" Type="http://schemas.openxmlformats.org/officeDocument/2006/relationships/image" Target="../media/il-traducao.jpeg"/><Relationship Id="rId1" Type="http://schemas.openxmlformats.org/officeDocument/2006/relationships/slideLayout" Target="../slideLayouts/slideLayout2.xml"/><Relationship Id="rId3" Type="http://schemas.openxmlformats.org/officeDocument/2006/relationships/image" Target="../media/image1.png"/><Relationship Id="rId4"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M1" Type="http://schemas.openxmlformats.org/officeDocument/2006/relationships/image" Target="../media/capa-posdoc.jpeg"/><Relationship Id="rId1" Type="http://schemas.openxmlformats.org/officeDocument/2006/relationships/slideLayout" Target="../slideLayouts/slideLayout2.xml"/><Relationship Id="rId3" Type="http://schemas.openxmlformats.org/officeDocument/2006/relationships/image" Target="../media/image1.png"/><Relationship Id="rId4"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M1" Type="http://schemas.openxmlformats.org/officeDocument/2006/relationships/image" Target="../media/il-ciclo.jpeg"/><Relationship Id="rId1" Type="http://schemas.openxmlformats.org/officeDocument/2006/relationships/slideLayout" Target="../slideLayouts/slideLayout2.xml"/><Relationship Id="rId3" Type="http://schemas.openxmlformats.org/officeDocument/2006/relationships/image" Target="../media/image1.png"/><Relationship Id="rId4"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M1" Type="http://schemas.openxmlformats.org/officeDocument/2006/relationships/image" Target="../media/qr-sitehub.png"/><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AF7"/>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F5A1F"/>
          </a:solidFill>
          <a:ln w="12700">
            <a:solidFill>
              <a:srgbClr val="FF5A1F"/>
            </a:solidFill>
            <a:prstDash val="solid"/>
          </a:ln>
        </p:spPr>
        <p:txBody>
          <a:bodyPr/>
          <a:lstStyle/>
          <a:p>
            <a:endParaRPr lang="pt-BR"/>
          </a:p>
        </p:txBody>
      </p:sp>
      <p:sp>
        <p:nvSpPr>
          <p:cNvPr id="3" name="Shape 1"/>
          <p:cNvSpPr/>
          <p:nvPr/>
        </p:nvSpPr>
        <p:spPr>
          <a:xfrm rot="900000">
            <a:off x="8915400" y="-960120"/>
            <a:ext cx="4297680" cy="4297680"/>
          </a:xfrm>
          <a:prstGeom prst="arc">
            <a:avLst/>
          </a:prstGeom>
          <a:solidFill>
            <a:srgbClr val="FBFAF7">
              <a:alpha val="0"/>
            </a:srgbClr>
          </a:solidFill>
          <a:ln w="25400">
            <a:solidFill>
              <a:srgbClr val="FFE1D4">
                <a:alpha val="90000"/>
              </a:srgbClr>
            </a:solidFill>
            <a:prstDash val="solid"/>
          </a:ln>
        </p:spPr>
        <p:txBody>
          <a:bodyPr/>
          <a:lstStyle/>
          <a:p>
            <a:endParaRPr lang="pt-BR"/>
          </a:p>
        </p:txBody>
      </p:sp>
      <p:sp>
        <p:nvSpPr>
          <p:cNvPr id="4" name="Shape 2"/>
          <p:cNvSpPr/>
          <p:nvPr/>
        </p:nvSpPr>
        <p:spPr>
          <a:xfrm rot="900000">
            <a:off x="9464040" y="-502920"/>
            <a:ext cx="3749040" cy="3749040"/>
          </a:xfrm>
          <a:prstGeom prst="arc">
            <a:avLst/>
          </a:prstGeom>
          <a:solidFill>
            <a:srgbClr val="FBFAF7">
              <a:alpha val="0"/>
            </a:srgbClr>
          </a:solidFill>
          <a:ln w="15240">
            <a:solidFill>
              <a:srgbClr val="FFD0BC"/>
            </a:solidFill>
            <a:prstDash val="solid"/>
          </a:ln>
        </p:spPr>
        <p:txBody>
          <a:bodyPr/>
          <a:lstStyle/>
          <a:p>
            <a:endParaRPr lang="pt-BR"/>
          </a:p>
        </p:txBody>
      </p:sp>
      <p:sp>
        <p:nvSpPr>
          <p:cNvPr id="6" name="Text 3"/>
          <p:cNvSpPr/>
          <p:nvPr/>
        </p:nvSpPr>
        <p:spPr>
          <a:xfrm>
            <a:off x="749808" y="1005840"/>
            <a:ext cx="4937760" cy="1600200"/>
          </a:xfrm>
          <a:prstGeom prst="rect">
            <a:avLst/>
          </a:prstGeom>
          <a:noFill/>
          <a:ln/>
        </p:spPr>
        <p:txBody>
          <a:bodyPr wrap="square" lIns="0" tIns="0" rIns="0" bIns="0" rtlCol="0" anchor="ctr">
            <a:normAutofit/>
          </a:bodyPr>
          <a:lstStyle/>
          <a:p>
            <a:pPr marL="0" indent="0">
              <a:buNone/>
            </a:pPr>
            <a:r>
              <a:rPr lang="en-US" sz="2600" b="1" dirty="0">
                <a:solidFill>
                  <a:srgbClr val="0A2252"/>
                </a:solidFill>
                <a:latin typeface="Aptos Display" pitchFamily="34" charset="0"/>
                <a:ea typeface="Aptos Display" pitchFamily="34" charset="-122"/>
                <a:cs typeface="Aptos Display" pitchFamily="34" charset="-120"/>
              </a:rPr>
              <a:t>O PAPEL DO ADMINISTRADOR NA IMPLEMENTAÇÃO DE POLÍTICAS PÚBLICAS</a:t>
            </a:r>
            <a:endParaRPr lang="en-US" sz="2600" dirty="0"/>
          </a:p>
        </p:txBody>
      </p:sp>
      <p:sp>
        <p:nvSpPr>
          <p:cNvPr id="7" name="Shape 4"/>
          <p:cNvSpPr/>
          <p:nvPr/>
        </p:nvSpPr>
        <p:spPr>
          <a:xfrm>
            <a:off x="749808" y="2788920"/>
            <a:ext cx="1078992" cy="0"/>
          </a:xfrm>
          <a:prstGeom prst="line">
            <a:avLst/>
          </a:prstGeom>
          <a:noFill/>
          <a:ln w="50800">
            <a:solidFill>
              <a:srgbClr val="FF5A1F"/>
            </a:solidFill>
            <a:prstDash val="solid"/>
          </a:ln>
        </p:spPr>
        <p:txBody>
          <a:bodyPr/>
          <a:lstStyle/>
          <a:p>
            <a:endParaRPr lang="pt-BR"/>
          </a:p>
        </p:txBody>
      </p:sp>
      <p:sp>
        <p:nvSpPr>
          <p:cNvPr id="8" name="Text 5"/>
          <p:cNvSpPr/>
          <p:nvPr/>
        </p:nvSpPr>
        <p:spPr>
          <a:xfrm>
            <a:off x="749808" y="3017520"/>
            <a:ext cx="4937760" cy="384048"/>
          </a:xfrm>
          <a:prstGeom prst="rect">
            <a:avLst/>
          </a:prstGeom>
          <a:noFill/>
          <a:ln/>
        </p:spPr>
        <p:txBody>
          <a:bodyPr wrap="square" lIns="0" tIns="0" rIns="0" bIns="0" rtlCol="0" anchor="ctr"/>
          <a:lstStyle/>
          <a:p>
            <a:pPr marL="0" indent="0">
              <a:buNone/>
            </a:pPr>
            <a:r>
              <a:rPr lang="en-US" sz="1700" b="1" dirty="0">
                <a:solidFill>
                  <a:srgbClr val="FF5A1F"/>
                </a:solidFill>
              </a:rPr>
              <a:t>Igor Caires Machado</a:t>
            </a:r>
            <a:endParaRPr lang="en-US" sz="1700" dirty="0"/>
          </a:p>
        </p:txBody>
      </p:sp>
      <p:sp>
        <p:nvSpPr>
          <p:cNvPr id="9" name="Text 6"/>
          <p:cNvSpPr/>
          <p:nvPr/>
        </p:nvSpPr>
        <p:spPr>
          <a:xfrm>
            <a:off x="749808" y="3383280"/>
            <a:ext cx="4937760" cy="320040"/>
          </a:xfrm>
          <a:prstGeom prst="rect">
            <a:avLst/>
          </a:prstGeom>
          <a:noFill/>
          <a:ln/>
        </p:spPr>
        <p:txBody>
          <a:bodyPr wrap="square" lIns="0" tIns="0" rIns="0" bIns="0" rtlCol="0" anchor="ctr"/>
          <a:lstStyle/>
          <a:p>
            <a:pPr marL="0" indent="0">
              <a:buNone/>
            </a:pPr>
            <a:r>
              <a:rPr lang="en-US" sz="1300" dirty="0">
                <a:solidFill>
                  <a:srgbClr val="667085"/>
                </a:solidFill>
              </a:rPr>
              <a:t>Analista Judiciário (CNJ) • Pós-doutorado (ENAP)</a:t>
            </a:r>
            <a:endParaRPr lang="en-US" sz="1300" dirty="0"/>
          </a:p>
        </p:txBody>
      </p:sp>
      <p:sp>
        <p:nvSpPr>
          <p:cNvPr id="10" name="Text 7"/>
          <p:cNvSpPr/>
          <p:nvPr/>
        </p:nvSpPr>
        <p:spPr>
          <a:xfrm>
            <a:off x="749808" y="5961888"/>
            <a:ext cx="5120640" cy="274320"/>
          </a:xfrm>
          <a:prstGeom prst="rect">
            <a:avLst/>
          </a:prstGeom>
          <a:noFill/>
          <a:ln/>
        </p:spPr>
        <p:txBody>
          <a:bodyPr wrap="square" lIns="0" tIns="0" rIns="0" bIns="0" rtlCol="0" anchor="ctr"/>
          <a:lstStyle/>
          <a:p>
            <a:pPr marL="0" indent="0">
              <a:buNone/>
            </a:pPr>
            <a:r>
              <a:rPr lang="en-US" sz="1100" dirty="0">
                <a:solidFill>
                  <a:srgbClr val="667085"/>
                </a:solidFill>
              </a:rPr>
              <a:t>07 de outubro de 2026  •  Curso de Administração  •  Brasília – DF</a:t>
            </a:r>
            <a:endParaRPr lang="en-US" sz="1100" dirty="0"/>
          </a:p>
        </p:txBody>
      </p:sp>
      <p:pic>
        <p:nvPicPr>
          <p:cNvPr id="13" name="Imagem 12">
            <a:extLst>
              <a:ext uri="{FF2B5EF4-FFF2-40B4-BE49-F238E27FC236}">
                <a16:creationId xmlns:a16="http://schemas.microsoft.com/office/drawing/2014/main" id="{7B4BD31A-3ADF-4A4F-E277-0140655BB4C4}"/>
              </a:ext>
            </a:extLst>
          </p:cNvPr>
          <p:cNvPicPr>
            <a:picLocks noChangeAspect="1"/>
          </p:cNvPicPr>
          <p:nvPr/>
        </p:nvPicPr>
        <p:blipFill>
          <a:blip r:embed="rId3"/>
          <a:stretch>
            <a:fillRect/>
          </a:stretch>
        </p:blipFill>
        <p:spPr>
          <a:xfrm>
            <a:off x="5830101" y="349797"/>
            <a:ext cx="5612091" cy="5612091"/>
          </a:xfrm>
          <a:prstGeom prst="rect">
            <a:avLst/>
          </a:prstGeom>
        </p:spPr>
      </p:pic>
      <p:sp>
        <p:nvSpPr>
          <p:cNvPr id="101" name="Texto 101"/>
          <p:cNvSpPr txBox="1"/>
          <p:nvPr/>
        </p:nvSpPr>
        <p:spPr>
          <a:xfrm>
            <a:off x="749808" y="3730752"/>
            <a:ext cx="4937760" cy="365760"/>
          </a:xfrm>
          <a:prstGeom prst="rect">
            <a:avLst/>
          </a:prstGeom>
          <a:noFill/>
          <a:ln>
            <a:noFill/>
          </a:ln>
        </p:spPr>
        <p:txBody>
          <a:bodyPr wrap="square" lIns="0" tIns="0" rIns="0" bIns="0" rtlCol="0" anchor="t">
            <a:normAutofit/>
          </a:bodyPr>
          <a:lstStyle/>
          <a:p>
            <a:pPr algn="l" marL="0" indent="0">
              <a:buNone/>
            </a:pPr>
            <a:r>
              <a:rPr lang="pt-BR" sz="1400" i="1" dirty="0">
                <a:solidFill>
                  <a:srgbClr val="667085"/>
                </a:solidFill>
              </a:rPr>
              <a:t>Da decisão pública à capacidade de entrega</a:t>
            </a:r>
          </a:p>
        </p:txBody>
      </p:sp>
      <p:sp>
        <p:nvSpPr>
          <p:cNvPr id="102" name="Roteiro 102"/>
          <p:cNvSpPr/>
          <p:nvPr/>
        </p:nvSpPr>
        <p:spPr>
          <a:xfrm>
            <a:off x="749808" y="4206240"/>
            <a:ext cx="4846320" cy="1005840"/>
          </a:xfrm>
          <a:prstGeom prst="roundRect">
            <a:avLst>
              <a:gd name="adj" fmla="val 8000"/>
            </a:avLst>
          </a:prstGeom>
          <a:solidFill>
            <a:srgbClr val="FFFFFF"/>
          </a:solidFill>
          <a:ln w="12700">
            <a:solidFill>
              <a:srgbClr val="FFD1BE"/>
            </a:solidFill>
          </a:ln>
        </p:spPr>
        <p:txBody>
          <a:bodyPr wrap="square" lIns="91440" tIns="91440" rIns="91440" bIns="91440" rtlCol="0" anchor="ctr">
            <a:normAutofit/>
          </a:bodyPr>
          <a:lstStyle/>
          <a:p>
            <a:pPr algn="l" marL="171450" indent="-171450">
              <a:spcAft>
                <a:spcPts val="150"/>
              </a:spcAft>
              <a:buFont typeface="Arial"/>
              <a:buChar char="•"/>
            </a:pPr>
            <a:r>
              <a:rPr lang="pt-BR" sz="1050" dirty="0">
                <a:solidFill>
                  <a:srgbClr val="26364F"/>
                </a:solidFill>
              </a:rPr>
              <a:t>Agradecimento à coordenação do curso</a:t>
            </a:r>
          </a:p>
          <a:p>
            <a:pPr algn="l" marL="171450" indent="-171450">
              <a:spcAft>
                <a:spcPts val="150"/>
              </a:spcAft>
              <a:buFont typeface="Arial"/>
              <a:buChar char="•"/>
            </a:pPr>
            <a:r>
              <a:rPr lang="pt-BR" sz="1050" dirty="0">
                <a:solidFill>
                  <a:srgbClr val="26364F"/>
                </a:solidFill>
              </a:rPr>
              <a:t>Tema: implementação de políticas públicas</a:t>
            </a:r>
          </a:p>
          <a:p>
            <a:pPr algn="l" marL="171450" indent="-171450">
              <a:spcAft>
                <a:spcPts val="150"/>
              </a:spcAft>
              <a:buFont typeface="Arial"/>
              <a:buChar char="•"/>
            </a:pPr>
            <a:r>
              <a:rPr lang="pt-BR" sz="1050" dirty="0">
                <a:solidFill>
                  <a:srgbClr val="26364F"/>
                </a:solidFill>
              </a:rPr>
              <a:t>Pesquisa empírica como ferramenta de carreira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58368" y="896112"/>
            <a:ext cx="9052560" cy="502920"/>
          </a:xfrm>
          <a:prstGeom prst="rect">
            <a:avLst/>
          </a:prstGeom>
          <a:noFill/>
          <a:ln/>
        </p:spPr>
        <p:txBody>
          <a:bodyPr wrap="square" lIns="0" tIns="0" rIns="0" bIns="0" rtlCol="0" anchor="ctr">
            <a:normAutofit/>
          </a:bodyPr>
          <a:lstStyle/>
          <a:p>
            <a:pPr marL="0" indent="0">
              <a:buNone/>
            </a:pPr>
            <a:r>
              <a:rPr lang="pt-BR" sz="2600" b="1" dirty="0">
                <a:solidFill>
                  <a:srgbClr val="0A2252"/>
                </a:solidFill>
                <a:latin typeface="Aptos Display" pitchFamily="34" charset="0"/>
                <a:ea typeface="Aptos Display" pitchFamily="34" charset="-122"/>
                <a:cs typeface="Aptos Display" pitchFamily="34" charset="-120"/>
              </a:rPr>
              <a:t>TRAJETÓRIA</a:t>
            </a:r>
            <a:endParaRPr lang="en-US" sz="2600" dirty="0"/>
          </a:p>
        </p:txBody>
      </p:sp>
      <p:sp>
        <p:nvSpPr>
          <p:cNvPr id="3" name="Shape 1"/>
          <p:cNvSpPr/>
          <p:nvPr/>
        </p:nvSpPr>
        <p:spPr>
          <a:xfrm>
            <a:off x="658368" y="1536192"/>
            <a:ext cx="822960" cy="0"/>
          </a:xfrm>
          <a:prstGeom prst="line">
            <a:avLst/>
          </a:prstGeom>
          <a:noFill/>
          <a:ln w="44450">
            <a:solidFill>
              <a:srgbClr val="FF5A1F"/>
            </a:solidFill>
            <a:prstDash val="solid"/>
          </a:ln>
        </p:spPr>
        <p:txBody>
          <a:bodyPr/>
          <a:lstStyle/>
          <a:p>
            <a:endParaRPr lang="pt-BR"/>
          </a:p>
        </p:txBody>
      </p:sp>
      <p:sp>
        <p:nvSpPr>
          <p:cNvPr id="25" name="Slide Number Placeholder 0"/>
          <p:cNvSpPr>
            <a:spLocks noGrp="1"/>
          </p:cNvSpPr>
          <p:nvPr>
            <p:ph type="sldNum" sz="quarter" idx="4294967295"/>
          </p:nvPr>
        </p:nvSpPr>
        <p:spPr>
          <a:xfrm>
            <a:off x="11631168" y="6473952"/>
            <a:ext cx="420000" cy="164592"/>
          </a:xfrm>
          <a:prstGeom prst="rect">
            <a:avLst/>
          </a:prstGeom>
          <a:extLst>
            <a:ext uri="{C572A759-6A51-4108-AA02-DFA0A04FC94B}">
              <ma14:wrappingTextBoxFlag xmlns:ma14="http://schemas.microsoft.com/office/mac/drawingml/2011/main" xmlns="" val="0"/>
            </a:ext>
          </a:extLst>
        </p:spPr>
        <p:txBody>
          <a:bodyPr/>
          <a:lstStyle>
            <a:lvl1pPr>
              <a:defRPr sz="850">
                <a:solidFill>
                  <a:srgbClr val="7D8797"/>
                </a:solidFill>
              </a:defRPr>
            </a:lvl1pPr>
          </a:lstStyle>
          <a:p>
            <a:pPr algn="r"/>
            <a:fld id="{F7021451-1387-4CA6-816F-3879F97B5CBC}" type="slidenum">
              <a:rPr lang="en-US" b="0"/>
              <a:t>2</a:t>
            </a:fld>
            <a:endParaRPr lang="en-US"/>
          </a:p>
        </p:txBody>
      </p:sp>
      <p:pic>
        <p:nvPicPr>
          <p:cNvPr id="9" name="Imagem 8">
            <a:extLst>
              <a:ext uri="{FF2B5EF4-FFF2-40B4-BE49-F238E27FC236}">
                <a16:creationId xmlns:a16="http://schemas.microsoft.com/office/drawing/2014/main" id="{35A0857D-7EDC-DFF6-3CFE-A70D6D0695B9}"/>
              </a:ext>
            </a:extLst>
          </p:cNvPr>
          <p:cNvPicPr>
            <a:picLocks noChangeAspect="1"/>
          </p:cNvPicPr>
          <p:nvPr/>
        </p:nvPicPr>
        <p:blipFill>
          <a:blip r:embed="rId3"/>
          <a:srcRect l="-577" t="22570" r="577" b="16329"/>
          <a:stretch>
            <a:fillRect/>
          </a:stretch>
        </p:blipFill>
        <p:spPr>
          <a:xfrm>
            <a:off x="199282" y="5178555"/>
            <a:ext cx="2564091" cy="1566665"/>
          </a:xfrm>
          <a:prstGeom prst="rect">
            <a:avLst/>
          </a:prstGeom>
        </p:spPr>
      </p:pic>
      <p:sp>
        <p:nvSpPr>
          <p:cNvPr id="101" name="Cartão 101"/>
          <p:cNvSpPr/>
          <p:nvPr/>
        </p:nvSpPr>
        <p:spPr>
          <a:xfrm>
            <a:off x="658368" y="1783080"/>
            <a:ext cx="3468624" cy="1417320"/>
          </a:xfrm>
          <a:prstGeom prst="roundRect">
            <a:avLst>
              <a:gd name="adj" fmla="val 6000"/>
            </a:avLst>
          </a:prstGeom>
          <a:solidFill>
            <a:srgbClr val="FFFFFF"/>
          </a:solidFill>
          <a:ln w="12700">
            <a:solidFill>
              <a:srgbClr val="E7E2DA"/>
            </a:solidFill>
          </a:ln>
          <a:effectLst>
            <a:outerShdw blurRad="76200" dist="19050" dir="5400000" algn="t" rotWithShape="0">
              <a:srgbClr val="0A2252">
                <a:alpha val="12000"/>
              </a:srgbClr>
            </a:outerShdw>
          </a:effectLst>
        </p:spPr>
        <p:txBody>
          <a:bodyPr wrap="square" lIns="201168" tIns="201168" rIns="201168" bIns="201168" rtlCol="0" anchor="ctr">
            <a:normAutofit/>
          </a:bodyPr>
          <a:lstStyle/>
          <a:p>
            <a:pPr algn="l" marL="0" indent="0">
              <a:lnSpc>
                <a:spcPct val="100000"/>
              </a:lnSpc>
              <a:spcAft>
                <a:spcPts val="500"/>
              </a:spcAft>
              <a:buNone/>
            </a:pPr>
            <a:r>
              <a:rPr lang="pt-BR" sz="2000" b="1" dirty="0">
                <a:solidFill>
                  <a:srgbClr val="FF5A1F"/>
                </a:solidFill>
                <a:latin typeface="Aptos Display"/>
                <a:ea typeface="Aptos Display"/>
                <a:cs typeface="Aptos Display"/>
              </a:rPr>
              <a:t>UFBA · 2007</a:t>
            </a:r>
          </a:p>
          <a:p>
            <a:pPr algn="l" marL="0" indent="0">
              <a:lnSpc>
                <a:spcPct val="105000"/>
              </a:lnSpc>
              <a:buNone/>
            </a:pPr>
            <a:r>
              <a:rPr lang="pt-BR" sz="1400" dirty="0">
                <a:solidFill>
                  <a:srgbClr val="26364F"/>
                </a:solidFill>
              </a:rPr>
              <a:t>Graduação em Arquitetura e Urbanismo</a:t>
            </a:r>
          </a:p>
        </p:txBody>
      </p:sp>
      <p:sp>
        <p:nvSpPr>
          <p:cNvPr id="102" name="Cartão 102"/>
          <p:cNvSpPr/>
          <p:nvPr/>
        </p:nvSpPr>
        <p:spPr>
          <a:xfrm>
            <a:off x="4355592" y="1783080"/>
            <a:ext cx="3468624" cy="1417320"/>
          </a:xfrm>
          <a:prstGeom prst="roundRect">
            <a:avLst>
              <a:gd name="adj" fmla="val 6000"/>
            </a:avLst>
          </a:prstGeom>
          <a:solidFill>
            <a:srgbClr val="FFFFFF"/>
          </a:solidFill>
          <a:ln w="12700">
            <a:solidFill>
              <a:srgbClr val="E7E2DA"/>
            </a:solidFill>
          </a:ln>
          <a:effectLst>
            <a:outerShdw blurRad="76200" dist="19050" dir="5400000" algn="t" rotWithShape="0">
              <a:srgbClr val="0A2252">
                <a:alpha val="12000"/>
              </a:srgbClr>
            </a:outerShdw>
          </a:effectLst>
        </p:spPr>
        <p:txBody>
          <a:bodyPr wrap="square" lIns="201168" tIns="201168" rIns="201168" bIns="201168" rtlCol="0" anchor="ctr">
            <a:normAutofit/>
          </a:bodyPr>
          <a:lstStyle/>
          <a:p>
            <a:pPr algn="l" marL="0" indent="0">
              <a:lnSpc>
                <a:spcPct val="100000"/>
              </a:lnSpc>
              <a:spcAft>
                <a:spcPts val="500"/>
              </a:spcAft>
              <a:buNone/>
            </a:pPr>
            <a:r>
              <a:rPr lang="pt-BR" sz="2000" b="1" dirty="0">
                <a:solidFill>
                  <a:srgbClr val="FF5A1F"/>
                </a:solidFill>
                <a:latin typeface="Aptos Display"/>
                <a:ea typeface="Aptos Display"/>
                <a:cs typeface="Aptos Display"/>
              </a:rPr>
              <a:t>TJBA</a:t>
            </a:r>
          </a:p>
          <a:p>
            <a:pPr algn="l" marL="0" indent="0">
              <a:lnSpc>
                <a:spcPct val="105000"/>
              </a:lnSpc>
              <a:buNone/>
            </a:pPr>
            <a:r>
              <a:rPr lang="pt-BR" sz="1400" dirty="0">
                <a:solidFill>
                  <a:srgbClr val="26364F"/>
                </a:solidFill>
              </a:rPr>
              <a:t>Liderança administrativa no Tribunal de Justiça da Bahia</a:t>
            </a:r>
          </a:p>
        </p:txBody>
      </p:sp>
      <p:sp>
        <p:nvSpPr>
          <p:cNvPr id="103" name="Cartão 103"/>
          <p:cNvSpPr/>
          <p:nvPr/>
        </p:nvSpPr>
        <p:spPr>
          <a:xfrm>
            <a:off x="8052816" y="1783080"/>
            <a:ext cx="3468624" cy="1417320"/>
          </a:xfrm>
          <a:prstGeom prst="roundRect">
            <a:avLst>
              <a:gd name="adj" fmla="val 6000"/>
            </a:avLst>
          </a:prstGeom>
          <a:solidFill>
            <a:srgbClr val="FFFFFF"/>
          </a:solidFill>
          <a:ln w="12700">
            <a:solidFill>
              <a:srgbClr val="E7E2DA"/>
            </a:solidFill>
          </a:ln>
          <a:effectLst>
            <a:outerShdw blurRad="76200" dist="19050" dir="5400000" algn="t" rotWithShape="0">
              <a:srgbClr val="0A2252">
                <a:alpha val="12000"/>
              </a:srgbClr>
            </a:outerShdw>
          </a:effectLst>
        </p:spPr>
        <p:txBody>
          <a:bodyPr wrap="square" lIns="201168" tIns="201168" rIns="201168" bIns="201168" rtlCol="0" anchor="ctr">
            <a:normAutofit/>
          </a:bodyPr>
          <a:lstStyle/>
          <a:p>
            <a:pPr algn="l" marL="0" indent="0">
              <a:lnSpc>
                <a:spcPct val="100000"/>
              </a:lnSpc>
              <a:spcAft>
                <a:spcPts val="500"/>
              </a:spcAft>
              <a:buNone/>
            </a:pPr>
            <a:r>
              <a:rPr lang="pt-BR" sz="2000" b="1" dirty="0">
                <a:solidFill>
                  <a:srgbClr val="FF5A1F"/>
                </a:solidFill>
                <a:latin typeface="Aptos Display"/>
                <a:ea typeface="Aptos Display"/>
                <a:cs typeface="Aptos Display"/>
              </a:rPr>
              <a:t>UCES · 2024</a:t>
            </a:r>
          </a:p>
          <a:p>
            <a:pPr algn="l" marL="0" indent="0">
              <a:lnSpc>
                <a:spcPct val="105000"/>
              </a:lnSpc>
              <a:buNone/>
            </a:pPr>
            <a:r>
              <a:rPr lang="pt-BR" sz="1400" dirty="0">
                <a:solidFill>
                  <a:srgbClr val="26364F"/>
                </a:solidFill>
              </a:rPr>
              <a:t>Doutorado em Ciências Empresariais e Sociais, Buenos Aires</a:t>
            </a:r>
          </a:p>
        </p:txBody>
      </p:sp>
      <p:sp>
        <p:nvSpPr>
          <p:cNvPr id="104" name="Cartão 104"/>
          <p:cNvSpPr/>
          <p:nvPr/>
        </p:nvSpPr>
        <p:spPr>
          <a:xfrm>
            <a:off x="658368" y="3429000"/>
            <a:ext cx="3468624" cy="1417320"/>
          </a:xfrm>
          <a:prstGeom prst="roundRect">
            <a:avLst>
              <a:gd name="adj" fmla="val 6000"/>
            </a:avLst>
          </a:prstGeom>
          <a:solidFill>
            <a:srgbClr val="0A2252"/>
          </a:solidFill>
          <a:ln>
            <a:noFill/>
          </a:ln>
        </p:spPr>
        <p:txBody>
          <a:bodyPr wrap="square" lIns="201168" tIns="201168" rIns="201168" bIns="201168" rtlCol="0" anchor="ctr">
            <a:normAutofit/>
          </a:bodyPr>
          <a:lstStyle/>
          <a:p>
            <a:pPr algn="l" marL="0" indent="0">
              <a:lnSpc>
                <a:spcPct val="100000"/>
              </a:lnSpc>
              <a:spcAft>
                <a:spcPts val="500"/>
              </a:spcAft>
              <a:buNone/>
            </a:pPr>
            <a:r>
              <a:rPr lang="pt-BR" sz="2000" b="1" dirty="0">
                <a:solidFill>
                  <a:srgbClr val="FF5A1F"/>
                </a:solidFill>
                <a:latin typeface="Aptos Display"/>
                <a:ea typeface="Aptos Display"/>
                <a:cs typeface="Aptos Display"/>
              </a:rPr>
              <a:t>CNJ</a:t>
            </a:r>
          </a:p>
          <a:p>
            <a:pPr algn="l" marL="0" indent="0">
              <a:lnSpc>
                <a:spcPct val="105000"/>
              </a:lnSpc>
              <a:buNone/>
            </a:pPr>
            <a:r>
              <a:rPr lang="pt-BR" sz="1400" dirty="0">
                <a:solidFill>
                  <a:srgbClr val="FFFFFF"/>
                </a:solidFill>
              </a:rPr>
              <a:t>Analista Judiciário no Conselho Nacional de Justiça</a:t>
            </a:r>
          </a:p>
        </p:txBody>
      </p:sp>
      <p:sp>
        <p:nvSpPr>
          <p:cNvPr id="105" name="Cartão 105"/>
          <p:cNvSpPr/>
          <p:nvPr/>
        </p:nvSpPr>
        <p:spPr>
          <a:xfrm>
            <a:off x="4355592" y="3429000"/>
            <a:ext cx="3468624" cy="1417320"/>
          </a:xfrm>
          <a:prstGeom prst="roundRect">
            <a:avLst>
              <a:gd name="adj" fmla="val 6000"/>
            </a:avLst>
          </a:prstGeom>
          <a:solidFill>
            <a:srgbClr val="0A2252"/>
          </a:solidFill>
          <a:ln>
            <a:noFill/>
          </a:ln>
        </p:spPr>
        <p:txBody>
          <a:bodyPr wrap="square" lIns="201168" tIns="201168" rIns="201168" bIns="201168" rtlCol="0" anchor="ctr">
            <a:normAutofit/>
          </a:bodyPr>
          <a:lstStyle/>
          <a:p>
            <a:pPr algn="l" marL="0" indent="0">
              <a:lnSpc>
                <a:spcPct val="100000"/>
              </a:lnSpc>
              <a:spcAft>
                <a:spcPts val="500"/>
              </a:spcAft>
              <a:buNone/>
            </a:pPr>
            <a:r>
              <a:rPr lang="pt-BR" sz="2000" b="1" dirty="0">
                <a:solidFill>
                  <a:srgbClr val="FF5A1F"/>
                </a:solidFill>
                <a:latin typeface="Aptos Display"/>
                <a:ea typeface="Aptos Display"/>
                <a:cs typeface="Aptos Display"/>
              </a:rPr>
              <a:t>ENAJU</a:t>
            </a:r>
          </a:p>
          <a:p>
            <a:pPr algn="l" marL="0" indent="0">
              <a:lnSpc>
                <a:spcPct val="105000"/>
              </a:lnSpc>
              <a:buNone/>
            </a:pPr>
            <a:r>
              <a:rPr lang="pt-BR" sz="1400" dirty="0">
                <a:solidFill>
                  <a:srgbClr val="FFFFFF"/>
                </a:solidFill>
              </a:rPr>
              <a:t>Coordenação de Desenvolvimento Educacional, Pesquisa e Inovação</a:t>
            </a:r>
          </a:p>
        </p:txBody>
      </p:sp>
      <p:sp>
        <p:nvSpPr>
          <p:cNvPr id="106" name="Cartão 106"/>
          <p:cNvSpPr/>
          <p:nvPr/>
        </p:nvSpPr>
        <p:spPr>
          <a:xfrm>
            <a:off x="8052816" y="3429000"/>
            <a:ext cx="3468624" cy="1417320"/>
          </a:xfrm>
          <a:prstGeom prst="roundRect">
            <a:avLst>
              <a:gd name="adj" fmla="val 6000"/>
            </a:avLst>
          </a:prstGeom>
          <a:solidFill>
            <a:srgbClr val="0A2252"/>
          </a:solidFill>
          <a:ln>
            <a:noFill/>
          </a:ln>
        </p:spPr>
        <p:txBody>
          <a:bodyPr wrap="square" lIns="201168" tIns="201168" rIns="201168" bIns="201168" rtlCol="0" anchor="ctr">
            <a:normAutofit/>
          </a:bodyPr>
          <a:lstStyle/>
          <a:p>
            <a:pPr algn="l" marL="0" indent="0">
              <a:lnSpc>
                <a:spcPct val="100000"/>
              </a:lnSpc>
              <a:spcAft>
                <a:spcPts val="500"/>
              </a:spcAft>
              <a:buNone/>
            </a:pPr>
            <a:r>
              <a:rPr lang="pt-BR" sz="2000" b="1" dirty="0">
                <a:solidFill>
                  <a:srgbClr val="FF5A1F"/>
                </a:solidFill>
                <a:latin typeface="Aptos Display"/>
                <a:ea typeface="Aptos Display"/>
                <a:cs typeface="Aptos Display"/>
              </a:rPr>
              <a:t>ENAP · 2025–2026</a:t>
            </a:r>
          </a:p>
          <a:p>
            <a:pPr algn="l" marL="0" indent="0">
              <a:lnSpc>
                <a:spcPct val="105000"/>
              </a:lnSpc>
              <a:buNone/>
            </a:pPr>
            <a:r>
              <a:rPr lang="pt-BR" sz="1400" dirty="0">
                <a:solidFill>
                  <a:srgbClr val="FFFFFF"/>
                </a:solidFill>
              </a:rPr>
              <a:t>Pós-doutorado em Governança e Avaliação de Políticas Públicas</a:t>
            </a:r>
          </a:p>
        </p:txBody>
      </p:sp>
      <p:sp>
        <p:nvSpPr>
          <p:cNvPr id="107" name="Roteiro 107"/>
          <p:cNvSpPr/>
          <p:nvPr/>
        </p:nvSpPr>
        <p:spPr>
          <a:xfrm>
            <a:off x="7269480" y="5230368"/>
            <a:ext cx="4251960" cy="1005840"/>
          </a:xfrm>
          <a:prstGeom prst="roundRect">
            <a:avLst>
              <a:gd name="adj" fmla="val 8000"/>
            </a:avLst>
          </a:prstGeom>
          <a:solidFill>
            <a:srgbClr val="FFFFFF"/>
          </a:solidFill>
          <a:ln w="12700">
            <a:solidFill>
              <a:srgbClr val="FFD1BE"/>
            </a:solidFill>
          </a:ln>
        </p:spPr>
        <p:txBody>
          <a:bodyPr wrap="square" lIns="91440" tIns="91440" rIns="91440" bIns="91440" rtlCol="0" anchor="ctr">
            <a:normAutofit/>
          </a:bodyPr>
          <a:lstStyle/>
          <a:p>
            <a:pPr algn="l" marL="171450" indent="-171450">
              <a:spcAft>
                <a:spcPts val="150"/>
              </a:spcAft>
              <a:buFont typeface="Arial"/>
              <a:buChar char="•"/>
            </a:pPr>
            <a:r>
              <a:rPr lang="pt-BR" sz="1050" dirty="0">
                <a:solidFill>
                  <a:srgbClr val="26364F"/>
                </a:solidFill>
              </a:rPr>
              <a:t>Formação em arquitetura e urbanismo</a:t>
            </a:r>
          </a:p>
          <a:p>
            <a:pPr algn="l" marL="171450" indent="-171450">
              <a:spcAft>
                <a:spcPts val="150"/>
              </a:spcAft>
              <a:buFont typeface="Arial"/>
              <a:buChar char="•"/>
            </a:pPr>
            <a:r>
              <a:rPr lang="pt-BR" sz="1050" dirty="0">
                <a:solidFill>
                  <a:srgbClr val="26364F"/>
                </a:solidFill>
              </a:rPr>
              <a:t>Gestão pública no TJBA, no CNJ e na ENAJU</a:t>
            </a:r>
          </a:p>
          <a:p>
            <a:pPr algn="l" marL="171450" indent="-171450">
              <a:spcAft>
                <a:spcPts val="150"/>
              </a:spcAft>
              <a:buFont typeface="Arial"/>
              <a:buChar char="•"/>
            </a:pPr>
            <a:r>
              <a:rPr lang="pt-BR" sz="1050" dirty="0">
                <a:solidFill>
                  <a:srgbClr val="26364F"/>
                </a:solidFill>
              </a:rPr>
              <a:t>Doutorado na UCES e pós-doutorado na ENAP</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58368" y="896112"/>
            <a:ext cx="9052560" cy="502920"/>
          </a:xfrm>
          <a:prstGeom prst="rect">
            <a:avLst/>
          </a:prstGeom>
          <a:noFill/>
          <a:ln/>
        </p:spPr>
        <p:txBody>
          <a:bodyPr wrap="square" lIns="0" tIns="0" rIns="0" bIns="0" rtlCol="0" anchor="ctr">
            <a:normAutofit/>
          </a:bodyPr>
          <a:lstStyle/>
          <a:p>
            <a:pPr marL="0" indent="0">
              <a:buNone/>
            </a:pPr>
            <a:r>
              <a:rPr lang="pt-BR" sz="2600" b="1" dirty="0">
                <a:solidFill>
                  <a:srgbClr val="0A2252"/>
                </a:solidFill>
                <a:latin typeface="Aptos Display" pitchFamily="34" charset="0"/>
                <a:ea typeface="Aptos Display" pitchFamily="34" charset="-122"/>
                <a:cs typeface="Aptos Display" pitchFamily="34" charset="-120"/>
              </a:rPr>
              <a:t>UMA POLÍTICA BEM DESENHADA PODE TRAVAR NO BALCÃO</a:t>
            </a:r>
            <a:endParaRPr lang="en-US" sz="2600" dirty="0"/>
          </a:p>
        </p:txBody>
      </p:sp>
      <p:sp>
        <p:nvSpPr>
          <p:cNvPr id="3" name="Shape 1"/>
          <p:cNvSpPr/>
          <p:nvPr/>
        </p:nvSpPr>
        <p:spPr>
          <a:xfrm>
            <a:off x="658368" y="1536192"/>
            <a:ext cx="822960" cy="0"/>
          </a:xfrm>
          <a:prstGeom prst="line">
            <a:avLst/>
          </a:prstGeom>
          <a:noFill/>
          <a:ln w="44450">
            <a:solidFill>
              <a:srgbClr val="FF5A1F"/>
            </a:solidFill>
            <a:prstDash val="solid"/>
          </a:ln>
        </p:spPr>
        <p:txBody>
          <a:bodyPr/>
          <a:lstStyle/>
          <a:p>
            <a:endParaRPr lang="pt-BR"/>
          </a:p>
        </p:txBody>
      </p:sp>
      <p:sp>
        <p:nvSpPr>
          <p:cNvPr id="25" name="Slide Number Placeholder 0"/>
          <p:cNvSpPr>
            <a:spLocks noGrp="1"/>
          </p:cNvSpPr>
          <p:nvPr>
            <p:ph type="sldNum" sz="quarter" idx="4294967295"/>
          </p:nvPr>
        </p:nvSpPr>
        <p:spPr>
          <a:xfrm>
            <a:off x="11631168" y="6473952"/>
            <a:ext cx="420000" cy="164592"/>
          </a:xfrm>
          <a:prstGeom prst="rect">
            <a:avLst/>
          </a:prstGeom>
          <a:extLst>
            <a:ext uri="{C572A759-6A51-4108-AA02-DFA0A04FC94B}">
              <ma14:wrappingTextBoxFlag xmlns:ma14="http://schemas.microsoft.com/office/mac/drawingml/2011/main" xmlns="" val="0"/>
            </a:ext>
          </a:extLst>
        </p:spPr>
        <p:txBody>
          <a:bodyPr/>
          <a:lstStyle>
            <a:lvl1pPr>
              <a:defRPr sz="850">
                <a:solidFill>
                  <a:srgbClr val="7D8797"/>
                </a:solidFill>
              </a:defRPr>
            </a:lvl1pPr>
          </a:lstStyle>
          <a:p>
            <a:pPr algn="r"/>
            <a:fld id="{F7021451-1387-4CA6-816F-3879F97B5CBC}" type="slidenum">
              <a:rPr lang="en-US" b="0"/>
              <a:t>2</a:t>
            </a:fld>
            <a:endParaRPr lang="en-US"/>
          </a:p>
        </p:txBody>
      </p:sp>
      <p:pic>
        <p:nvPicPr>
          <p:cNvPr id="9" name="Imagem 8">
            <a:extLst>
              <a:ext uri="{FF2B5EF4-FFF2-40B4-BE49-F238E27FC236}">
                <a16:creationId xmlns:a16="http://schemas.microsoft.com/office/drawing/2014/main" id="{35A0857D-7EDC-DFF6-3CFE-A70D6D0695B9}"/>
              </a:ext>
            </a:extLst>
          </p:cNvPr>
          <p:cNvPicPr>
            <a:picLocks noChangeAspect="1"/>
          </p:cNvPicPr>
          <p:nvPr/>
        </p:nvPicPr>
        <p:blipFill>
          <a:blip r:embed="rId3"/>
          <a:srcRect l="-577" t="22570" r="577" b="16329"/>
          <a:stretch>
            <a:fillRect/>
          </a:stretch>
        </p:blipFill>
        <p:spPr>
          <a:xfrm>
            <a:off x="199282" y="5178555"/>
            <a:ext cx="2564091" cy="1566665"/>
          </a:xfrm>
          <a:prstGeom prst="rect">
            <a:avLst/>
          </a:prstGeom>
        </p:spPr>
      </p:pic>
      <p:sp>
        <p:nvSpPr>
          <p:cNvPr id="101" name="Texto 101"/>
          <p:cNvSpPr txBox="1"/>
          <p:nvPr/>
        </p:nvSpPr>
        <p:spPr>
          <a:xfrm>
            <a:off x="658368" y="1783080"/>
            <a:ext cx="6309360" cy="1737360"/>
          </a:xfrm>
          <a:prstGeom prst="rect">
            <a:avLst/>
          </a:prstGeom>
          <a:noFill/>
          <a:ln>
            <a:noFill/>
          </a:ln>
        </p:spPr>
        <p:txBody>
          <a:bodyPr wrap="square" lIns="0" tIns="0" rIns="0" bIns="0" rtlCol="0" anchor="t">
            <a:normAutofit/>
          </a:bodyPr>
          <a:lstStyle/>
          <a:p>
            <a:pPr algn="l" marL="0" indent="0">
              <a:lnSpc>
                <a:spcPct val="110000"/>
              </a:lnSpc>
              <a:spcAft>
                <a:spcPts val="1000"/>
              </a:spcAft>
              <a:buNone/>
            </a:pPr>
            <a:r>
              <a:rPr lang="pt-BR" sz="2000" dirty="0">
                <a:solidFill>
                  <a:srgbClr val="26364F"/>
                </a:solidFill>
              </a:rPr>
              <a:t>A norma está publicada. O orçamento existe. A comunicação foi feita.</a:t>
            </a:r>
          </a:p>
          <a:p>
            <a:pPr algn="l" marL="0" indent="0">
              <a:lnSpc>
                <a:spcPct val="110000"/>
              </a:lnSpc>
              <a:buNone/>
            </a:pPr>
            <a:r>
              <a:rPr lang="pt-BR" sz="2000" b="1" dirty="0">
                <a:solidFill>
                  <a:srgbClr val="0A2252"/>
                </a:solidFill>
              </a:rPr>
              <a:t>Mesmo assim, o cidadão chega ao atendimento e sai sem resolver.</a:t>
            </a:r>
          </a:p>
        </p:txBody>
      </p:sp>
      <p:sp>
        <p:nvSpPr>
          <p:cNvPr id="102" name="Texto 102"/>
          <p:cNvSpPr txBox="1"/>
          <p:nvPr/>
        </p:nvSpPr>
        <p:spPr>
          <a:xfrm>
            <a:off x="658368" y="3703320"/>
            <a:ext cx="6309360" cy="914400"/>
          </a:xfrm>
          <a:prstGeom prst="rect">
            <a:avLst/>
          </a:prstGeom>
          <a:noFill/>
          <a:ln>
            <a:noFill/>
          </a:ln>
        </p:spPr>
        <p:txBody>
          <a:bodyPr wrap="square" lIns="0" tIns="0" rIns="0" bIns="0" rtlCol="0" anchor="ctr">
            <a:normAutofit/>
          </a:bodyPr>
          <a:lstStyle/>
          <a:p>
            <a:pPr algn="l" marL="0" indent="0">
              <a:buNone/>
            </a:pPr>
            <a:r>
              <a:rPr lang="pt-BR" sz="2800" b="1" dirty="0">
                <a:solidFill>
                  <a:srgbClr val="FF5A1F"/>
                </a:solidFill>
                <a:latin typeface="Aptos Display"/>
                <a:ea typeface="Aptos Display"/>
                <a:cs typeface="Aptos Display"/>
              </a:rPr>
              <a:t>Onde a política pública acontece?</a:t>
            </a:r>
          </a:p>
        </p:txBody>
      </p:sp>
      <p:sp>
        <p:nvSpPr>
          <p:cNvPr id="103" name="Cartão 103"/>
          <p:cNvSpPr/>
          <p:nvPr/>
        </p:nvSpPr>
        <p:spPr>
          <a:xfrm>
            <a:off x="7680960" y="1783080"/>
            <a:ext cx="3840480" cy="3017520"/>
          </a:xfrm>
          <a:prstGeom prst="roundRect">
            <a:avLst>
              <a:gd name="adj" fmla="val 6000"/>
            </a:avLst>
          </a:prstGeom>
          <a:solidFill>
            <a:srgbClr val="FFF3ED"/>
          </a:solidFill>
          <a:ln w="12700">
            <a:solidFill>
              <a:srgbClr val="FFD1BE"/>
            </a:solidFill>
          </a:ln>
        </p:spPr>
        <p:txBody>
          <a:bodyPr wrap="square" lIns="274320" tIns="274320" rIns="274320" bIns="274320" rtlCol="0" anchor="ctr">
            <a:normAutofit/>
          </a:bodyPr>
          <a:lstStyle/>
          <a:p>
            <a:pPr algn="l" marL="0" indent="0">
              <a:spcAft>
                <a:spcPts val="400"/>
              </a:spcAft>
              <a:buNone/>
            </a:pPr>
            <a:r>
              <a:rPr lang="pt-BR" sz="1000" b="1" dirty="0">
                <a:solidFill>
                  <a:srgbClr val="FF5A1F"/>
                </a:solidFill>
              </a:rPr>
              <a:t>DESTAQUE</a:t>
            </a:r>
          </a:p>
          <a:p>
            <a:pPr algn="l" marL="0" indent="0">
              <a:lnSpc>
                <a:spcPct val="100000"/>
              </a:lnSpc>
              <a:spcAft>
                <a:spcPts val="500"/>
              </a:spcAft>
              <a:buNone/>
            </a:pPr>
            <a:r>
              <a:rPr lang="pt-BR" sz="2000" b="1" dirty="0">
                <a:solidFill>
                  <a:srgbClr val="0A2252"/>
                </a:solidFill>
                <a:latin typeface="Aptos Display"/>
                <a:ea typeface="Aptos Display"/>
                <a:cs typeface="Aptos Display"/>
              </a:rPr>
              <a:t>Uma política bem desenhada pode travar na execução.</a:t>
            </a:r>
          </a:p>
          <a:p>
            <a:pPr algn="l" marL="0" indent="0">
              <a:lnSpc>
                <a:spcPct val="105000"/>
              </a:lnSpc>
              <a:buNone/>
            </a:pPr>
            <a:r>
              <a:rPr lang="pt-BR" sz="1400" dirty="0">
                <a:solidFill>
                  <a:srgbClr val="26364F"/>
                </a:solidFill>
              </a:rPr>
              <a:t>Pressman e Wildavsky (1973) mostraram a distância entre decidir e executar.</a:t>
            </a:r>
          </a:p>
        </p:txBody>
      </p:sp>
      <p:sp>
        <p:nvSpPr>
          <p:cNvPr id="104" name="Roteiro 104"/>
          <p:cNvSpPr/>
          <p:nvPr/>
        </p:nvSpPr>
        <p:spPr>
          <a:xfrm>
            <a:off x="7269480" y="5230368"/>
            <a:ext cx="4251960" cy="1005840"/>
          </a:xfrm>
          <a:prstGeom prst="roundRect">
            <a:avLst>
              <a:gd name="adj" fmla="val 8000"/>
            </a:avLst>
          </a:prstGeom>
          <a:solidFill>
            <a:srgbClr val="FFFFFF"/>
          </a:solidFill>
          <a:ln w="12700">
            <a:solidFill>
              <a:srgbClr val="FFD1BE"/>
            </a:solidFill>
          </a:ln>
        </p:spPr>
        <p:txBody>
          <a:bodyPr wrap="square" lIns="91440" tIns="91440" rIns="91440" bIns="91440" rtlCol="0" anchor="ctr">
            <a:normAutofit/>
          </a:bodyPr>
          <a:lstStyle/>
          <a:p>
            <a:pPr algn="l" marL="171450" indent="-171450">
              <a:spcAft>
                <a:spcPts val="150"/>
              </a:spcAft>
              <a:buFont typeface="Arial"/>
              <a:buChar char="•"/>
            </a:pPr>
            <a:r>
              <a:rPr lang="pt-BR" sz="1050" dirty="0">
                <a:solidFill>
                  <a:srgbClr val="26364F"/>
                </a:solidFill>
              </a:rPr>
              <a:t>Política bem desenhada que trava no balcão</a:t>
            </a:r>
          </a:p>
          <a:p>
            <a:pPr algn="l" marL="171450" indent="-171450">
              <a:spcAft>
                <a:spcPts val="150"/>
              </a:spcAft>
              <a:buFont typeface="Arial"/>
              <a:buChar char="•"/>
            </a:pPr>
            <a:r>
              <a:rPr lang="pt-BR" sz="1050" dirty="0">
                <a:solidFill>
                  <a:srgbClr val="26364F"/>
                </a:solidFill>
              </a:rPr>
              <a:t>Implementação como problema (Pressman; Wildavsky, 1973)</a:t>
            </a:r>
          </a:p>
          <a:p>
            <a:pPr algn="l" marL="171450" indent="-171450">
              <a:spcAft>
                <a:spcPts val="150"/>
              </a:spcAft>
              <a:buFont typeface="Arial"/>
              <a:buChar char="•"/>
            </a:pPr>
            <a:r>
              <a:rPr lang="pt-BR" sz="1050" dirty="0">
                <a:solidFill>
                  <a:srgbClr val="26364F"/>
                </a:solidFill>
              </a:rPr>
              <a:t>Pergunta-guia: onde a política acontece?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58368" y="896112"/>
            <a:ext cx="9052560" cy="502920"/>
          </a:xfrm>
          <a:prstGeom prst="rect">
            <a:avLst/>
          </a:prstGeom>
          <a:noFill/>
          <a:ln/>
        </p:spPr>
        <p:txBody>
          <a:bodyPr wrap="square" lIns="0" tIns="0" rIns="0" bIns="0" rtlCol="0" anchor="ctr">
            <a:normAutofit/>
          </a:bodyPr>
          <a:lstStyle/>
          <a:p>
            <a:pPr marL="0" indent="0">
              <a:buNone/>
            </a:pPr>
            <a:r>
              <a:rPr lang="pt-BR" sz="2600" b="1" dirty="0">
                <a:solidFill>
                  <a:srgbClr val="0A2252"/>
                </a:solidFill>
                <a:latin typeface="Aptos Display" pitchFamily="34" charset="0"/>
                <a:ea typeface="Aptos Display" pitchFamily="34" charset="-122"/>
                <a:cs typeface="Aptos Display" pitchFamily="34" charset="-120"/>
              </a:rPr>
              <a:t>A TESE</a:t>
            </a:r>
            <a:endParaRPr lang="en-US" sz="2600" dirty="0"/>
          </a:p>
        </p:txBody>
      </p:sp>
      <p:sp>
        <p:nvSpPr>
          <p:cNvPr id="3" name="Shape 1"/>
          <p:cNvSpPr/>
          <p:nvPr/>
        </p:nvSpPr>
        <p:spPr>
          <a:xfrm>
            <a:off x="658368" y="1536192"/>
            <a:ext cx="822960" cy="0"/>
          </a:xfrm>
          <a:prstGeom prst="line">
            <a:avLst/>
          </a:prstGeom>
          <a:noFill/>
          <a:ln w="44450">
            <a:solidFill>
              <a:srgbClr val="FF5A1F"/>
            </a:solidFill>
            <a:prstDash val="solid"/>
          </a:ln>
        </p:spPr>
        <p:txBody>
          <a:bodyPr/>
          <a:lstStyle/>
          <a:p>
            <a:endParaRPr lang="pt-BR"/>
          </a:p>
        </p:txBody>
      </p:sp>
      <p:sp>
        <p:nvSpPr>
          <p:cNvPr id="25" name="Slide Number Placeholder 0"/>
          <p:cNvSpPr>
            <a:spLocks noGrp="1"/>
          </p:cNvSpPr>
          <p:nvPr>
            <p:ph type="sldNum" sz="quarter" idx="4294967295"/>
          </p:nvPr>
        </p:nvSpPr>
        <p:spPr>
          <a:xfrm>
            <a:off x="11631168" y="6473952"/>
            <a:ext cx="420000" cy="164592"/>
          </a:xfrm>
          <a:prstGeom prst="rect">
            <a:avLst/>
          </a:prstGeom>
          <a:extLst>
            <a:ext uri="{C572A759-6A51-4108-AA02-DFA0A04FC94B}">
              <ma14:wrappingTextBoxFlag xmlns:ma14="http://schemas.microsoft.com/office/mac/drawingml/2011/main" xmlns="" val="0"/>
            </a:ext>
          </a:extLst>
        </p:spPr>
        <p:txBody>
          <a:bodyPr/>
          <a:lstStyle>
            <a:lvl1pPr>
              <a:defRPr sz="850">
                <a:solidFill>
                  <a:srgbClr val="7D8797"/>
                </a:solidFill>
              </a:defRPr>
            </a:lvl1pPr>
          </a:lstStyle>
          <a:p>
            <a:pPr algn="r"/>
            <a:fld id="{F7021451-1387-4CA6-816F-3879F97B5CBC}" type="slidenum">
              <a:rPr lang="en-US" b="0"/>
              <a:t>2</a:t>
            </a:fld>
            <a:endParaRPr lang="en-US"/>
          </a:p>
        </p:txBody>
      </p:sp>
      <p:pic>
        <p:nvPicPr>
          <p:cNvPr id="9" name="Imagem 8">
            <a:extLst>
              <a:ext uri="{FF2B5EF4-FFF2-40B4-BE49-F238E27FC236}">
                <a16:creationId xmlns:a16="http://schemas.microsoft.com/office/drawing/2014/main" id="{35A0857D-7EDC-DFF6-3CFE-A70D6D0695B9}"/>
              </a:ext>
            </a:extLst>
          </p:cNvPr>
          <p:cNvPicPr>
            <a:picLocks noChangeAspect="1"/>
          </p:cNvPicPr>
          <p:nvPr/>
        </p:nvPicPr>
        <p:blipFill>
          <a:blip r:embed="rId3"/>
          <a:srcRect l="-577" t="22570" r="577" b="16329"/>
          <a:stretch>
            <a:fillRect/>
          </a:stretch>
        </p:blipFill>
        <p:spPr>
          <a:xfrm>
            <a:off x="199282" y="5178555"/>
            <a:ext cx="2564091" cy="1566665"/>
          </a:xfrm>
          <a:prstGeom prst="rect">
            <a:avLst/>
          </a:prstGeom>
        </p:spPr>
      </p:pic>
      <p:sp>
        <p:nvSpPr>
          <p:cNvPr id="101" name="Texto 101"/>
          <p:cNvSpPr txBox="1"/>
          <p:nvPr/>
        </p:nvSpPr>
        <p:spPr>
          <a:xfrm>
            <a:off x="658368" y="1691640"/>
            <a:ext cx="10863072" cy="1188720"/>
          </a:xfrm>
          <a:prstGeom prst="rect">
            <a:avLst/>
          </a:prstGeom>
          <a:noFill/>
          <a:ln>
            <a:noFill/>
          </a:ln>
        </p:spPr>
        <p:txBody>
          <a:bodyPr wrap="square" lIns="0" tIns="0" rIns="0" bIns="0" rtlCol="0" anchor="ctr">
            <a:normAutofit/>
          </a:bodyPr>
          <a:lstStyle/>
          <a:p>
            <a:pPr algn="l" marL="0" indent="0">
              <a:lnSpc>
                <a:spcPct val="105000"/>
              </a:lnSpc>
              <a:buNone/>
            </a:pPr>
            <a:r>
              <a:rPr lang="pt-BR" sz="2400" b="1" dirty="0">
                <a:solidFill>
                  <a:srgbClr val="0A2252"/>
                </a:solidFill>
                <a:latin typeface="Aptos Display"/>
                <a:ea typeface="Aptos Display"/>
                <a:cs typeface="Aptos Display"/>
              </a:rPr>
              <a:t>O administrador faz a política pública acontecer quando organiza o lugar em que ela encontra o cidadão.</a:t>
            </a:r>
          </a:p>
        </p:txBody>
      </p:sp>
      <p:sp>
        <p:nvSpPr>
          <p:cNvPr id="102" name="Ponto 102"/>
          <p:cNvSpPr/>
          <p:nvPr/>
        </p:nvSpPr>
        <p:spPr>
          <a:xfrm>
            <a:off x="658368" y="3154680"/>
            <a:ext cx="3468624" cy="1874520"/>
          </a:xfrm>
          <a:prstGeom prst="roundRect">
            <a:avLst>
              <a:gd name="adj" fmla="val 6000"/>
            </a:avLst>
          </a:prstGeom>
          <a:solidFill>
            <a:srgbClr val="0A2252"/>
          </a:solidFill>
          <a:ln>
            <a:noFill/>
          </a:ln>
        </p:spPr>
        <p:txBody>
          <a:bodyPr wrap="square" lIns="228600" tIns="228600" rIns="228600" bIns="228600" rtlCol="0" anchor="t">
            <a:normAutofit/>
          </a:bodyPr>
          <a:lstStyle/>
          <a:p>
            <a:pPr algn="l" marL="0" indent="0">
              <a:spcAft>
                <a:spcPts val="600"/>
              </a:spcAft>
              <a:buNone/>
            </a:pPr>
            <a:r>
              <a:rPr lang="pt-BR" sz="3000" b="1" dirty="0">
                <a:solidFill>
                  <a:srgbClr val="FF5A1F"/>
                </a:solidFill>
                <a:latin typeface="Aptos Display"/>
                <a:ea typeface="Aptos Display"/>
                <a:cs typeface="Aptos Display"/>
              </a:rPr>
              <a:t>1</a:t>
            </a:r>
          </a:p>
          <a:p>
            <a:pPr algn="l" marL="0" indent="0">
              <a:lnSpc>
                <a:spcPct val="105000"/>
              </a:lnSpc>
              <a:buNone/>
            </a:pPr>
            <a:r>
              <a:rPr lang="pt-BR" sz="1500" dirty="0">
                <a:solidFill>
                  <a:srgbClr val="FFFFFF"/>
                </a:solidFill>
              </a:rPr>
              <a:t>A implementação acontece em lugares concretos: balcões, sistemas, filas e formulários.</a:t>
            </a:r>
          </a:p>
        </p:txBody>
      </p:sp>
      <p:sp>
        <p:nvSpPr>
          <p:cNvPr id="103" name="Ponto 103"/>
          <p:cNvSpPr/>
          <p:nvPr/>
        </p:nvSpPr>
        <p:spPr>
          <a:xfrm>
            <a:off x="4355592" y="3154680"/>
            <a:ext cx="3468624" cy="1874520"/>
          </a:xfrm>
          <a:prstGeom prst="roundRect">
            <a:avLst>
              <a:gd name="adj" fmla="val 6000"/>
            </a:avLst>
          </a:prstGeom>
          <a:solidFill>
            <a:srgbClr val="0A2252"/>
          </a:solidFill>
          <a:ln>
            <a:noFill/>
          </a:ln>
        </p:spPr>
        <p:txBody>
          <a:bodyPr wrap="square" lIns="228600" tIns="228600" rIns="228600" bIns="228600" rtlCol="0" anchor="t">
            <a:normAutofit/>
          </a:bodyPr>
          <a:lstStyle/>
          <a:p>
            <a:pPr algn="l" marL="0" indent="0">
              <a:spcAft>
                <a:spcPts val="600"/>
              </a:spcAft>
              <a:buNone/>
            </a:pPr>
            <a:r>
              <a:rPr lang="pt-BR" sz="3000" b="1" dirty="0">
                <a:solidFill>
                  <a:srgbClr val="FF5A1F"/>
                </a:solidFill>
                <a:latin typeface="Aptos Display"/>
                <a:ea typeface="Aptos Display"/>
                <a:cs typeface="Aptos Display"/>
              </a:rPr>
              <a:t>2</a:t>
            </a:r>
          </a:p>
          <a:p>
            <a:pPr algn="l" marL="0" indent="0">
              <a:lnSpc>
                <a:spcPct val="105000"/>
              </a:lnSpc>
              <a:buNone/>
            </a:pPr>
            <a:r>
              <a:rPr lang="pt-BR" sz="1500" dirty="0">
                <a:solidFill>
                  <a:srgbClr val="FFFFFF"/>
                </a:solidFill>
              </a:rPr>
              <a:t>Esses lugares podem ser lidos e redesenhados com método.</a:t>
            </a:r>
          </a:p>
        </p:txBody>
      </p:sp>
      <p:sp>
        <p:nvSpPr>
          <p:cNvPr id="104" name="Ponto 104"/>
          <p:cNvSpPr/>
          <p:nvPr/>
        </p:nvSpPr>
        <p:spPr>
          <a:xfrm>
            <a:off x="8052816" y="3154680"/>
            <a:ext cx="3468624" cy="1874520"/>
          </a:xfrm>
          <a:prstGeom prst="roundRect">
            <a:avLst>
              <a:gd name="adj" fmla="val 6000"/>
            </a:avLst>
          </a:prstGeom>
          <a:solidFill>
            <a:srgbClr val="0A2252"/>
          </a:solidFill>
          <a:ln>
            <a:noFill/>
          </a:ln>
        </p:spPr>
        <p:txBody>
          <a:bodyPr wrap="square" lIns="228600" tIns="228600" rIns="228600" bIns="228600" rtlCol="0" anchor="t">
            <a:normAutofit/>
          </a:bodyPr>
          <a:lstStyle/>
          <a:p>
            <a:pPr algn="l" marL="0" indent="0">
              <a:spcAft>
                <a:spcPts val="600"/>
              </a:spcAft>
              <a:buNone/>
            </a:pPr>
            <a:r>
              <a:rPr lang="pt-BR" sz="3000" b="1" dirty="0">
                <a:solidFill>
                  <a:srgbClr val="FF5A1F"/>
                </a:solidFill>
                <a:latin typeface="Aptos Display"/>
                <a:ea typeface="Aptos Display"/>
                <a:cs typeface="Aptos Display"/>
              </a:rPr>
              <a:t>3</a:t>
            </a:r>
          </a:p>
          <a:p>
            <a:pPr algn="l" marL="0" indent="0">
              <a:lnSpc>
                <a:spcPct val="105000"/>
              </a:lnSpc>
              <a:buNone/>
            </a:pPr>
            <a:r>
              <a:rPr lang="pt-BR" sz="1500" dirty="0">
                <a:solidFill>
                  <a:srgbClr val="FFFFFF"/>
                </a:solidFill>
              </a:rPr>
              <a:t>A pesquisa empírica dá ao administrador essa capacidade.</a:t>
            </a:r>
          </a:p>
        </p:txBody>
      </p:sp>
      <p:sp>
        <p:nvSpPr>
          <p:cNvPr id="105" name="Roteiro 105"/>
          <p:cNvSpPr/>
          <p:nvPr/>
        </p:nvSpPr>
        <p:spPr>
          <a:xfrm>
            <a:off x="7269480" y="5230368"/>
            <a:ext cx="4251960" cy="1005840"/>
          </a:xfrm>
          <a:prstGeom prst="roundRect">
            <a:avLst>
              <a:gd name="adj" fmla="val 8000"/>
            </a:avLst>
          </a:prstGeom>
          <a:solidFill>
            <a:srgbClr val="FFFFFF"/>
          </a:solidFill>
          <a:ln w="12700">
            <a:solidFill>
              <a:srgbClr val="FFD1BE"/>
            </a:solidFill>
          </a:ln>
        </p:spPr>
        <p:txBody>
          <a:bodyPr wrap="square" lIns="91440" tIns="91440" rIns="91440" bIns="91440" rtlCol="0" anchor="ctr">
            <a:normAutofit/>
          </a:bodyPr>
          <a:lstStyle/>
          <a:p>
            <a:pPr algn="l" marL="171450" indent="-171450">
              <a:spcAft>
                <a:spcPts val="150"/>
              </a:spcAft>
              <a:buFont typeface="Arial"/>
              <a:buChar char="•"/>
            </a:pPr>
            <a:r>
              <a:rPr lang="pt-BR" sz="1050" dirty="0">
                <a:solidFill>
                  <a:srgbClr val="26364F"/>
                </a:solidFill>
              </a:rPr>
              <a:t>A política acontece em lugares concretos</a:t>
            </a:r>
          </a:p>
          <a:p>
            <a:pPr algn="l" marL="171450" indent="-171450">
              <a:spcAft>
                <a:spcPts val="150"/>
              </a:spcAft>
              <a:buFont typeface="Arial"/>
              <a:buChar char="•"/>
            </a:pPr>
            <a:r>
              <a:rPr lang="pt-BR" sz="1050" dirty="0">
                <a:solidFill>
                  <a:srgbClr val="26364F"/>
                </a:solidFill>
              </a:rPr>
              <a:t>Esses lugares podem ser lidos e redesenhados</a:t>
            </a:r>
          </a:p>
          <a:p>
            <a:pPr algn="l" marL="171450" indent="-171450">
              <a:spcAft>
                <a:spcPts val="150"/>
              </a:spcAft>
              <a:buFont typeface="Arial"/>
              <a:buChar char="•"/>
            </a:pPr>
            <a:r>
              <a:rPr lang="pt-BR" sz="1050" dirty="0">
                <a:solidFill>
                  <a:srgbClr val="26364F"/>
                </a:solidFill>
              </a:rPr>
              <a:t>A pesquisa como capacidade do administrador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58368" y="896112"/>
            <a:ext cx="9052560" cy="502920"/>
          </a:xfrm>
          <a:prstGeom prst="rect">
            <a:avLst/>
          </a:prstGeom>
          <a:noFill/>
          <a:ln/>
        </p:spPr>
        <p:txBody>
          <a:bodyPr wrap="square" lIns="0" tIns="0" rIns="0" bIns="0" rtlCol="0" anchor="ctr">
            <a:normAutofit/>
          </a:bodyPr>
          <a:lstStyle/>
          <a:p>
            <a:pPr marL="0" indent="0">
              <a:buNone/>
            </a:pPr>
            <a:r>
              <a:rPr lang="pt-BR" sz="2600" b="1" dirty="0">
                <a:solidFill>
                  <a:srgbClr val="0A2252"/>
                </a:solidFill>
                <a:latin typeface="Aptos Display" pitchFamily="34" charset="0"/>
                <a:ea typeface="Aptos Display" pitchFamily="34" charset="-122"/>
                <a:cs typeface="Aptos Display" pitchFamily="34" charset="-120"/>
              </a:rPr>
              <a:t>ENTRE A DECISÃO E O RESULTADO HÁ UMA ORGANIZAÇÃO</a:t>
            </a:r>
            <a:endParaRPr lang="en-US" sz="2600" dirty="0"/>
          </a:p>
        </p:txBody>
      </p:sp>
      <p:sp>
        <p:nvSpPr>
          <p:cNvPr id="3" name="Shape 1"/>
          <p:cNvSpPr/>
          <p:nvPr/>
        </p:nvSpPr>
        <p:spPr>
          <a:xfrm>
            <a:off x="658368" y="1536192"/>
            <a:ext cx="822960" cy="0"/>
          </a:xfrm>
          <a:prstGeom prst="line">
            <a:avLst/>
          </a:prstGeom>
          <a:noFill/>
          <a:ln w="44450">
            <a:solidFill>
              <a:srgbClr val="FF5A1F"/>
            </a:solidFill>
            <a:prstDash val="solid"/>
          </a:ln>
        </p:spPr>
        <p:txBody>
          <a:bodyPr/>
          <a:lstStyle/>
          <a:p>
            <a:endParaRPr lang="pt-BR"/>
          </a:p>
        </p:txBody>
      </p:sp>
      <p:sp>
        <p:nvSpPr>
          <p:cNvPr id="25" name="Slide Number Placeholder 0"/>
          <p:cNvSpPr>
            <a:spLocks noGrp="1"/>
          </p:cNvSpPr>
          <p:nvPr>
            <p:ph type="sldNum" sz="quarter" idx="4294967295"/>
          </p:nvPr>
        </p:nvSpPr>
        <p:spPr>
          <a:xfrm>
            <a:off x="11631168" y="6473952"/>
            <a:ext cx="420000" cy="164592"/>
          </a:xfrm>
          <a:prstGeom prst="rect">
            <a:avLst/>
          </a:prstGeom>
          <a:extLst>
            <a:ext uri="{C572A759-6A51-4108-AA02-DFA0A04FC94B}">
              <ma14:wrappingTextBoxFlag xmlns:ma14="http://schemas.microsoft.com/office/mac/drawingml/2011/main" xmlns="" val="0"/>
            </a:ext>
          </a:extLst>
        </p:spPr>
        <p:txBody>
          <a:bodyPr/>
          <a:lstStyle>
            <a:lvl1pPr>
              <a:defRPr sz="850">
                <a:solidFill>
                  <a:srgbClr val="7D8797"/>
                </a:solidFill>
              </a:defRPr>
            </a:lvl1pPr>
          </a:lstStyle>
          <a:p>
            <a:pPr algn="r"/>
            <a:fld id="{F7021451-1387-4CA6-816F-3879F97B5CBC}" type="slidenum">
              <a:rPr lang="en-US" b="0"/>
              <a:t>2</a:t>
            </a:fld>
            <a:endParaRPr lang="en-US"/>
          </a:p>
        </p:txBody>
      </p:sp>
      <p:pic>
        <p:nvPicPr>
          <p:cNvPr id="9" name="Imagem 8">
            <a:extLst>
              <a:ext uri="{FF2B5EF4-FFF2-40B4-BE49-F238E27FC236}">
                <a16:creationId xmlns:a16="http://schemas.microsoft.com/office/drawing/2014/main" id="{35A0857D-7EDC-DFF6-3CFE-A70D6D0695B9}"/>
              </a:ext>
            </a:extLst>
          </p:cNvPr>
          <p:cNvPicPr>
            <a:picLocks noChangeAspect="1"/>
          </p:cNvPicPr>
          <p:nvPr/>
        </p:nvPicPr>
        <p:blipFill>
          <a:blip r:embed="rId3"/>
          <a:srcRect l="-577" t="22570" r="577" b="16329"/>
          <a:stretch>
            <a:fillRect/>
          </a:stretch>
        </p:blipFill>
        <p:spPr>
          <a:xfrm>
            <a:off x="199282" y="5178555"/>
            <a:ext cx="2564091" cy="1566665"/>
          </a:xfrm>
          <a:prstGeom prst="rect">
            <a:avLst/>
          </a:prstGeom>
        </p:spPr>
      </p:pic>
      <p:sp>
        <p:nvSpPr>
          <p:cNvPr id="101" name="Etapa 101"/>
          <p:cNvSpPr/>
          <p:nvPr/>
        </p:nvSpPr>
        <p:spPr>
          <a:xfrm>
            <a:off x="658368" y="1783080"/>
            <a:ext cx="4480560" cy="566928"/>
          </a:xfrm>
          <a:prstGeom prst="roundRect">
            <a:avLst>
              <a:gd name="adj" fmla="val 20000"/>
            </a:avLst>
          </a:prstGeom>
          <a:solidFill>
            <a:srgbClr val="FFF3ED"/>
          </a:solidFill>
          <a:ln w="12700">
            <a:solidFill>
              <a:srgbClr val="FFD1BE"/>
            </a:solidFill>
          </a:ln>
        </p:spPr>
        <p:txBody>
          <a:bodyPr wrap="square" lIns="182880" tIns="182880" rIns="182880" bIns="182880" rtlCol="0" anchor="ctr">
            <a:normAutofit/>
          </a:bodyPr>
          <a:lstStyle/>
          <a:p>
            <a:pPr algn="l" marL="0" indent="0">
              <a:buNone/>
            </a:pPr>
            <a:r>
              <a:rPr lang="pt-BR" sz="1700" b="1" dirty="0">
                <a:solidFill>
                  <a:srgbClr val="0A2252"/>
                </a:solidFill>
              </a:rPr>
              <a:t>1 · Decisão pública</a:t>
            </a:r>
          </a:p>
        </p:txBody>
      </p:sp>
      <p:sp>
        <p:nvSpPr>
          <p:cNvPr id="102" name="Seta 102"/>
          <p:cNvSpPr/>
          <p:nvPr/>
        </p:nvSpPr>
        <p:spPr>
          <a:xfrm>
            <a:off x="2715768" y="2404872"/>
            <a:ext cx="347472" cy="347472"/>
          </a:xfrm>
          <a:prstGeom prst="downArrow">
            <a:avLst/>
          </a:prstGeom>
          <a:solidFill>
            <a:srgbClr val="FF5A1F"/>
          </a:solidFill>
          <a:ln>
            <a:noFill/>
          </a:ln>
        </p:spPr>
      </p:sp>
      <p:sp>
        <p:nvSpPr>
          <p:cNvPr id="103" name="Etapa 103"/>
          <p:cNvSpPr/>
          <p:nvPr/>
        </p:nvSpPr>
        <p:spPr>
          <a:xfrm>
            <a:off x="658368" y="2807208"/>
            <a:ext cx="4480560" cy="566928"/>
          </a:xfrm>
          <a:prstGeom prst="roundRect">
            <a:avLst>
              <a:gd name="adj" fmla="val 20000"/>
            </a:avLst>
          </a:prstGeom>
          <a:solidFill>
            <a:srgbClr val="0A2252"/>
          </a:solidFill>
          <a:ln>
            <a:noFill/>
          </a:ln>
        </p:spPr>
        <p:txBody>
          <a:bodyPr wrap="square" lIns="182880" tIns="182880" rIns="182880" bIns="182880" rtlCol="0" anchor="ctr">
            <a:normAutofit/>
          </a:bodyPr>
          <a:lstStyle/>
          <a:p>
            <a:pPr algn="l" marL="0" indent="0">
              <a:buNone/>
            </a:pPr>
            <a:r>
              <a:rPr lang="pt-BR" sz="1700" b="1" dirty="0">
                <a:solidFill>
                  <a:srgbClr val="FFFFFF"/>
                </a:solidFill>
              </a:rPr>
              <a:t>2 · Capacidade organizacional</a:t>
            </a:r>
          </a:p>
        </p:txBody>
      </p:sp>
      <p:sp>
        <p:nvSpPr>
          <p:cNvPr id="104" name="Seta 104"/>
          <p:cNvSpPr/>
          <p:nvPr/>
        </p:nvSpPr>
        <p:spPr>
          <a:xfrm>
            <a:off x="2715768" y="3429000"/>
            <a:ext cx="347472" cy="347472"/>
          </a:xfrm>
          <a:prstGeom prst="downArrow">
            <a:avLst/>
          </a:prstGeom>
          <a:solidFill>
            <a:srgbClr val="FF5A1F"/>
          </a:solidFill>
          <a:ln>
            <a:noFill/>
          </a:ln>
        </p:spPr>
      </p:sp>
      <p:sp>
        <p:nvSpPr>
          <p:cNvPr id="105" name="Etapa 105"/>
          <p:cNvSpPr/>
          <p:nvPr/>
        </p:nvSpPr>
        <p:spPr>
          <a:xfrm>
            <a:off x="658368" y="3831336"/>
            <a:ext cx="4480560" cy="566928"/>
          </a:xfrm>
          <a:prstGeom prst="roundRect">
            <a:avLst>
              <a:gd name="adj" fmla="val 20000"/>
            </a:avLst>
          </a:prstGeom>
          <a:solidFill>
            <a:srgbClr val="FFF3ED"/>
          </a:solidFill>
          <a:ln w="12700">
            <a:solidFill>
              <a:srgbClr val="FFD1BE"/>
            </a:solidFill>
          </a:ln>
        </p:spPr>
        <p:txBody>
          <a:bodyPr wrap="square" lIns="182880" tIns="182880" rIns="182880" bIns="182880" rtlCol="0" anchor="ctr">
            <a:normAutofit/>
          </a:bodyPr>
          <a:lstStyle/>
          <a:p>
            <a:pPr algn="l" marL="0" indent="0">
              <a:buNone/>
            </a:pPr>
            <a:r>
              <a:rPr lang="pt-BR" sz="1700" b="1" dirty="0">
                <a:solidFill>
                  <a:srgbClr val="0A2252"/>
                </a:solidFill>
              </a:rPr>
              <a:t>3 · Entrega ao cidadão</a:t>
            </a:r>
          </a:p>
        </p:txBody>
      </p:sp>
      <p:sp>
        <p:nvSpPr>
          <p:cNvPr id="106" name="Texto 106"/>
          <p:cNvSpPr txBox="1"/>
          <p:nvPr/>
        </p:nvSpPr>
        <p:spPr>
          <a:xfrm>
            <a:off x="658368" y="4581144"/>
            <a:ext cx="4480560" cy="822960"/>
          </a:xfrm>
          <a:prstGeom prst="rect">
            <a:avLst/>
          </a:prstGeom>
          <a:noFill/>
          <a:ln>
            <a:noFill/>
          </a:ln>
        </p:spPr>
        <p:txBody>
          <a:bodyPr wrap="square" lIns="0" tIns="0" rIns="0" bIns="0" rtlCol="0" anchor="t">
            <a:normAutofit/>
          </a:bodyPr>
          <a:lstStyle/>
          <a:p>
            <a:pPr algn="l" marL="0" indent="0">
              <a:lnSpc>
                <a:spcPct val="110000"/>
              </a:lnSpc>
              <a:buNone/>
            </a:pPr>
            <a:r>
              <a:rPr lang="pt-BR" sz="1500" dirty="0">
                <a:solidFill>
                  <a:srgbClr val="26364F"/>
                </a:solidFill>
              </a:rPr>
              <a:t>O administrador coordena recursos, pessoas, rotinas, evidências e adaptações.</a:t>
            </a:r>
          </a:p>
        </p:txBody>
      </p:sp>
      <p:pic>
        <p:nvPicPr>
          <p:cNvPr id="107" name="Imagem 107" descr="Ilustração de um órgão público com equipes, atendimento e painéis de dados"/>
          <p:cNvPicPr>
            <a:picLocks noChangeAspect="1"/>
          </p:cNvPicPr>
          <p:nvPr/>
        </p:nvPicPr>
        <p:blipFill>
          <a:blip r:embed="rIdM1"/>
          <a:stretch>
            <a:fillRect/>
          </a:stretch>
        </p:blipFill>
        <p:spPr>
          <a:xfrm>
            <a:off x="5486400" y="1783080"/>
            <a:ext cx="6035040" cy="3392424"/>
          </a:xfrm>
          <a:prstGeom prst="roundRect">
            <a:avLst>
              <a:gd name="adj" fmla="val 4000"/>
            </a:avLst>
          </a:prstGeom>
        </p:spPr>
      </p:pic>
      <p:sp>
        <p:nvSpPr>
          <p:cNvPr id="108" name="Roteiro 108"/>
          <p:cNvSpPr/>
          <p:nvPr/>
        </p:nvSpPr>
        <p:spPr>
          <a:xfrm>
            <a:off x="7269480" y="5230368"/>
            <a:ext cx="4251960" cy="1005840"/>
          </a:xfrm>
          <a:prstGeom prst="roundRect">
            <a:avLst>
              <a:gd name="adj" fmla="val 8000"/>
            </a:avLst>
          </a:prstGeom>
          <a:solidFill>
            <a:srgbClr val="FFFFFF"/>
          </a:solidFill>
          <a:ln w="12700">
            <a:solidFill>
              <a:srgbClr val="FFD1BE"/>
            </a:solidFill>
          </a:ln>
        </p:spPr>
        <p:txBody>
          <a:bodyPr wrap="square" lIns="91440" tIns="91440" rIns="91440" bIns="91440" rtlCol="0" anchor="ctr">
            <a:normAutofit/>
          </a:bodyPr>
          <a:lstStyle/>
          <a:p>
            <a:pPr algn="l" marL="171450" indent="-171450">
              <a:spcAft>
                <a:spcPts val="150"/>
              </a:spcAft>
              <a:buFont typeface="Arial"/>
              <a:buChar char="•"/>
            </a:pPr>
            <a:r>
              <a:rPr lang="pt-BR" sz="1050" dirty="0">
                <a:solidFill>
                  <a:srgbClr val="26364F"/>
                </a:solidFill>
              </a:rPr>
              <a:t>Organização e burocracia (Weber, 1999 [1922])</a:t>
            </a:r>
          </a:p>
          <a:p>
            <a:pPr algn="l" marL="171450" indent="-171450">
              <a:spcAft>
                <a:spcPts val="150"/>
              </a:spcAft>
              <a:buFont typeface="Arial"/>
              <a:buChar char="•"/>
            </a:pPr>
            <a:r>
              <a:rPr lang="pt-BR" sz="1050" dirty="0">
                <a:solidFill>
                  <a:srgbClr val="26364F"/>
                </a:solidFill>
              </a:rPr>
              <a:t>Decisão nas organizações (Simon, 1947)</a:t>
            </a:r>
          </a:p>
          <a:p>
            <a:pPr algn="l" marL="171450" indent="-171450">
              <a:spcAft>
                <a:spcPts val="150"/>
              </a:spcAft>
              <a:buFont typeface="Arial"/>
              <a:buChar char="•"/>
            </a:pPr>
            <a:r>
              <a:rPr lang="pt-BR" sz="1050" dirty="0">
                <a:solidFill>
                  <a:srgbClr val="26364F"/>
                </a:solidFill>
              </a:rPr>
              <a:t>A política feita na linha de frente (Lipsky, 1980)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58368" y="896112"/>
            <a:ext cx="9052560" cy="502920"/>
          </a:xfrm>
          <a:prstGeom prst="rect">
            <a:avLst/>
          </a:prstGeom>
          <a:noFill/>
          <a:ln/>
        </p:spPr>
        <p:txBody>
          <a:bodyPr wrap="square" lIns="0" tIns="0" rIns="0" bIns="0" rtlCol="0" anchor="ctr">
            <a:normAutofit/>
          </a:bodyPr>
          <a:lstStyle/>
          <a:p>
            <a:pPr marL="0" indent="0">
              <a:buNone/>
            </a:pPr>
            <a:r>
              <a:rPr lang="pt-BR" sz="2600" b="1" dirty="0">
                <a:solidFill>
                  <a:srgbClr val="0A2252"/>
                </a:solidFill>
                <a:latin typeface="Aptos Display" pitchFamily="34" charset="0"/>
                <a:ea typeface="Aptos Display" pitchFamily="34" charset="-122"/>
                <a:cs typeface="Aptos Display" pitchFamily="34" charset="-120"/>
              </a:rPr>
              <a:t>ENTRE A DECISÃO E O RESULTADO EXISTE A EXECUÇÃO</a:t>
            </a:r>
            <a:endParaRPr lang="en-US" sz="2600" dirty="0"/>
          </a:p>
        </p:txBody>
      </p:sp>
      <p:sp>
        <p:nvSpPr>
          <p:cNvPr id="3" name="Shape 1"/>
          <p:cNvSpPr/>
          <p:nvPr/>
        </p:nvSpPr>
        <p:spPr>
          <a:xfrm>
            <a:off x="658368" y="1536192"/>
            <a:ext cx="822960" cy="0"/>
          </a:xfrm>
          <a:prstGeom prst="line">
            <a:avLst/>
          </a:prstGeom>
          <a:noFill/>
          <a:ln w="44450">
            <a:solidFill>
              <a:srgbClr val="FF5A1F"/>
            </a:solidFill>
            <a:prstDash val="solid"/>
          </a:ln>
        </p:spPr>
        <p:txBody>
          <a:bodyPr/>
          <a:lstStyle/>
          <a:p>
            <a:endParaRPr lang="pt-BR"/>
          </a:p>
        </p:txBody>
      </p:sp>
      <p:sp>
        <p:nvSpPr>
          <p:cNvPr id="25" name="Slide Number Placeholder 0"/>
          <p:cNvSpPr>
            <a:spLocks noGrp="1"/>
          </p:cNvSpPr>
          <p:nvPr>
            <p:ph type="sldNum" sz="quarter" idx="4294967295"/>
          </p:nvPr>
        </p:nvSpPr>
        <p:spPr>
          <a:xfrm>
            <a:off x="11631168" y="6473952"/>
            <a:ext cx="420000" cy="164592"/>
          </a:xfrm>
          <a:prstGeom prst="rect">
            <a:avLst/>
          </a:prstGeom>
          <a:extLst>
            <a:ext uri="{C572A759-6A51-4108-AA02-DFA0A04FC94B}">
              <ma14:wrappingTextBoxFlag xmlns:ma14="http://schemas.microsoft.com/office/mac/drawingml/2011/main" xmlns="" val="0"/>
            </a:ext>
          </a:extLst>
        </p:spPr>
        <p:txBody>
          <a:bodyPr/>
          <a:lstStyle>
            <a:lvl1pPr>
              <a:defRPr sz="850">
                <a:solidFill>
                  <a:srgbClr val="7D8797"/>
                </a:solidFill>
              </a:defRPr>
            </a:lvl1pPr>
          </a:lstStyle>
          <a:p>
            <a:pPr algn="r"/>
            <a:fld id="{F7021451-1387-4CA6-816F-3879F97B5CBC}" type="slidenum">
              <a:rPr lang="en-US" b="0"/>
              <a:t>2</a:t>
            </a:fld>
            <a:endParaRPr lang="en-US"/>
          </a:p>
        </p:txBody>
      </p:sp>
      <p:pic>
        <p:nvPicPr>
          <p:cNvPr id="9" name="Imagem 8">
            <a:extLst>
              <a:ext uri="{FF2B5EF4-FFF2-40B4-BE49-F238E27FC236}">
                <a16:creationId xmlns:a16="http://schemas.microsoft.com/office/drawing/2014/main" id="{35A0857D-7EDC-DFF6-3CFE-A70D6D0695B9}"/>
              </a:ext>
            </a:extLst>
          </p:cNvPr>
          <p:cNvPicPr>
            <a:picLocks noChangeAspect="1"/>
          </p:cNvPicPr>
          <p:nvPr/>
        </p:nvPicPr>
        <p:blipFill>
          <a:blip r:embed="rId3"/>
          <a:srcRect l="-577" t="22570" r="577" b="16329"/>
          <a:stretch>
            <a:fillRect/>
          </a:stretch>
        </p:blipFill>
        <p:spPr>
          <a:xfrm>
            <a:off x="199282" y="5178555"/>
            <a:ext cx="2564091" cy="1566665"/>
          </a:xfrm>
          <a:prstGeom prst="rect">
            <a:avLst/>
          </a:prstGeom>
        </p:spPr>
      </p:pic>
      <p:sp>
        <p:nvSpPr>
          <p:cNvPr id="101" name="Cartão 101"/>
          <p:cNvSpPr/>
          <p:nvPr/>
        </p:nvSpPr>
        <p:spPr>
          <a:xfrm>
            <a:off x="658368" y="1783080"/>
            <a:ext cx="3438144" cy="2011680"/>
          </a:xfrm>
          <a:prstGeom prst="roundRect">
            <a:avLst>
              <a:gd name="adj" fmla="val 6000"/>
            </a:avLst>
          </a:prstGeom>
          <a:solidFill>
            <a:srgbClr val="FFFFFF"/>
          </a:solidFill>
          <a:ln w="12700">
            <a:solidFill>
              <a:srgbClr val="E7E2DA"/>
            </a:solidFill>
          </a:ln>
          <a:effectLst>
            <a:outerShdw blurRad="76200" dist="19050" dir="5400000" algn="t" rotWithShape="0">
              <a:srgbClr val="0A2252">
                <a:alpha val="12000"/>
              </a:srgbClr>
            </a:outerShdw>
          </a:effectLst>
        </p:spPr>
        <p:txBody>
          <a:bodyPr wrap="square" lIns="228600" tIns="228600" rIns="228600" bIns="228600" rtlCol="0" anchor="t">
            <a:normAutofit/>
          </a:bodyPr>
          <a:lstStyle/>
          <a:p>
            <a:pPr algn="l" marL="0" indent="0">
              <a:lnSpc>
                <a:spcPct val="100000"/>
              </a:lnSpc>
              <a:spcAft>
                <a:spcPts val="500"/>
              </a:spcAft>
              <a:buNone/>
            </a:pPr>
            <a:r>
              <a:rPr lang="pt-BR" sz="1800" b="1" dirty="0">
                <a:solidFill>
                  <a:srgbClr val="0A2252"/>
                </a:solidFill>
                <a:latin typeface="Aptos Display"/>
                <a:ea typeface="Aptos Display"/>
                <a:cs typeface="Aptos Display"/>
              </a:rPr>
              <a:t>Pressman e Wildavsky, 1973</a:t>
            </a:r>
          </a:p>
          <a:p>
            <a:pPr algn="l" marL="0" indent="0">
              <a:lnSpc>
                <a:spcPct val="105000"/>
              </a:lnSpc>
              <a:buNone/>
            </a:pPr>
            <a:r>
              <a:rPr lang="pt-BR" sz="1500" dirty="0">
                <a:solidFill>
                  <a:srgbClr val="26364F"/>
                </a:solidFill>
              </a:rPr>
              <a:t>A distância entre o que se decide em Washington e o que acontece em Oakland.</a:t>
            </a:r>
          </a:p>
        </p:txBody>
      </p:sp>
      <p:sp>
        <p:nvSpPr>
          <p:cNvPr id="102" name="Cartão 102"/>
          <p:cNvSpPr/>
          <p:nvPr/>
        </p:nvSpPr>
        <p:spPr>
          <a:xfrm>
            <a:off x="4370832" y="1783080"/>
            <a:ext cx="3438144" cy="2011680"/>
          </a:xfrm>
          <a:prstGeom prst="roundRect">
            <a:avLst>
              <a:gd name="adj" fmla="val 6000"/>
            </a:avLst>
          </a:prstGeom>
          <a:solidFill>
            <a:srgbClr val="FFFFFF"/>
          </a:solidFill>
          <a:ln w="12700">
            <a:solidFill>
              <a:srgbClr val="E7E2DA"/>
            </a:solidFill>
          </a:ln>
          <a:effectLst>
            <a:outerShdw blurRad="76200" dist="19050" dir="5400000" algn="t" rotWithShape="0">
              <a:srgbClr val="0A2252">
                <a:alpha val="12000"/>
              </a:srgbClr>
            </a:outerShdw>
          </a:effectLst>
        </p:spPr>
        <p:txBody>
          <a:bodyPr wrap="square" lIns="228600" tIns="228600" rIns="228600" bIns="228600" rtlCol="0" anchor="t">
            <a:normAutofit/>
          </a:bodyPr>
          <a:lstStyle/>
          <a:p>
            <a:pPr algn="l" marL="0" indent="0">
              <a:lnSpc>
                <a:spcPct val="100000"/>
              </a:lnSpc>
              <a:spcAft>
                <a:spcPts val="500"/>
              </a:spcAft>
              <a:buNone/>
            </a:pPr>
            <a:r>
              <a:rPr lang="pt-BR" sz="1800" b="1" dirty="0">
                <a:solidFill>
                  <a:srgbClr val="0A2252"/>
                </a:solidFill>
                <a:latin typeface="Aptos Display"/>
                <a:ea typeface="Aptos Display"/>
                <a:cs typeface="Aptos Display"/>
              </a:rPr>
              <a:t>Lipsky, 1980</a:t>
            </a:r>
          </a:p>
          <a:p>
            <a:pPr algn="l" marL="0" indent="0">
              <a:lnSpc>
                <a:spcPct val="105000"/>
              </a:lnSpc>
              <a:buNone/>
            </a:pPr>
            <a:r>
              <a:rPr lang="pt-BR" sz="1500" dirty="0">
                <a:solidFill>
                  <a:srgbClr val="26364F"/>
                </a:solidFill>
              </a:rPr>
              <a:t>A política real é produzida na linha de frente, sob pressão de demanda e escassez de recursos.</a:t>
            </a:r>
          </a:p>
        </p:txBody>
      </p:sp>
      <p:sp>
        <p:nvSpPr>
          <p:cNvPr id="103" name="Cartão 103"/>
          <p:cNvSpPr/>
          <p:nvPr/>
        </p:nvSpPr>
        <p:spPr>
          <a:xfrm>
            <a:off x="8083296" y="1783080"/>
            <a:ext cx="3438144" cy="2011680"/>
          </a:xfrm>
          <a:prstGeom prst="roundRect">
            <a:avLst>
              <a:gd name="adj" fmla="val 6000"/>
            </a:avLst>
          </a:prstGeom>
          <a:solidFill>
            <a:srgbClr val="FFFFFF"/>
          </a:solidFill>
          <a:ln w="12700">
            <a:solidFill>
              <a:srgbClr val="E7E2DA"/>
            </a:solidFill>
          </a:ln>
          <a:effectLst>
            <a:outerShdw blurRad="76200" dist="19050" dir="5400000" algn="t" rotWithShape="0">
              <a:srgbClr val="0A2252">
                <a:alpha val="12000"/>
              </a:srgbClr>
            </a:outerShdw>
          </a:effectLst>
        </p:spPr>
        <p:txBody>
          <a:bodyPr wrap="square" lIns="228600" tIns="228600" rIns="228600" bIns="228600" rtlCol="0" anchor="t">
            <a:normAutofit/>
          </a:bodyPr>
          <a:lstStyle/>
          <a:p>
            <a:pPr algn="l" marL="0" indent="0">
              <a:lnSpc>
                <a:spcPct val="100000"/>
              </a:lnSpc>
              <a:spcAft>
                <a:spcPts val="500"/>
              </a:spcAft>
              <a:buNone/>
            </a:pPr>
            <a:r>
              <a:rPr lang="pt-BR" sz="1800" b="1" dirty="0">
                <a:solidFill>
                  <a:srgbClr val="0A2252"/>
                </a:solidFill>
                <a:latin typeface="Aptos Display"/>
                <a:ea typeface="Aptos Display"/>
                <a:cs typeface="Aptos Display"/>
              </a:rPr>
              <a:t>Hill e Hupe, 2022</a:t>
            </a:r>
          </a:p>
          <a:p>
            <a:pPr algn="l" marL="0" indent="0">
              <a:lnSpc>
                <a:spcPct val="105000"/>
              </a:lnSpc>
              <a:buNone/>
            </a:pPr>
            <a:r>
              <a:rPr lang="pt-BR" sz="1500" dirty="0">
                <a:solidFill>
                  <a:srgbClr val="26364F"/>
                </a:solidFill>
              </a:rPr>
              <a:t>Organização, discricionariedade e condições institucionais moldam a ação pública.</a:t>
            </a:r>
          </a:p>
        </p:txBody>
      </p:sp>
      <p:sp>
        <p:nvSpPr>
          <p:cNvPr id="104" name="Texto 104"/>
          <p:cNvSpPr txBox="1"/>
          <p:nvPr/>
        </p:nvSpPr>
        <p:spPr>
          <a:xfrm>
            <a:off x="658368" y="4069080"/>
            <a:ext cx="10863072" cy="548640"/>
          </a:xfrm>
          <a:prstGeom prst="rect">
            <a:avLst/>
          </a:prstGeom>
          <a:noFill/>
          <a:ln>
            <a:noFill/>
          </a:ln>
        </p:spPr>
        <p:txBody>
          <a:bodyPr wrap="square" lIns="0" tIns="0" rIns="0" bIns="0" rtlCol="0" anchor="ctr">
            <a:normAutofit/>
          </a:bodyPr>
          <a:lstStyle/>
          <a:p>
            <a:pPr algn="l" marL="0" indent="0">
              <a:buNone/>
            </a:pPr>
            <a:r>
              <a:rPr lang="pt-BR" sz="2000" b="1" dirty="0">
                <a:solidFill>
                  <a:srgbClr val="FF5A1F"/>
                </a:solidFill>
                <a:latin typeface="Aptos Display"/>
                <a:ea typeface="Aptos Display"/>
                <a:cs typeface="Aptos Display"/>
              </a:rPr>
              <a:t>É nesse intervalo que o administrador trabalha.</a:t>
            </a:r>
          </a:p>
        </p:txBody>
      </p:sp>
      <p:sp>
        <p:nvSpPr>
          <p:cNvPr id="105" name="Roteiro 105"/>
          <p:cNvSpPr/>
          <p:nvPr/>
        </p:nvSpPr>
        <p:spPr>
          <a:xfrm>
            <a:off x="7269480" y="5230368"/>
            <a:ext cx="4251960" cy="1005840"/>
          </a:xfrm>
          <a:prstGeom prst="roundRect">
            <a:avLst>
              <a:gd name="adj" fmla="val 8000"/>
            </a:avLst>
          </a:prstGeom>
          <a:solidFill>
            <a:srgbClr val="FFFFFF"/>
          </a:solidFill>
          <a:ln w="12700">
            <a:solidFill>
              <a:srgbClr val="FFD1BE"/>
            </a:solidFill>
          </a:ln>
        </p:spPr>
        <p:txBody>
          <a:bodyPr wrap="square" lIns="91440" tIns="91440" rIns="91440" bIns="91440" rtlCol="0" anchor="ctr">
            <a:normAutofit/>
          </a:bodyPr>
          <a:lstStyle/>
          <a:p>
            <a:pPr algn="l" marL="171450" indent="-171450">
              <a:spcAft>
                <a:spcPts val="150"/>
              </a:spcAft>
              <a:buFont typeface="Arial"/>
              <a:buChar char="•"/>
            </a:pPr>
            <a:r>
              <a:rPr lang="pt-BR" sz="1050" dirty="0">
                <a:solidFill>
                  <a:srgbClr val="26364F"/>
                </a:solidFill>
              </a:rPr>
              <a:t>Decisão e execução (Pressman; Wildavsky, 1973)</a:t>
            </a:r>
          </a:p>
          <a:p>
            <a:pPr algn="l" marL="171450" indent="-171450">
              <a:spcAft>
                <a:spcPts val="150"/>
              </a:spcAft>
              <a:buFont typeface="Arial"/>
              <a:buChar char="•"/>
            </a:pPr>
            <a:r>
              <a:rPr lang="pt-BR" sz="1050" dirty="0">
                <a:solidFill>
                  <a:srgbClr val="26364F"/>
                </a:solidFill>
              </a:rPr>
              <a:t>Linha de frente e discricionariedade (Lipsky, 1980)</a:t>
            </a:r>
          </a:p>
          <a:p>
            <a:pPr algn="l" marL="171450" indent="-171450">
              <a:spcAft>
                <a:spcPts val="150"/>
              </a:spcAft>
              <a:buFont typeface="Arial"/>
              <a:buChar char="•"/>
            </a:pPr>
            <a:r>
              <a:rPr lang="pt-BR" sz="1050" dirty="0">
                <a:solidFill>
                  <a:srgbClr val="26364F"/>
                </a:solidFill>
              </a:rPr>
              <a:t>Condições institucionais (Hill; Hupe, 2022)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58368" y="896112"/>
            <a:ext cx="9052560" cy="502920"/>
          </a:xfrm>
          <a:prstGeom prst="rect">
            <a:avLst/>
          </a:prstGeom>
          <a:noFill/>
          <a:ln/>
        </p:spPr>
        <p:txBody>
          <a:bodyPr wrap="square" lIns="0" tIns="0" rIns="0" bIns="0" rtlCol="0" anchor="ctr">
            <a:normAutofit/>
          </a:bodyPr>
          <a:lstStyle/>
          <a:p>
            <a:pPr marL="0" indent="0">
              <a:buNone/>
            </a:pPr>
            <a:r>
              <a:rPr lang="pt-BR" sz="2600" b="1" dirty="0">
                <a:solidFill>
                  <a:srgbClr val="0A2252"/>
                </a:solidFill>
                <a:latin typeface="Aptos Display" pitchFamily="34" charset="0"/>
                <a:ea typeface="Aptos Display" pitchFamily="34" charset="-122"/>
                <a:cs typeface="Aptos Display" pitchFamily="34" charset="-120"/>
              </a:rPr>
              <a:t>IMPLEMENTAR É TRADUZIR</a:t>
            </a:r>
            <a:endParaRPr lang="en-US" sz="2600" dirty="0"/>
          </a:p>
        </p:txBody>
      </p:sp>
      <p:sp>
        <p:nvSpPr>
          <p:cNvPr id="3" name="Shape 1"/>
          <p:cNvSpPr/>
          <p:nvPr/>
        </p:nvSpPr>
        <p:spPr>
          <a:xfrm>
            <a:off x="658368" y="1536192"/>
            <a:ext cx="822960" cy="0"/>
          </a:xfrm>
          <a:prstGeom prst="line">
            <a:avLst/>
          </a:prstGeom>
          <a:noFill/>
          <a:ln w="44450">
            <a:solidFill>
              <a:srgbClr val="FF5A1F"/>
            </a:solidFill>
            <a:prstDash val="solid"/>
          </a:ln>
        </p:spPr>
        <p:txBody>
          <a:bodyPr/>
          <a:lstStyle/>
          <a:p>
            <a:endParaRPr lang="pt-BR"/>
          </a:p>
        </p:txBody>
      </p:sp>
      <p:sp>
        <p:nvSpPr>
          <p:cNvPr id="25" name="Slide Number Placeholder 0"/>
          <p:cNvSpPr>
            <a:spLocks noGrp="1"/>
          </p:cNvSpPr>
          <p:nvPr>
            <p:ph type="sldNum" sz="quarter" idx="4294967295"/>
          </p:nvPr>
        </p:nvSpPr>
        <p:spPr>
          <a:xfrm>
            <a:off x="11631168" y="6473952"/>
            <a:ext cx="420000" cy="164592"/>
          </a:xfrm>
          <a:prstGeom prst="rect">
            <a:avLst/>
          </a:prstGeom>
          <a:extLst>
            <a:ext uri="{C572A759-6A51-4108-AA02-DFA0A04FC94B}">
              <ma14:wrappingTextBoxFlag xmlns:ma14="http://schemas.microsoft.com/office/mac/drawingml/2011/main" xmlns="" val="0"/>
            </a:ext>
          </a:extLst>
        </p:spPr>
        <p:txBody>
          <a:bodyPr/>
          <a:lstStyle>
            <a:lvl1pPr>
              <a:defRPr sz="850">
                <a:solidFill>
                  <a:srgbClr val="7D8797"/>
                </a:solidFill>
              </a:defRPr>
            </a:lvl1pPr>
          </a:lstStyle>
          <a:p>
            <a:pPr algn="r"/>
            <a:fld id="{F7021451-1387-4CA6-816F-3879F97B5CBC}" type="slidenum">
              <a:rPr lang="en-US" b="0"/>
              <a:t>2</a:t>
            </a:fld>
            <a:endParaRPr lang="en-US"/>
          </a:p>
        </p:txBody>
      </p:sp>
      <p:pic>
        <p:nvPicPr>
          <p:cNvPr id="9" name="Imagem 8">
            <a:extLst>
              <a:ext uri="{FF2B5EF4-FFF2-40B4-BE49-F238E27FC236}">
                <a16:creationId xmlns:a16="http://schemas.microsoft.com/office/drawing/2014/main" id="{35A0857D-7EDC-DFF6-3CFE-A70D6D0695B9}"/>
              </a:ext>
            </a:extLst>
          </p:cNvPr>
          <p:cNvPicPr>
            <a:picLocks noChangeAspect="1"/>
          </p:cNvPicPr>
          <p:nvPr/>
        </p:nvPicPr>
        <p:blipFill>
          <a:blip r:embed="rId3"/>
          <a:srcRect l="-577" t="22570" r="577" b="16329"/>
          <a:stretch>
            <a:fillRect/>
          </a:stretch>
        </p:blipFill>
        <p:spPr>
          <a:xfrm>
            <a:off x="199282" y="5178555"/>
            <a:ext cx="2564091" cy="1566665"/>
          </a:xfrm>
          <a:prstGeom prst="rect">
            <a:avLst/>
          </a:prstGeom>
        </p:spPr>
      </p:pic>
      <p:sp>
        <p:nvSpPr>
          <p:cNvPr id="101" name="Texto 101"/>
          <p:cNvSpPr txBox="1"/>
          <p:nvPr/>
        </p:nvSpPr>
        <p:spPr>
          <a:xfrm>
            <a:off x="658368" y="1783080"/>
            <a:ext cx="4846320" cy="822960"/>
          </a:xfrm>
          <a:prstGeom prst="rect">
            <a:avLst/>
          </a:prstGeom>
          <a:noFill/>
          <a:ln>
            <a:noFill/>
          </a:ln>
        </p:spPr>
        <p:txBody>
          <a:bodyPr wrap="square" lIns="0" tIns="0" rIns="0" bIns="0" rtlCol="0" anchor="t">
            <a:normAutofit/>
          </a:bodyPr>
          <a:lstStyle/>
          <a:p>
            <a:pPr algn="l" marL="0" indent="0">
              <a:lnSpc>
                <a:spcPct val="110000"/>
              </a:lnSpc>
              <a:buNone/>
            </a:pPr>
            <a:r>
              <a:rPr lang="pt-BR" sz="1700" dirty="0">
                <a:solidFill>
                  <a:srgbClr val="0A2252"/>
                </a:solidFill>
              </a:rPr>
              <a:t>Prescrições institucionais precisam assumir formas concretas em práticas situadas.</a:t>
            </a:r>
          </a:p>
        </p:txBody>
      </p:sp>
      <p:sp>
        <p:nvSpPr>
          <p:cNvPr id="102" name="Etiqueta 102"/>
          <p:cNvSpPr/>
          <p:nvPr/>
        </p:nvSpPr>
        <p:spPr>
          <a:xfrm>
            <a:off x="658368" y="2697480"/>
            <a:ext cx="1051560" cy="384048"/>
          </a:xfrm>
          <a:prstGeom prst="roundRect">
            <a:avLst>
              <a:gd name="adj" fmla="val 50000"/>
            </a:avLst>
          </a:prstGeom>
          <a:solidFill>
            <a:srgbClr val="0A2252"/>
          </a:solidFill>
          <a:ln>
            <a:noFill/>
          </a:ln>
        </p:spPr>
        <p:txBody>
          <a:bodyPr wrap="square" lIns="36576" tIns="36576" rIns="36576" bIns="36576" rtlCol="0" anchor="ctr">
            <a:normAutofit/>
          </a:bodyPr>
          <a:lstStyle/>
          <a:p>
            <a:pPr algn="ctr" marL="0" indent="0">
              <a:buNone/>
            </a:pPr>
            <a:r>
              <a:rPr lang="pt-BR" sz="1200" b="1" dirty="0">
                <a:solidFill>
                  <a:srgbClr val="FFFFFF"/>
                </a:solidFill>
              </a:rPr>
              <a:t>normas</a:t>
            </a:r>
          </a:p>
        </p:txBody>
      </p:sp>
      <p:sp>
        <p:nvSpPr>
          <p:cNvPr id="103" name="Etiqueta 103"/>
          <p:cNvSpPr/>
          <p:nvPr/>
        </p:nvSpPr>
        <p:spPr>
          <a:xfrm>
            <a:off x="1819656" y="2697480"/>
            <a:ext cx="1234440" cy="384048"/>
          </a:xfrm>
          <a:prstGeom prst="roundRect">
            <a:avLst>
              <a:gd name="adj" fmla="val 50000"/>
            </a:avLst>
          </a:prstGeom>
          <a:solidFill>
            <a:srgbClr val="0A2252"/>
          </a:solidFill>
          <a:ln>
            <a:noFill/>
          </a:ln>
        </p:spPr>
        <p:txBody>
          <a:bodyPr wrap="square" lIns="36576" tIns="36576" rIns="36576" bIns="36576" rtlCol="0" anchor="ctr">
            <a:normAutofit/>
          </a:bodyPr>
          <a:lstStyle/>
          <a:p>
            <a:pPr algn="ctr" marL="0" indent="0">
              <a:buNone/>
            </a:pPr>
            <a:r>
              <a:rPr lang="pt-BR" sz="1200" b="1" dirty="0">
                <a:solidFill>
                  <a:srgbClr val="FFFFFF"/>
                </a:solidFill>
              </a:rPr>
              <a:t>processos</a:t>
            </a:r>
          </a:p>
        </p:txBody>
      </p:sp>
      <p:sp>
        <p:nvSpPr>
          <p:cNvPr id="104" name="Etiqueta 104"/>
          <p:cNvSpPr/>
          <p:nvPr/>
        </p:nvSpPr>
        <p:spPr>
          <a:xfrm>
            <a:off x="3163824" y="2697480"/>
            <a:ext cx="1143000" cy="384048"/>
          </a:xfrm>
          <a:prstGeom prst="roundRect">
            <a:avLst>
              <a:gd name="adj" fmla="val 50000"/>
            </a:avLst>
          </a:prstGeom>
          <a:solidFill>
            <a:srgbClr val="0A2252"/>
          </a:solidFill>
          <a:ln>
            <a:noFill/>
          </a:ln>
        </p:spPr>
        <p:txBody>
          <a:bodyPr wrap="square" lIns="36576" tIns="36576" rIns="36576" bIns="36576" rtlCol="0" anchor="ctr">
            <a:normAutofit/>
          </a:bodyPr>
          <a:lstStyle/>
          <a:p>
            <a:pPr algn="ctr" marL="0" indent="0">
              <a:buNone/>
            </a:pPr>
            <a:r>
              <a:rPr lang="pt-BR" sz="1200" b="1" dirty="0">
                <a:solidFill>
                  <a:srgbClr val="FFFFFF"/>
                </a:solidFill>
              </a:rPr>
              <a:t>sistemas</a:t>
            </a:r>
          </a:p>
        </p:txBody>
      </p:sp>
      <p:sp>
        <p:nvSpPr>
          <p:cNvPr id="105" name="Etiqueta 105"/>
          <p:cNvSpPr/>
          <p:nvPr/>
        </p:nvSpPr>
        <p:spPr>
          <a:xfrm>
            <a:off x="658368" y="3172968"/>
            <a:ext cx="1097280" cy="384048"/>
          </a:xfrm>
          <a:prstGeom prst="roundRect">
            <a:avLst>
              <a:gd name="adj" fmla="val 50000"/>
            </a:avLst>
          </a:prstGeom>
          <a:solidFill>
            <a:srgbClr val="0A2252"/>
          </a:solidFill>
          <a:ln>
            <a:noFill/>
          </a:ln>
        </p:spPr>
        <p:txBody>
          <a:bodyPr wrap="square" lIns="36576" tIns="36576" rIns="36576" bIns="36576" rtlCol="0" anchor="ctr">
            <a:normAutofit/>
          </a:bodyPr>
          <a:lstStyle/>
          <a:p>
            <a:pPr algn="ctr" marL="0" indent="0">
              <a:buNone/>
            </a:pPr>
            <a:r>
              <a:rPr lang="pt-BR" sz="1200" b="1" dirty="0">
                <a:solidFill>
                  <a:srgbClr val="FFFFFF"/>
                </a:solidFill>
              </a:rPr>
              <a:t>espaços</a:t>
            </a:r>
          </a:p>
        </p:txBody>
      </p:sp>
      <p:sp>
        <p:nvSpPr>
          <p:cNvPr id="106" name="Etiqueta 106"/>
          <p:cNvSpPr/>
          <p:nvPr/>
        </p:nvSpPr>
        <p:spPr>
          <a:xfrm>
            <a:off x="1865376" y="3172968"/>
            <a:ext cx="1051560" cy="384048"/>
          </a:xfrm>
          <a:prstGeom prst="roundRect">
            <a:avLst>
              <a:gd name="adj" fmla="val 50000"/>
            </a:avLst>
          </a:prstGeom>
          <a:solidFill>
            <a:srgbClr val="0A2252"/>
          </a:solidFill>
          <a:ln>
            <a:noFill/>
          </a:ln>
        </p:spPr>
        <p:txBody>
          <a:bodyPr wrap="square" lIns="36576" tIns="36576" rIns="36576" bIns="36576" rtlCol="0" anchor="ctr">
            <a:normAutofit/>
          </a:bodyPr>
          <a:lstStyle/>
          <a:p>
            <a:pPr algn="ctr" marL="0" indent="0">
              <a:buNone/>
            </a:pPr>
            <a:r>
              <a:rPr lang="pt-BR" sz="1200" b="1" dirty="0">
                <a:solidFill>
                  <a:srgbClr val="FFFFFF"/>
                </a:solidFill>
              </a:rPr>
              <a:t>rotinas</a:t>
            </a:r>
          </a:p>
        </p:txBody>
      </p:sp>
      <p:sp>
        <p:nvSpPr>
          <p:cNvPr id="107" name="Etiqueta 107"/>
          <p:cNvSpPr/>
          <p:nvPr/>
        </p:nvSpPr>
        <p:spPr>
          <a:xfrm>
            <a:off x="658368" y="3648456"/>
            <a:ext cx="2743200" cy="384048"/>
          </a:xfrm>
          <a:prstGeom prst="roundRect">
            <a:avLst>
              <a:gd name="adj" fmla="val 50000"/>
            </a:avLst>
          </a:prstGeom>
          <a:solidFill>
            <a:srgbClr val="FF5A1F"/>
          </a:solidFill>
          <a:ln>
            <a:noFill/>
          </a:ln>
        </p:spPr>
        <p:txBody>
          <a:bodyPr wrap="square" lIns="36576" tIns="36576" rIns="36576" bIns="36576" rtlCol="0" anchor="ctr">
            <a:normAutofit/>
          </a:bodyPr>
          <a:lstStyle/>
          <a:p>
            <a:pPr algn="ctr" marL="0" indent="0">
              <a:buNone/>
            </a:pPr>
            <a:r>
              <a:rPr lang="pt-BR" sz="1200" b="1" dirty="0">
                <a:solidFill>
                  <a:srgbClr val="FFFFFF"/>
                </a:solidFill>
              </a:rPr>
              <a:t>decisões de linha de frente</a:t>
            </a:r>
          </a:p>
        </p:txBody>
      </p:sp>
      <p:sp>
        <p:nvSpPr>
          <p:cNvPr id="108" name="Texto 108"/>
          <p:cNvSpPr txBox="1"/>
          <p:nvPr/>
        </p:nvSpPr>
        <p:spPr>
          <a:xfrm>
            <a:off x="658368" y="4224528"/>
            <a:ext cx="4846320" cy="914400"/>
          </a:xfrm>
          <a:prstGeom prst="rect">
            <a:avLst/>
          </a:prstGeom>
          <a:noFill/>
          <a:ln>
            <a:noFill/>
          </a:ln>
        </p:spPr>
        <p:txBody>
          <a:bodyPr wrap="square" lIns="0" tIns="0" rIns="0" bIns="0" rtlCol="0" anchor="t">
            <a:normAutofit/>
          </a:bodyPr>
          <a:lstStyle/>
          <a:p>
            <a:pPr algn="l" marL="0" indent="0">
              <a:lnSpc>
                <a:spcPct val="110000"/>
              </a:lnSpc>
              <a:buNone/>
            </a:pPr>
            <a:r>
              <a:rPr lang="pt-BR" sz="1400" dirty="0">
                <a:solidFill>
                  <a:srgbClr val="26364F"/>
                </a:solidFill>
              </a:rPr>
              <a:t>Traduzir envolve interpretação, adaptação e coordenação. Por isso a mesma política gera experiências diferentes em unidades diferentes.</a:t>
            </a:r>
          </a:p>
        </p:txBody>
      </p:sp>
      <p:pic>
        <p:nvPicPr>
          <p:cNvPr id="109" name="Imagem 109" descr="Ilustração de um documento normativo que se transforma em pessoas, sistemas e serviços"/>
          <p:cNvPicPr>
            <a:picLocks noChangeAspect="1"/>
          </p:cNvPicPr>
          <p:nvPr/>
        </p:nvPicPr>
        <p:blipFill>
          <a:blip r:embed="rIdM1"/>
          <a:stretch>
            <a:fillRect/>
          </a:stretch>
        </p:blipFill>
        <p:spPr>
          <a:xfrm>
            <a:off x="5760720" y="1783080"/>
            <a:ext cx="5760720" cy="3236976"/>
          </a:xfrm>
          <a:prstGeom prst="roundRect">
            <a:avLst>
              <a:gd name="adj" fmla="val 4000"/>
            </a:avLst>
          </a:prstGeom>
        </p:spPr>
      </p:pic>
      <p:sp>
        <p:nvSpPr>
          <p:cNvPr id="110" name="Roteiro 110"/>
          <p:cNvSpPr/>
          <p:nvPr/>
        </p:nvSpPr>
        <p:spPr>
          <a:xfrm>
            <a:off x="7269480" y="5230368"/>
            <a:ext cx="4251960" cy="1005840"/>
          </a:xfrm>
          <a:prstGeom prst="roundRect">
            <a:avLst>
              <a:gd name="adj" fmla="val 8000"/>
            </a:avLst>
          </a:prstGeom>
          <a:solidFill>
            <a:srgbClr val="FFFFFF"/>
          </a:solidFill>
          <a:ln w="12700">
            <a:solidFill>
              <a:srgbClr val="FFD1BE"/>
            </a:solidFill>
          </a:ln>
        </p:spPr>
        <p:txBody>
          <a:bodyPr wrap="square" lIns="91440" tIns="91440" rIns="91440" bIns="91440" rtlCol="0" anchor="ctr">
            <a:normAutofit/>
          </a:bodyPr>
          <a:lstStyle/>
          <a:p>
            <a:pPr algn="l" marL="171450" indent="-171450">
              <a:spcAft>
                <a:spcPts val="150"/>
              </a:spcAft>
              <a:buFont typeface="Arial"/>
              <a:buChar char="•"/>
            </a:pPr>
            <a:r>
              <a:rPr lang="pt-BR" sz="1050" dirty="0">
                <a:solidFill>
                  <a:srgbClr val="26364F"/>
                </a:solidFill>
              </a:rPr>
              <a:t>Instrumentos de política (Lascoumes; Le Galès, 2007)</a:t>
            </a:r>
          </a:p>
          <a:p>
            <a:pPr algn="l" marL="171450" indent="-171450">
              <a:spcAft>
                <a:spcPts val="150"/>
              </a:spcAft>
              <a:buFont typeface="Arial"/>
              <a:buChar char="•"/>
            </a:pPr>
            <a:r>
              <a:rPr lang="pt-BR" sz="1050" dirty="0">
                <a:solidFill>
                  <a:srgbClr val="26364F"/>
                </a:solidFill>
              </a:rPr>
              <a:t>Discricionariedade na linha de frente (Lipsky, 1980)</a:t>
            </a:r>
          </a:p>
          <a:p>
            <a:pPr algn="l" marL="171450" indent="-171450">
              <a:spcAft>
                <a:spcPts val="150"/>
              </a:spcAft>
              <a:buFont typeface="Arial"/>
              <a:buChar char="•"/>
            </a:pPr>
            <a:r>
              <a:rPr lang="pt-BR" sz="1050" dirty="0">
                <a:solidFill>
                  <a:srgbClr val="26364F"/>
                </a:solidFill>
              </a:rPr>
              <a:t>Mesma política, experiências diferentes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58368" y="896112"/>
            <a:ext cx="9052560" cy="502920"/>
          </a:xfrm>
          <a:prstGeom prst="rect">
            <a:avLst/>
          </a:prstGeom>
          <a:noFill/>
          <a:ln/>
        </p:spPr>
        <p:txBody>
          <a:bodyPr wrap="square" lIns="0" tIns="0" rIns="0" bIns="0" rtlCol="0" anchor="ctr">
            <a:normAutofit/>
          </a:bodyPr>
          <a:lstStyle/>
          <a:p>
            <a:pPr marL="0" indent="0">
              <a:buNone/>
            </a:pPr>
            <a:r>
              <a:rPr lang="pt-BR" sz="2600" b="1" dirty="0">
                <a:solidFill>
                  <a:srgbClr val="0A2252"/>
                </a:solidFill>
                <a:latin typeface="Aptos Display" pitchFamily="34" charset="0"/>
                <a:ea typeface="Aptos Display" pitchFamily="34" charset="-122"/>
                <a:cs typeface="Aptos Display" pitchFamily="34" charset="-120"/>
              </a:rPr>
              <a:t>A POLÍTICA GANHA FORMA EM LUGARES CONCRETOS</a:t>
            </a:r>
            <a:endParaRPr lang="en-US" sz="2600" dirty="0"/>
          </a:p>
        </p:txBody>
      </p:sp>
      <p:sp>
        <p:nvSpPr>
          <p:cNvPr id="3" name="Shape 1"/>
          <p:cNvSpPr/>
          <p:nvPr/>
        </p:nvSpPr>
        <p:spPr>
          <a:xfrm>
            <a:off x="658368" y="1536192"/>
            <a:ext cx="822960" cy="0"/>
          </a:xfrm>
          <a:prstGeom prst="line">
            <a:avLst/>
          </a:prstGeom>
          <a:noFill/>
          <a:ln w="44450">
            <a:solidFill>
              <a:srgbClr val="FF5A1F"/>
            </a:solidFill>
            <a:prstDash val="solid"/>
          </a:ln>
        </p:spPr>
        <p:txBody>
          <a:bodyPr/>
          <a:lstStyle/>
          <a:p>
            <a:endParaRPr lang="pt-BR"/>
          </a:p>
        </p:txBody>
      </p:sp>
      <p:sp>
        <p:nvSpPr>
          <p:cNvPr id="25" name="Slide Number Placeholder 0"/>
          <p:cNvSpPr>
            <a:spLocks noGrp="1"/>
          </p:cNvSpPr>
          <p:nvPr>
            <p:ph type="sldNum" sz="quarter" idx="4294967295"/>
          </p:nvPr>
        </p:nvSpPr>
        <p:spPr>
          <a:xfrm>
            <a:off x="11631168" y="6473952"/>
            <a:ext cx="420000" cy="164592"/>
          </a:xfrm>
          <a:prstGeom prst="rect">
            <a:avLst/>
          </a:prstGeom>
          <a:extLst>
            <a:ext uri="{C572A759-6A51-4108-AA02-DFA0A04FC94B}">
              <ma14:wrappingTextBoxFlag xmlns:ma14="http://schemas.microsoft.com/office/mac/drawingml/2011/main" xmlns="" val="0"/>
            </a:ext>
          </a:extLst>
        </p:spPr>
        <p:txBody>
          <a:bodyPr/>
          <a:lstStyle>
            <a:lvl1pPr>
              <a:defRPr sz="850">
                <a:solidFill>
                  <a:srgbClr val="7D8797"/>
                </a:solidFill>
              </a:defRPr>
            </a:lvl1pPr>
          </a:lstStyle>
          <a:p>
            <a:pPr algn="r"/>
            <a:fld id="{F7021451-1387-4CA6-816F-3879F97B5CBC}" type="slidenum">
              <a:rPr lang="en-US" b="0"/>
              <a:t>2</a:t>
            </a:fld>
            <a:endParaRPr lang="en-US"/>
          </a:p>
        </p:txBody>
      </p:sp>
      <p:pic>
        <p:nvPicPr>
          <p:cNvPr id="9" name="Imagem 8">
            <a:extLst>
              <a:ext uri="{FF2B5EF4-FFF2-40B4-BE49-F238E27FC236}">
                <a16:creationId xmlns:a16="http://schemas.microsoft.com/office/drawing/2014/main" id="{35A0857D-7EDC-DFF6-3CFE-A70D6D0695B9}"/>
              </a:ext>
            </a:extLst>
          </p:cNvPr>
          <p:cNvPicPr>
            <a:picLocks noChangeAspect="1"/>
          </p:cNvPicPr>
          <p:nvPr/>
        </p:nvPicPr>
        <p:blipFill>
          <a:blip r:embed="rId3"/>
          <a:srcRect l="-577" t="22570" r="577" b="16329"/>
          <a:stretch>
            <a:fillRect/>
          </a:stretch>
        </p:blipFill>
        <p:spPr>
          <a:xfrm>
            <a:off x="199282" y="5178555"/>
            <a:ext cx="2564091" cy="1566665"/>
          </a:xfrm>
          <a:prstGeom prst="rect">
            <a:avLst/>
          </a:prstGeom>
        </p:spPr>
      </p:pic>
      <p:sp>
        <p:nvSpPr>
          <p:cNvPr id="101" name="Lugar 101"/>
          <p:cNvSpPr/>
          <p:nvPr/>
        </p:nvSpPr>
        <p:spPr>
          <a:xfrm>
            <a:off x="658368" y="1783080"/>
            <a:ext cx="2578608" cy="914400"/>
          </a:xfrm>
          <a:prstGeom prst="roundRect">
            <a:avLst>
              <a:gd name="adj" fmla="val 8000"/>
            </a:avLst>
          </a:prstGeom>
          <a:solidFill>
            <a:srgbClr val="0A2252"/>
          </a:solidFill>
          <a:ln>
            <a:noFill/>
          </a:ln>
        </p:spPr>
        <p:txBody>
          <a:bodyPr wrap="square" lIns="201168" tIns="201168" rIns="201168" bIns="201168" rtlCol="0" anchor="ctr">
            <a:normAutofit/>
          </a:bodyPr>
          <a:lstStyle/>
          <a:p>
            <a:pPr algn="l" marL="0" indent="0">
              <a:buNone/>
            </a:pPr>
            <a:r>
              <a:rPr lang="pt-BR" sz="2000" b="1" dirty="0">
                <a:solidFill>
                  <a:srgbClr val="FFFFFF"/>
                </a:solidFill>
                <a:latin typeface="Aptos Display"/>
                <a:ea typeface="Aptos Display"/>
                <a:cs typeface="Aptos Display"/>
              </a:rPr>
              <a:t>Balcões</a:t>
            </a:r>
          </a:p>
        </p:txBody>
      </p:sp>
      <p:sp>
        <p:nvSpPr>
          <p:cNvPr id="102" name="Lugar 102"/>
          <p:cNvSpPr/>
          <p:nvPr/>
        </p:nvSpPr>
        <p:spPr>
          <a:xfrm>
            <a:off x="3419856" y="1783080"/>
            <a:ext cx="2578608" cy="914400"/>
          </a:xfrm>
          <a:prstGeom prst="roundRect">
            <a:avLst>
              <a:gd name="adj" fmla="val 8000"/>
            </a:avLst>
          </a:prstGeom>
          <a:solidFill>
            <a:srgbClr val="FFFFFF"/>
          </a:solidFill>
          <a:ln w="12700">
            <a:solidFill>
              <a:srgbClr val="E7E2DA"/>
            </a:solidFill>
          </a:ln>
        </p:spPr>
        <p:txBody>
          <a:bodyPr wrap="square" lIns="201168" tIns="201168" rIns="201168" bIns="201168" rtlCol="0" anchor="ctr">
            <a:normAutofit/>
          </a:bodyPr>
          <a:lstStyle/>
          <a:p>
            <a:pPr algn="l" marL="0" indent="0">
              <a:buNone/>
            </a:pPr>
            <a:r>
              <a:rPr lang="pt-BR" sz="2000" b="1" dirty="0">
                <a:solidFill>
                  <a:srgbClr val="0A2252"/>
                </a:solidFill>
                <a:latin typeface="Aptos Display"/>
                <a:ea typeface="Aptos Display"/>
                <a:cs typeface="Aptos Display"/>
              </a:rPr>
              <a:t>Salas de atendimento</a:t>
            </a:r>
          </a:p>
        </p:txBody>
      </p:sp>
      <p:sp>
        <p:nvSpPr>
          <p:cNvPr id="103" name="Lugar 103"/>
          <p:cNvSpPr/>
          <p:nvPr/>
        </p:nvSpPr>
        <p:spPr>
          <a:xfrm>
            <a:off x="6181344" y="1783080"/>
            <a:ext cx="2578608" cy="914400"/>
          </a:xfrm>
          <a:prstGeom prst="roundRect">
            <a:avLst>
              <a:gd name="adj" fmla="val 8000"/>
            </a:avLst>
          </a:prstGeom>
          <a:solidFill>
            <a:srgbClr val="0A2252"/>
          </a:solidFill>
          <a:ln>
            <a:noFill/>
          </a:ln>
        </p:spPr>
        <p:txBody>
          <a:bodyPr wrap="square" lIns="201168" tIns="201168" rIns="201168" bIns="201168" rtlCol="0" anchor="ctr">
            <a:normAutofit/>
          </a:bodyPr>
          <a:lstStyle/>
          <a:p>
            <a:pPr algn="l" marL="0" indent="0">
              <a:buNone/>
            </a:pPr>
            <a:r>
              <a:rPr lang="pt-BR" sz="2000" b="1" dirty="0">
                <a:solidFill>
                  <a:srgbClr val="FFFFFF"/>
                </a:solidFill>
                <a:latin typeface="Aptos Display"/>
                <a:ea typeface="Aptos Display"/>
                <a:cs typeface="Aptos Display"/>
              </a:rPr>
              <a:t>Formulários</a:t>
            </a:r>
          </a:p>
        </p:txBody>
      </p:sp>
      <p:sp>
        <p:nvSpPr>
          <p:cNvPr id="104" name="Lugar 104"/>
          <p:cNvSpPr/>
          <p:nvPr/>
        </p:nvSpPr>
        <p:spPr>
          <a:xfrm>
            <a:off x="8942832" y="1783080"/>
            <a:ext cx="2578608" cy="914400"/>
          </a:xfrm>
          <a:prstGeom prst="roundRect">
            <a:avLst>
              <a:gd name="adj" fmla="val 8000"/>
            </a:avLst>
          </a:prstGeom>
          <a:solidFill>
            <a:srgbClr val="FFFFFF"/>
          </a:solidFill>
          <a:ln w="12700">
            <a:solidFill>
              <a:srgbClr val="E7E2DA"/>
            </a:solidFill>
          </a:ln>
        </p:spPr>
        <p:txBody>
          <a:bodyPr wrap="square" lIns="201168" tIns="201168" rIns="201168" bIns="201168" rtlCol="0" anchor="ctr">
            <a:normAutofit/>
          </a:bodyPr>
          <a:lstStyle/>
          <a:p>
            <a:pPr algn="l" marL="0" indent="0">
              <a:buNone/>
            </a:pPr>
            <a:r>
              <a:rPr lang="pt-BR" sz="2000" b="1" dirty="0">
                <a:solidFill>
                  <a:srgbClr val="0A2252"/>
                </a:solidFill>
                <a:latin typeface="Aptos Display"/>
                <a:ea typeface="Aptos Display"/>
                <a:cs typeface="Aptos Display"/>
              </a:rPr>
              <a:t>Sistemas</a:t>
            </a:r>
          </a:p>
        </p:txBody>
      </p:sp>
      <p:sp>
        <p:nvSpPr>
          <p:cNvPr id="105" name="Lugar 105"/>
          <p:cNvSpPr/>
          <p:nvPr/>
        </p:nvSpPr>
        <p:spPr>
          <a:xfrm>
            <a:off x="658368" y="2880360"/>
            <a:ext cx="2578608" cy="914400"/>
          </a:xfrm>
          <a:prstGeom prst="roundRect">
            <a:avLst>
              <a:gd name="adj" fmla="val 8000"/>
            </a:avLst>
          </a:prstGeom>
          <a:solidFill>
            <a:srgbClr val="FFFFFF"/>
          </a:solidFill>
          <a:ln w="12700">
            <a:solidFill>
              <a:srgbClr val="E7E2DA"/>
            </a:solidFill>
          </a:ln>
        </p:spPr>
        <p:txBody>
          <a:bodyPr wrap="square" lIns="201168" tIns="201168" rIns="201168" bIns="201168" rtlCol="0" anchor="ctr">
            <a:normAutofit/>
          </a:bodyPr>
          <a:lstStyle/>
          <a:p>
            <a:pPr algn="l" marL="0" indent="0">
              <a:buNone/>
            </a:pPr>
            <a:r>
              <a:rPr lang="pt-BR" sz="2000" b="1" dirty="0">
                <a:solidFill>
                  <a:srgbClr val="0A2252"/>
                </a:solidFill>
                <a:latin typeface="Aptos Display"/>
                <a:ea typeface="Aptos Display"/>
                <a:cs typeface="Aptos Display"/>
              </a:rPr>
              <a:t>Filas</a:t>
            </a:r>
          </a:p>
        </p:txBody>
      </p:sp>
      <p:sp>
        <p:nvSpPr>
          <p:cNvPr id="106" name="Lugar 106"/>
          <p:cNvSpPr/>
          <p:nvPr/>
        </p:nvSpPr>
        <p:spPr>
          <a:xfrm>
            <a:off x="3419856" y="2880360"/>
            <a:ext cx="2578608" cy="914400"/>
          </a:xfrm>
          <a:prstGeom prst="roundRect">
            <a:avLst>
              <a:gd name="adj" fmla="val 8000"/>
            </a:avLst>
          </a:prstGeom>
          <a:solidFill>
            <a:srgbClr val="0A2252"/>
          </a:solidFill>
          <a:ln>
            <a:noFill/>
          </a:ln>
        </p:spPr>
        <p:txBody>
          <a:bodyPr wrap="square" lIns="201168" tIns="201168" rIns="201168" bIns="201168" rtlCol="0" anchor="ctr">
            <a:normAutofit/>
          </a:bodyPr>
          <a:lstStyle/>
          <a:p>
            <a:pPr algn="l" marL="0" indent="0">
              <a:buNone/>
            </a:pPr>
            <a:r>
              <a:rPr lang="pt-BR" sz="2000" b="1" dirty="0">
                <a:solidFill>
                  <a:srgbClr val="FFFFFF"/>
                </a:solidFill>
                <a:latin typeface="Aptos Display"/>
                <a:ea typeface="Aptos Display"/>
                <a:cs typeface="Aptos Display"/>
              </a:rPr>
              <a:t>Interfaces</a:t>
            </a:r>
          </a:p>
        </p:txBody>
      </p:sp>
      <p:sp>
        <p:nvSpPr>
          <p:cNvPr id="107" name="Lugar 107"/>
          <p:cNvSpPr/>
          <p:nvPr/>
        </p:nvSpPr>
        <p:spPr>
          <a:xfrm>
            <a:off x="6181344" y="2880360"/>
            <a:ext cx="2578608" cy="914400"/>
          </a:xfrm>
          <a:prstGeom prst="roundRect">
            <a:avLst>
              <a:gd name="adj" fmla="val 8000"/>
            </a:avLst>
          </a:prstGeom>
          <a:solidFill>
            <a:srgbClr val="FFFFFF"/>
          </a:solidFill>
          <a:ln w="12700">
            <a:solidFill>
              <a:srgbClr val="E7E2DA"/>
            </a:solidFill>
          </a:ln>
        </p:spPr>
        <p:txBody>
          <a:bodyPr wrap="square" lIns="201168" tIns="201168" rIns="201168" bIns="201168" rtlCol="0" anchor="ctr">
            <a:normAutofit/>
          </a:bodyPr>
          <a:lstStyle/>
          <a:p>
            <a:pPr algn="l" marL="0" indent="0">
              <a:buNone/>
            </a:pPr>
            <a:r>
              <a:rPr lang="pt-BR" sz="2000" b="1" dirty="0">
                <a:solidFill>
                  <a:srgbClr val="0A2252"/>
                </a:solidFill>
                <a:latin typeface="Aptos Display"/>
                <a:ea typeface="Aptos Display"/>
                <a:cs typeface="Aptos Display"/>
              </a:rPr>
              <a:t>Corredores</a:t>
            </a:r>
          </a:p>
        </p:txBody>
      </p:sp>
      <p:sp>
        <p:nvSpPr>
          <p:cNvPr id="108" name="Lugar 108"/>
          <p:cNvSpPr/>
          <p:nvPr/>
        </p:nvSpPr>
        <p:spPr>
          <a:xfrm>
            <a:off x="8942832" y="2880360"/>
            <a:ext cx="2578608" cy="914400"/>
          </a:xfrm>
          <a:prstGeom prst="roundRect">
            <a:avLst>
              <a:gd name="adj" fmla="val 8000"/>
            </a:avLst>
          </a:prstGeom>
          <a:solidFill>
            <a:srgbClr val="0A2252"/>
          </a:solidFill>
          <a:ln>
            <a:noFill/>
          </a:ln>
        </p:spPr>
        <p:txBody>
          <a:bodyPr wrap="square" lIns="201168" tIns="201168" rIns="201168" bIns="201168" rtlCol="0" anchor="ctr">
            <a:normAutofit/>
          </a:bodyPr>
          <a:lstStyle/>
          <a:p>
            <a:pPr algn="l" marL="0" indent="0">
              <a:buNone/>
            </a:pPr>
            <a:r>
              <a:rPr lang="pt-BR" sz="2000" b="1" dirty="0">
                <a:solidFill>
                  <a:srgbClr val="FFFFFF"/>
                </a:solidFill>
                <a:latin typeface="Aptos Display"/>
                <a:ea typeface="Aptos Display"/>
                <a:cs typeface="Aptos Display"/>
              </a:rPr>
              <a:t>Plataformas</a:t>
            </a:r>
          </a:p>
        </p:txBody>
      </p:sp>
      <p:sp>
        <p:nvSpPr>
          <p:cNvPr id="109" name="Texto 109"/>
          <p:cNvSpPr txBox="1"/>
          <p:nvPr/>
        </p:nvSpPr>
        <p:spPr>
          <a:xfrm>
            <a:off x="658368" y="4069080"/>
            <a:ext cx="10863072" cy="731520"/>
          </a:xfrm>
          <a:prstGeom prst="rect">
            <a:avLst/>
          </a:prstGeom>
          <a:noFill/>
          <a:ln>
            <a:noFill/>
          </a:ln>
        </p:spPr>
        <p:txBody>
          <a:bodyPr wrap="square" lIns="0" tIns="0" rIns="0" bIns="0" rtlCol="0" anchor="ctr">
            <a:normAutofit/>
          </a:bodyPr>
          <a:lstStyle/>
          <a:p>
            <a:pPr algn="l" marL="0" indent="0">
              <a:lnSpc>
                <a:spcPct val="110000"/>
              </a:lnSpc>
              <a:buNone/>
            </a:pPr>
            <a:r>
              <a:rPr lang="pt-BR" sz="1600" dirty="0">
                <a:solidFill>
                  <a:srgbClr val="26364F"/>
                </a:solidFill>
              </a:rPr>
              <a:t>Nesses arranjos, a norma vira prática, o trabalho se organiza e o cidadão forma sua experiência com o Estado.</a:t>
            </a:r>
          </a:p>
        </p:txBody>
      </p:sp>
      <p:sp>
        <p:nvSpPr>
          <p:cNvPr id="110" name="Roteiro 110"/>
          <p:cNvSpPr/>
          <p:nvPr/>
        </p:nvSpPr>
        <p:spPr>
          <a:xfrm>
            <a:off x="7269480" y="5230368"/>
            <a:ext cx="4251960" cy="1005840"/>
          </a:xfrm>
          <a:prstGeom prst="roundRect">
            <a:avLst>
              <a:gd name="adj" fmla="val 8000"/>
            </a:avLst>
          </a:prstGeom>
          <a:solidFill>
            <a:srgbClr val="FFFFFF"/>
          </a:solidFill>
          <a:ln w="12700">
            <a:solidFill>
              <a:srgbClr val="FFD1BE"/>
            </a:solidFill>
          </a:ln>
        </p:spPr>
        <p:txBody>
          <a:bodyPr wrap="square" lIns="91440" tIns="91440" rIns="91440" bIns="91440" rtlCol="0" anchor="ctr">
            <a:normAutofit/>
          </a:bodyPr>
          <a:lstStyle/>
          <a:p>
            <a:pPr algn="l" marL="171450" indent="-171450">
              <a:spcAft>
                <a:spcPts val="150"/>
              </a:spcAft>
              <a:buFont typeface="Arial"/>
              <a:buChar char="•"/>
            </a:pPr>
            <a:r>
              <a:rPr lang="pt-BR" sz="1050" dirty="0">
                <a:solidFill>
                  <a:srgbClr val="26364F"/>
                </a:solidFill>
              </a:rPr>
              <a:t>Ambiente e serviço: servicescape (Bitner, 1992)</a:t>
            </a:r>
          </a:p>
          <a:p>
            <a:pPr algn="l" marL="171450" indent="-171450">
              <a:spcAft>
                <a:spcPts val="150"/>
              </a:spcAft>
              <a:buFont typeface="Arial"/>
              <a:buChar char="•"/>
            </a:pPr>
            <a:r>
              <a:rPr lang="pt-BR" sz="1050" dirty="0">
                <a:solidFill>
                  <a:srgbClr val="26364F"/>
                </a:solidFill>
              </a:rPr>
              <a:t>Custos administrativos (Herd; Moynihan, 2019)</a:t>
            </a:r>
          </a:p>
          <a:p>
            <a:pPr algn="l" marL="171450" indent="-171450">
              <a:spcAft>
                <a:spcPts val="150"/>
              </a:spcAft>
              <a:buFont typeface="Arial"/>
              <a:buChar char="•"/>
            </a:pPr>
            <a:r>
              <a:rPr lang="pt-BR" sz="1050" dirty="0">
                <a:solidFill>
                  <a:srgbClr val="26364F"/>
                </a:solidFill>
              </a:rPr>
              <a:t>Instrumentos de política (Lascoumes; Le Galès, 2007)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58368" y="896112"/>
            <a:ext cx="9052560" cy="502920"/>
          </a:xfrm>
          <a:prstGeom prst="rect">
            <a:avLst/>
          </a:prstGeom>
          <a:noFill/>
          <a:ln/>
        </p:spPr>
        <p:txBody>
          <a:bodyPr wrap="square" lIns="0" tIns="0" rIns="0" bIns="0" rtlCol="0" anchor="ctr">
            <a:normAutofit/>
          </a:bodyPr>
          <a:lstStyle/>
          <a:p>
            <a:pPr marL="0" indent="0">
              <a:buNone/>
            </a:pPr>
            <a:r>
              <a:rPr lang="pt-BR" sz="2600" b="1" dirty="0">
                <a:solidFill>
                  <a:srgbClr val="0A2252"/>
                </a:solidFill>
                <a:latin typeface="Aptos Display" pitchFamily="34" charset="0"/>
                <a:ea typeface="Aptos Display" pitchFamily="34" charset="-122"/>
                <a:cs typeface="Aptos Display" pitchFamily="34" charset="-120"/>
              </a:rPr>
              <a:t>A LITERATURA TRATA O ESPAÇO DE FORMA FRAGMENTADA</a:t>
            </a:r>
            <a:endParaRPr lang="en-US" sz="2600" dirty="0"/>
          </a:p>
        </p:txBody>
      </p:sp>
      <p:sp>
        <p:nvSpPr>
          <p:cNvPr id="3" name="Shape 1"/>
          <p:cNvSpPr/>
          <p:nvPr/>
        </p:nvSpPr>
        <p:spPr>
          <a:xfrm>
            <a:off x="658368" y="1536192"/>
            <a:ext cx="822960" cy="0"/>
          </a:xfrm>
          <a:prstGeom prst="line">
            <a:avLst/>
          </a:prstGeom>
          <a:noFill/>
          <a:ln w="44450">
            <a:solidFill>
              <a:srgbClr val="FF5A1F"/>
            </a:solidFill>
            <a:prstDash val="solid"/>
          </a:ln>
        </p:spPr>
        <p:txBody>
          <a:bodyPr/>
          <a:lstStyle/>
          <a:p>
            <a:endParaRPr lang="pt-BR"/>
          </a:p>
        </p:txBody>
      </p:sp>
      <p:sp>
        <p:nvSpPr>
          <p:cNvPr id="25" name="Slide Number Placeholder 0"/>
          <p:cNvSpPr>
            <a:spLocks noGrp="1"/>
          </p:cNvSpPr>
          <p:nvPr>
            <p:ph type="sldNum" sz="quarter" idx="4294967295"/>
          </p:nvPr>
        </p:nvSpPr>
        <p:spPr>
          <a:xfrm>
            <a:off x="11631168" y="6473952"/>
            <a:ext cx="420000" cy="164592"/>
          </a:xfrm>
          <a:prstGeom prst="rect">
            <a:avLst/>
          </a:prstGeom>
          <a:extLst>
            <a:ext uri="{C572A759-6A51-4108-AA02-DFA0A04FC94B}">
              <ma14:wrappingTextBoxFlag xmlns:ma14="http://schemas.microsoft.com/office/mac/drawingml/2011/main" xmlns="" val="0"/>
            </a:ext>
          </a:extLst>
        </p:spPr>
        <p:txBody>
          <a:bodyPr/>
          <a:lstStyle>
            <a:lvl1pPr>
              <a:defRPr sz="850">
                <a:solidFill>
                  <a:srgbClr val="7D8797"/>
                </a:solidFill>
              </a:defRPr>
            </a:lvl1pPr>
          </a:lstStyle>
          <a:p>
            <a:pPr algn="r"/>
            <a:fld id="{F7021451-1387-4CA6-816F-3879F97B5CBC}" type="slidenum">
              <a:rPr lang="en-US" b="0"/>
              <a:t>2</a:t>
            </a:fld>
            <a:endParaRPr lang="en-US"/>
          </a:p>
        </p:txBody>
      </p:sp>
      <p:pic>
        <p:nvPicPr>
          <p:cNvPr id="9" name="Imagem 8">
            <a:extLst>
              <a:ext uri="{FF2B5EF4-FFF2-40B4-BE49-F238E27FC236}">
                <a16:creationId xmlns:a16="http://schemas.microsoft.com/office/drawing/2014/main" id="{35A0857D-7EDC-DFF6-3CFE-A70D6D0695B9}"/>
              </a:ext>
            </a:extLst>
          </p:cNvPr>
          <p:cNvPicPr>
            <a:picLocks noChangeAspect="1"/>
          </p:cNvPicPr>
          <p:nvPr/>
        </p:nvPicPr>
        <p:blipFill>
          <a:blip r:embed="rId3"/>
          <a:srcRect l="-577" t="22570" r="577" b="16329"/>
          <a:stretch>
            <a:fillRect/>
          </a:stretch>
        </p:blipFill>
        <p:spPr>
          <a:xfrm>
            <a:off x="199282" y="5178555"/>
            <a:ext cx="2564091" cy="1566665"/>
          </a:xfrm>
          <a:prstGeom prst="rect">
            <a:avLst/>
          </a:prstGeom>
        </p:spPr>
      </p:pic>
      <p:sp>
        <p:nvSpPr>
          <p:cNvPr id="101" name="Cabeçalho 101"/>
          <p:cNvSpPr/>
          <p:nvPr/>
        </p:nvSpPr>
        <p:spPr>
          <a:xfrm>
            <a:off x="658368" y="1783080"/>
            <a:ext cx="2377440" cy="411480"/>
          </a:xfrm>
          <a:prstGeom prst="rect">
            <a:avLst/>
          </a:prstGeom>
          <a:solidFill>
            <a:srgbClr val="0A2252"/>
          </a:solidFill>
          <a:ln>
            <a:noFill/>
          </a:ln>
        </p:spPr>
        <p:txBody>
          <a:bodyPr wrap="square" lIns="91440" tIns="91440" rIns="91440" bIns="91440" rtlCol="0" anchor="ctr">
            <a:normAutofit/>
          </a:bodyPr>
          <a:lstStyle/>
          <a:p>
            <a:pPr algn="l" marL="0" indent="0">
              <a:buNone/>
            </a:pPr>
            <a:r>
              <a:rPr lang="pt-BR" sz="1200" b="1" dirty="0">
                <a:solidFill>
                  <a:srgbClr val="FFFFFF"/>
                </a:solidFill>
              </a:rPr>
              <a:t>Frente de estudo</a:t>
            </a:r>
          </a:p>
        </p:txBody>
      </p:sp>
      <p:sp>
        <p:nvSpPr>
          <p:cNvPr id="102" name="Cabeçalho 102"/>
          <p:cNvSpPr/>
          <p:nvPr/>
        </p:nvSpPr>
        <p:spPr>
          <a:xfrm>
            <a:off x="3035808" y="1783080"/>
            <a:ext cx="6263640" cy="411480"/>
          </a:xfrm>
          <a:prstGeom prst="rect">
            <a:avLst/>
          </a:prstGeom>
          <a:solidFill>
            <a:srgbClr val="0A2252"/>
          </a:solidFill>
          <a:ln>
            <a:noFill/>
          </a:ln>
        </p:spPr>
        <p:txBody>
          <a:bodyPr wrap="square" lIns="91440" tIns="91440" rIns="91440" bIns="91440" rtlCol="0" anchor="ctr">
            <a:normAutofit/>
          </a:bodyPr>
          <a:lstStyle/>
          <a:p>
            <a:pPr algn="l" marL="0" indent="0">
              <a:buNone/>
            </a:pPr>
            <a:r>
              <a:rPr lang="pt-BR" sz="1200" b="1" dirty="0">
                <a:solidFill>
                  <a:srgbClr val="FFFFFF"/>
                </a:solidFill>
              </a:rPr>
              <a:t>O que indicou</a:t>
            </a:r>
          </a:p>
        </p:txBody>
      </p:sp>
      <p:sp>
        <p:nvSpPr>
          <p:cNvPr id="103" name="Cabeçalho 103"/>
          <p:cNvSpPr/>
          <p:nvPr/>
        </p:nvSpPr>
        <p:spPr>
          <a:xfrm>
            <a:off x="9299448" y="1783080"/>
            <a:ext cx="2011680" cy="411480"/>
          </a:xfrm>
          <a:prstGeom prst="rect">
            <a:avLst/>
          </a:prstGeom>
          <a:solidFill>
            <a:srgbClr val="0A2252"/>
          </a:solidFill>
          <a:ln>
            <a:noFill/>
          </a:ln>
        </p:spPr>
        <p:txBody>
          <a:bodyPr wrap="square" lIns="91440" tIns="91440" rIns="91440" bIns="91440" rtlCol="0" anchor="ctr">
            <a:normAutofit/>
          </a:bodyPr>
          <a:lstStyle/>
          <a:p>
            <a:pPr algn="l" marL="0" indent="0">
              <a:buNone/>
            </a:pPr>
            <a:r>
              <a:rPr lang="pt-BR" sz="1200" b="1" dirty="0">
                <a:solidFill>
                  <a:srgbClr val="FFFFFF"/>
                </a:solidFill>
              </a:rPr>
              <a:t>Estágio</a:t>
            </a:r>
          </a:p>
        </p:txBody>
      </p:sp>
      <p:sp>
        <p:nvSpPr>
          <p:cNvPr id="104" name="Célula 104"/>
          <p:cNvSpPr/>
          <p:nvPr/>
        </p:nvSpPr>
        <p:spPr>
          <a:xfrm>
            <a:off x="658368" y="2194560"/>
            <a:ext cx="2377440" cy="603504"/>
          </a:xfrm>
          <a:prstGeom prst="rect">
            <a:avLst/>
          </a:prstGeom>
          <a:solidFill>
            <a:srgbClr val="FFFFFF"/>
          </a:solidFill>
          <a:ln>
            <a:noFill/>
          </a:ln>
        </p:spPr>
        <p:txBody>
          <a:bodyPr wrap="square" lIns="91440" tIns="91440" rIns="91440" bIns="91440" rtlCol="0" anchor="ctr">
            <a:normAutofit/>
          </a:bodyPr>
          <a:lstStyle/>
          <a:p>
            <a:pPr algn="l" marL="0" indent="0">
              <a:buNone/>
            </a:pPr>
            <a:r>
              <a:rPr lang="pt-BR" sz="1300" b="1" dirty="0">
                <a:solidFill>
                  <a:srgbClr val="0A2252"/>
                </a:solidFill>
              </a:rPr>
              <a:t>Política judiciária</a:t>
            </a:r>
          </a:p>
        </p:txBody>
      </p:sp>
      <p:sp>
        <p:nvSpPr>
          <p:cNvPr id="105" name="Célula 105"/>
          <p:cNvSpPr/>
          <p:nvPr/>
        </p:nvSpPr>
        <p:spPr>
          <a:xfrm>
            <a:off x="3035808" y="2194560"/>
            <a:ext cx="6263640" cy="603504"/>
          </a:xfrm>
          <a:prstGeom prst="rect">
            <a:avLst/>
          </a:prstGeom>
          <a:solidFill>
            <a:srgbClr val="FFFFFF"/>
          </a:solidFill>
          <a:ln>
            <a:noFill/>
          </a:ln>
        </p:spPr>
        <p:txBody>
          <a:bodyPr wrap="square" lIns="91440" tIns="91440" rIns="91440" bIns="91440" rtlCol="0" anchor="ctr">
            <a:normAutofit/>
          </a:bodyPr>
          <a:lstStyle/>
          <a:p>
            <a:pPr algn="l" marL="0" indent="0">
              <a:buNone/>
            </a:pPr>
            <a:r>
              <a:rPr lang="pt-BR" sz="1300" dirty="0">
                <a:solidFill>
                  <a:srgbClr val="26364F"/>
                </a:solidFill>
              </a:rPr>
              <a:t>Termos de infraestrutura física ausentes dos núcleos temáticos da literatura</a:t>
            </a:r>
          </a:p>
        </p:txBody>
      </p:sp>
      <p:sp>
        <p:nvSpPr>
          <p:cNvPr id="106" name="Célula 106"/>
          <p:cNvSpPr/>
          <p:nvPr/>
        </p:nvSpPr>
        <p:spPr>
          <a:xfrm>
            <a:off x="9299448" y="2194560"/>
            <a:ext cx="2011680" cy="603504"/>
          </a:xfrm>
          <a:prstGeom prst="rect">
            <a:avLst/>
          </a:prstGeom>
          <a:solidFill>
            <a:srgbClr val="FFFFFF"/>
          </a:solidFill>
          <a:ln>
            <a:noFill/>
          </a:ln>
        </p:spPr>
      </p:sp>
      <p:sp>
        <p:nvSpPr>
          <p:cNvPr id="107" name="Etiqueta 107"/>
          <p:cNvSpPr/>
          <p:nvPr/>
        </p:nvSpPr>
        <p:spPr>
          <a:xfrm>
            <a:off x="9409176" y="2331720"/>
            <a:ext cx="1792224" cy="329184"/>
          </a:xfrm>
          <a:prstGeom prst="roundRect">
            <a:avLst>
              <a:gd name="adj" fmla="val 50000"/>
            </a:avLst>
          </a:prstGeom>
          <a:solidFill>
            <a:srgbClr val="0A2252"/>
          </a:solidFill>
          <a:ln>
            <a:noFill/>
          </a:ln>
        </p:spPr>
        <p:txBody>
          <a:bodyPr wrap="square" lIns="36576" tIns="36576" rIns="36576" bIns="36576" rtlCol="0" anchor="ctr">
            <a:normAutofit/>
          </a:bodyPr>
          <a:lstStyle/>
          <a:p>
            <a:pPr algn="ctr" marL="0" indent="0">
              <a:buNone/>
            </a:pPr>
            <a:r>
              <a:rPr lang="pt-BR" sz="1100" b="1" dirty="0">
                <a:solidFill>
                  <a:srgbClr val="FFFFFF"/>
                </a:solidFill>
              </a:rPr>
              <a:t>Resultado reproduzível</a:t>
            </a:r>
          </a:p>
        </p:txBody>
      </p:sp>
      <p:sp>
        <p:nvSpPr>
          <p:cNvPr id="108" name="Célula 108"/>
          <p:cNvSpPr/>
          <p:nvPr/>
        </p:nvSpPr>
        <p:spPr>
          <a:xfrm>
            <a:off x="658368" y="2798064"/>
            <a:ext cx="2377440" cy="603504"/>
          </a:xfrm>
          <a:prstGeom prst="rect">
            <a:avLst/>
          </a:prstGeom>
          <a:solidFill>
            <a:srgbClr val="F4F1EC"/>
          </a:solidFill>
          <a:ln>
            <a:noFill/>
          </a:ln>
        </p:spPr>
        <p:txBody>
          <a:bodyPr wrap="square" lIns="91440" tIns="91440" rIns="91440" bIns="91440" rtlCol="0" anchor="ctr">
            <a:normAutofit/>
          </a:bodyPr>
          <a:lstStyle/>
          <a:p>
            <a:pPr algn="l" marL="0" indent="0">
              <a:buNone/>
            </a:pPr>
            <a:r>
              <a:rPr lang="pt-BR" sz="1300" b="1" dirty="0">
                <a:solidFill>
                  <a:srgbClr val="0A2252"/>
                </a:solidFill>
              </a:rPr>
              <a:t>Implementação</a:t>
            </a:r>
          </a:p>
        </p:txBody>
      </p:sp>
      <p:sp>
        <p:nvSpPr>
          <p:cNvPr id="109" name="Célula 109"/>
          <p:cNvSpPr/>
          <p:nvPr/>
        </p:nvSpPr>
        <p:spPr>
          <a:xfrm>
            <a:off x="3035808" y="2798064"/>
            <a:ext cx="6263640" cy="603504"/>
          </a:xfrm>
          <a:prstGeom prst="rect">
            <a:avLst/>
          </a:prstGeom>
          <a:solidFill>
            <a:srgbClr val="F4F1EC"/>
          </a:solidFill>
          <a:ln>
            <a:noFill/>
          </a:ln>
        </p:spPr>
        <p:txBody>
          <a:bodyPr wrap="square" lIns="91440" tIns="91440" rIns="91440" bIns="91440" rtlCol="0" anchor="ctr">
            <a:normAutofit/>
          </a:bodyPr>
          <a:lstStyle/>
          <a:p>
            <a:pPr algn="l" marL="0" indent="0">
              <a:buNone/>
            </a:pPr>
            <a:r>
              <a:rPr lang="pt-BR" sz="1300" dirty="0">
                <a:solidFill>
                  <a:srgbClr val="26364F"/>
                </a:solidFill>
              </a:rPr>
              <a:t>Proporção muito baixa de trabalhos que tratam o espaço como variável ativa</a:t>
            </a:r>
          </a:p>
        </p:txBody>
      </p:sp>
      <p:sp>
        <p:nvSpPr>
          <p:cNvPr id="110" name="Célula 110"/>
          <p:cNvSpPr/>
          <p:nvPr/>
        </p:nvSpPr>
        <p:spPr>
          <a:xfrm>
            <a:off x="9299448" y="2798064"/>
            <a:ext cx="2011680" cy="603504"/>
          </a:xfrm>
          <a:prstGeom prst="rect">
            <a:avLst/>
          </a:prstGeom>
          <a:solidFill>
            <a:srgbClr val="F4F1EC"/>
          </a:solidFill>
          <a:ln>
            <a:noFill/>
          </a:ln>
        </p:spPr>
      </p:sp>
      <p:sp>
        <p:nvSpPr>
          <p:cNvPr id="111" name="Etiqueta 111"/>
          <p:cNvSpPr/>
          <p:nvPr/>
        </p:nvSpPr>
        <p:spPr>
          <a:xfrm>
            <a:off x="9409176" y="2935224"/>
            <a:ext cx="1792224" cy="329184"/>
          </a:xfrm>
          <a:prstGeom prst="roundRect">
            <a:avLst>
              <a:gd name="adj" fmla="val 50000"/>
            </a:avLst>
          </a:prstGeom>
          <a:solidFill>
            <a:srgbClr val="FFF3ED"/>
          </a:solidFill>
          <a:ln>
            <a:noFill/>
          </a:ln>
        </p:spPr>
        <p:txBody>
          <a:bodyPr wrap="square" lIns="36576" tIns="36576" rIns="36576" bIns="36576" rtlCol="0" anchor="ctr">
            <a:normAutofit/>
          </a:bodyPr>
          <a:lstStyle/>
          <a:p>
            <a:pPr algn="ctr" marL="0" indent="0">
              <a:buNone/>
            </a:pPr>
            <a:r>
              <a:rPr lang="pt-BR" sz="1100" b="1" dirty="0">
                <a:solidFill>
                  <a:srgbClr val="FF5A1F"/>
                </a:solidFill>
              </a:rPr>
              <a:t>Preliminar</a:t>
            </a:r>
          </a:p>
        </p:txBody>
      </p:sp>
      <p:sp>
        <p:nvSpPr>
          <p:cNvPr id="112" name="Célula 112"/>
          <p:cNvSpPr/>
          <p:nvPr/>
        </p:nvSpPr>
        <p:spPr>
          <a:xfrm>
            <a:off x="658368" y="3401568"/>
            <a:ext cx="2377440" cy="603504"/>
          </a:xfrm>
          <a:prstGeom prst="rect">
            <a:avLst/>
          </a:prstGeom>
          <a:solidFill>
            <a:srgbClr val="FFFFFF"/>
          </a:solidFill>
          <a:ln>
            <a:noFill/>
          </a:ln>
        </p:spPr>
        <p:txBody>
          <a:bodyPr wrap="square" lIns="91440" tIns="91440" rIns="91440" bIns="91440" rtlCol="0" anchor="ctr">
            <a:normAutofit/>
          </a:bodyPr>
          <a:lstStyle/>
          <a:p>
            <a:pPr algn="l" marL="0" indent="0">
              <a:buNone/>
            </a:pPr>
            <a:r>
              <a:rPr lang="pt-BR" sz="1300" b="1" dirty="0">
                <a:solidFill>
                  <a:srgbClr val="0A2252"/>
                </a:solidFill>
              </a:rPr>
              <a:t>Evidências empíricas</a:t>
            </a:r>
          </a:p>
        </p:txBody>
      </p:sp>
      <p:sp>
        <p:nvSpPr>
          <p:cNvPr id="113" name="Célula 113"/>
          <p:cNvSpPr/>
          <p:nvPr/>
        </p:nvSpPr>
        <p:spPr>
          <a:xfrm>
            <a:off x="3035808" y="3401568"/>
            <a:ext cx="6263640" cy="603504"/>
          </a:xfrm>
          <a:prstGeom prst="rect">
            <a:avLst/>
          </a:prstGeom>
          <a:solidFill>
            <a:srgbClr val="FFFFFF"/>
          </a:solidFill>
          <a:ln>
            <a:noFill/>
          </a:ln>
        </p:spPr>
        <p:txBody>
          <a:bodyPr wrap="square" lIns="91440" tIns="91440" rIns="91440" bIns="91440" rtlCol="0" anchor="ctr">
            <a:normAutofit/>
          </a:bodyPr>
          <a:lstStyle/>
          <a:p>
            <a:pPr algn="l" marL="0" indent="0">
              <a:buNone/>
            </a:pPr>
            <a:r>
              <a:rPr lang="pt-BR" sz="1300" dirty="0">
                <a:solidFill>
                  <a:srgbClr val="26364F"/>
                </a:solidFill>
              </a:rPr>
              <a:t>Evidência densa só no trabalho dos servidores, com lacunas nas demais dimensões</a:t>
            </a:r>
          </a:p>
        </p:txBody>
      </p:sp>
      <p:sp>
        <p:nvSpPr>
          <p:cNvPr id="114" name="Célula 114"/>
          <p:cNvSpPr/>
          <p:nvPr/>
        </p:nvSpPr>
        <p:spPr>
          <a:xfrm>
            <a:off x="9299448" y="3401568"/>
            <a:ext cx="2011680" cy="603504"/>
          </a:xfrm>
          <a:prstGeom prst="rect">
            <a:avLst/>
          </a:prstGeom>
          <a:solidFill>
            <a:srgbClr val="FFFFFF"/>
          </a:solidFill>
          <a:ln>
            <a:noFill/>
          </a:ln>
        </p:spPr>
      </p:sp>
      <p:sp>
        <p:nvSpPr>
          <p:cNvPr id="115" name="Etiqueta 115"/>
          <p:cNvSpPr/>
          <p:nvPr/>
        </p:nvSpPr>
        <p:spPr>
          <a:xfrm>
            <a:off x="9409176" y="3538728"/>
            <a:ext cx="1792224" cy="329184"/>
          </a:xfrm>
          <a:prstGeom prst="roundRect">
            <a:avLst>
              <a:gd name="adj" fmla="val 50000"/>
            </a:avLst>
          </a:prstGeom>
          <a:solidFill>
            <a:srgbClr val="FFF3ED"/>
          </a:solidFill>
          <a:ln>
            <a:noFill/>
          </a:ln>
        </p:spPr>
        <p:txBody>
          <a:bodyPr wrap="square" lIns="36576" tIns="36576" rIns="36576" bIns="36576" rtlCol="0" anchor="ctr">
            <a:normAutofit/>
          </a:bodyPr>
          <a:lstStyle/>
          <a:p>
            <a:pPr algn="ctr" marL="0" indent="0">
              <a:buNone/>
            </a:pPr>
            <a:r>
              <a:rPr lang="pt-BR" sz="1100" b="1" dirty="0">
                <a:solidFill>
                  <a:srgbClr val="FF5A1F"/>
                </a:solidFill>
              </a:rPr>
              <a:t>Preliminar</a:t>
            </a:r>
          </a:p>
        </p:txBody>
      </p:sp>
      <p:sp>
        <p:nvSpPr>
          <p:cNvPr id="116" name="Célula 116"/>
          <p:cNvSpPr/>
          <p:nvPr/>
        </p:nvSpPr>
        <p:spPr>
          <a:xfrm>
            <a:off x="658368" y="4005072"/>
            <a:ext cx="2377440" cy="603504"/>
          </a:xfrm>
          <a:prstGeom prst="rect">
            <a:avLst/>
          </a:prstGeom>
          <a:solidFill>
            <a:srgbClr val="F4F1EC"/>
          </a:solidFill>
          <a:ln>
            <a:noFill/>
          </a:ln>
        </p:spPr>
        <p:txBody>
          <a:bodyPr wrap="square" lIns="91440" tIns="91440" rIns="91440" bIns="91440" rtlCol="0" anchor="ctr">
            <a:normAutofit/>
          </a:bodyPr>
          <a:lstStyle/>
          <a:p>
            <a:pPr algn="l" marL="0" indent="0">
              <a:buNone/>
            </a:pPr>
            <a:r>
              <a:rPr lang="pt-BR" sz="1300" b="1" dirty="0">
                <a:solidFill>
                  <a:srgbClr val="0A2252"/>
                </a:solidFill>
              </a:rPr>
              <a:t>Sociomaterialidade</a:t>
            </a:r>
          </a:p>
        </p:txBody>
      </p:sp>
      <p:sp>
        <p:nvSpPr>
          <p:cNvPr id="117" name="Célula 117"/>
          <p:cNvSpPr/>
          <p:nvPr/>
        </p:nvSpPr>
        <p:spPr>
          <a:xfrm>
            <a:off x="3035808" y="4005072"/>
            <a:ext cx="6263640" cy="603504"/>
          </a:xfrm>
          <a:prstGeom prst="rect">
            <a:avLst/>
          </a:prstGeom>
          <a:solidFill>
            <a:srgbClr val="F4F1EC"/>
          </a:solidFill>
          <a:ln>
            <a:noFill/>
          </a:ln>
        </p:spPr>
        <p:txBody>
          <a:bodyPr wrap="square" lIns="91440" tIns="91440" rIns="91440" bIns="91440" rtlCol="0" anchor="ctr">
            <a:normAutofit/>
          </a:bodyPr>
          <a:lstStyle/>
          <a:p>
            <a:pPr algn="l" marL="0" indent="0">
              <a:buNone/>
            </a:pPr>
            <a:r>
              <a:rPr lang="pt-BR" sz="1300" dirty="0">
                <a:solidFill>
                  <a:srgbClr val="26364F"/>
                </a:solidFill>
              </a:rPr>
              <a:t>Ligação escassa com o espaço dos serviços públicos</a:t>
            </a:r>
          </a:p>
        </p:txBody>
      </p:sp>
      <p:sp>
        <p:nvSpPr>
          <p:cNvPr id="118" name="Célula 118"/>
          <p:cNvSpPr/>
          <p:nvPr/>
        </p:nvSpPr>
        <p:spPr>
          <a:xfrm>
            <a:off x="9299448" y="4005072"/>
            <a:ext cx="2011680" cy="603504"/>
          </a:xfrm>
          <a:prstGeom prst="rect">
            <a:avLst/>
          </a:prstGeom>
          <a:solidFill>
            <a:srgbClr val="F4F1EC"/>
          </a:solidFill>
          <a:ln>
            <a:noFill/>
          </a:ln>
        </p:spPr>
      </p:sp>
      <p:sp>
        <p:nvSpPr>
          <p:cNvPr id="119" name="Etiqueta 119"/>
          <p:cNvSpPr/>
          <p:nvPr/>
        </p:nvSpPr>
        <p:spPr>
          <a:xfrm>
            <a:off x="9409176" y="4142232"/>
            <a:ext cx="1792224" cy="329184"/>
          </a:xfrm>
          <a:prstGeom prst="roundRect">
            <a:avLst>
              <a:gd name="adj" fmla="val 50000"/>
            </a:avLst>
          </a:prstGeom>
          <a:solidFill>
            <a:srgbClr val="FFF3ED"/>
          </a:solidFill>
          <a:ln>
            <a:noFill/>
          </a:ln>
        </p:spPr>
        <p:txBody>
          <a:bodyPr wrap="square" lIns="36576" tIns="36576" rIns="36576" bIns="36576" rtlCol="0" anchor="ctr">
            <a:normAutofit/>
          </a:bodyPr>
          <a:lstStyle/>
          <a:p>
            <a:pPr algn="ctr" marL="0" indent="0">
              <a:buNone/>
            </a:pPr>
            <a:r>
              <a:rPr lang="pt-BR" sz="1100" b="1" dirty="0">
                <a:solidFill>
                  <a:srgbClr val="FF5A1F"/>
                </a:solidFill>
              </a:rPr>
              <a:t>Preliminar</a:t>
            </a:r>
          </a:p>
        </p:txBody>
      </p:sp>
      <p:sp>
        <p:nvSpPr>
          <p:cNvPr id="120" name="Roteiro 120"/>
          <p:cNvSpPr/>
          <p:nvPr/>
        </p:nvSpPr>
        <p:spPr>
          <a:xfrm>
            <a:off x="7269480" y="5230368"/>
            <a:ext cx="4251960" cy="1005840"/>
          </a:xfrm>
          <a:prstGeom prst="roundRect">
            <a:avLst>
              <a:gd name="adj" fmla="val 8000"/>
            </a:avLst>
          </a:prstGeom>
          <a:solidFill>
            <a:srgbClr val="FFFFFF"/>
          </a:solidFill>
          <a:ln w="12700">
            <a:solidFill>
              <a:srgbClr val="FFD1BE"/>
            </a:solidFill>
          </a:ln>
        </p:spPr>
        <p:txBody>
          <a:bodyPr wrap="square" lIns="91440" tIns="91440" rIns="91440" bIns="91440" rtlCol="0" anchor="ctr">
            <a:normAutofit/>
          </a:bodyPr>
          <a:lstStyle/>
          <a:p>
            <a:pPr algn="l" marL="171450" indent="-171450">
              <a:spcAft>
                <a:spcPts val="150"/>
              </a:spcAft>
              <a:buFont typeface="Arial"/>
              <a:buChar char="•"/>
            </a:pPr>
            <a:r>
              <a:rPr lang="pt-BR" sz="1050" dirty="0">
                <a:solidFill>
                  <a:srgbClr val="26364F"/>
                </a:solidFill>
              </a:rPr>
              <a:t>Revisão de escopo (Tricco et al., 2018)</a:t>
            </a:r>
          </a:p>
          <a:p>
            <a:pPr algn="l" marL="171450" indent="-171450">
              <a:spcAft>
                <a:spcPts val="150"/>
              </a:spcAft>
              <a:buFont typeface="Arial"/>
              <a:buChar char="•"/>
            </a:pPr>
            <a:r>
              <a:rPr lang="pt-BR" sz="1050" dirty="0">
                <a:solidFill>
                  <a:srgbClr val="26364F"/>
                </a:solidFill>
              </a:rPr>
              <a:t>Dispersão entre periódicos (Bradford, 1934)</a:t>
            </a:r>
          </a:p>
          <a:p>
            <a:pPr algn="l" marL="171450" indent="-171450">
              <a:spcAft>
                <a:spcPts val="150"/>
              </a:spcAft>
              <a:buFont typeface="Arial"/>
              <a:buChar char="•"/>
            </a:pPr>
            <a:r>
              <a:rPr lang="pt-BR" sz="1050" dirty="0">
                <a:solidFill>
                  <a:srgbClr val="26364F"/>
                </a:solidFill>
              </a:rPr>
              <a:t>Formação de um campo científico (Whitley, 1984)</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58368" y="896112"/>
            <a:ext cx="9052560" cy="502920"/>
          </a:xfrm>
          <a:prstGeom prst="rect">
            <a:avLst/>
          </a:prstGeom>
          <a:noFill/>
          <a:ln/>
        </p:spPr>
        <p:txBody>
          <a:bodyPr wrap="square" lIns="0" tIns="0" rIns="0" bIns="0" rtlCol="0" anchor="ctr">
            <a:normAutofit/>
          </a:bodyPr>
          <a:lstStyle/>
          <a:p>
            <a:pPr marL="0" indent="0">
              <a:buNone/>
            </a:pPr>
            <a:r>
              <a:rPr lang="pt-BR" sz="2600" b="1" dirty="0">
                <a:solidFill>
                  <a:srgbClr val="0A2252"/>
                </a:solidFill>
                <a:latin typeface="Aptos Display" pitchFamily="34" charset="0"/>
                <a:ea typeface="Aptos Display" pitchFamily="34" charset="-122"/>
                <a:cs typeface="Aptos Display" pitchFamily="34" charset="-120"/>
              </a:rPr>
              <a:t>A PESQUISA DE PÓS-DOUTORADO</a:t>
            </a:r>
            <a:endParaRPr lang="en-US" sz="2600" dirty="0"/>
          </a:p>
        </p:txBody>
      </p:sp>
      <p:sp>
        <p:nvSpPr>
          <p:cNvPr id="3" name="Shape 1"/>
          <p:cNvSpPr/>
          <p:nvPr/>
        </p:nvSpPr>
        <p:spPr>
          <a:xfrm>
            <a:off x="658368" y="1536192"/>
            <a:ext cx="822960" cy="0"/>
          </a:xfrm>
          <a:prstGeom prst="line">
            <a:avLst/>
          </a:prstGeom>
          <a:noFill/>
          <a:ln w="44450">
            <a:solidFill>
              <a:srgbClr val="FF5A1F"/>
            </a:solidFill>
            <a:prstDash val="solid"/>
          </a:ln>
        </p:spPr>
        <p:txBody>
          <a:bodyPr/>
          <a:lstStyle/>
          <a:p>
            <a:endParaRPr lang="pt-BR"/>
          </a:p>
        </p:txBody>
      </p:sp>
      <p:sp>
        <p:nvSpPr>
          <p:cNvPr id="25" name="Slide Number Placeholder 0"/>
          <p:cNvSpPr>
            <a:spLocks noGrp="1"/>
          </p:cNvSpPr>
          <p:nvPr>
            <p:ph type="sldNum" sz="quarter" idx="4294967295"/>
          </p:nvPr>
        </p:nvSpPr>
        <p:spPr>
          <a:xfrm>
            <a:off x="11631168" y="6473952"/>
            <a:ext cx="420000" cy="164592"/>
          </a:xfrm>
          <a:prstGeom prst="rect">
            <a:avLst/>
          </a:prstGeom>
          <a:extLst>
            <a:ext uri="{C572A759-6A51-4108-AA02-DFA0A04FC94B}">
              <ma14:wrappingTextBoxFlag xmlns:ma14="http://schemas.microsoft.com/office/mac/drawingml/2011/main" xmlns="" val="0"/>
            </a:ext>
          </a:extLst>
        </p:spPr>
        <p:txBody>
          <a:bodyPr/>
          <a:lstStyle>
            <a:lvl1pPr>
              <a:defRPr sz="850">
                <a:solidFill>
                  <a:srgbClr val="7D8797"/>
                </a:solidFill>
              </a:defRPr>
            </a:lvl1pPr>
          </a:lstStyle>
          <a:p>
            <a:pPr algn="r"/>
            <a:fld id="{F7021451-1387-4CA6-816F-3879F97B5CBC}" type="slidenum">
              <a:rPr lang="en-US" b="0"/>
              <a:t>2</a:t>
            </a:fld>
            <a:endParaRPr lang="en-US"/>
          </a:p>
        </p:txBody>
      </p:sp>
      <p:pic>
        <p:nvPicPr>
          <p:cNvPr id="9" name="Imagem 8">
            <a:extLst>
              <a:ext uri="{FF2B5EF4-FFF2-40B4-BE49-F238E27FC236}">
                <a16:creationId xmlns:a16="http://schemas.microsoft.com/office/drawing/2014/main" id="{35A0857D-7EDC-DFF6-3CFE-A70D6D0695B9}"/>
              </a:ext>
            </a:extLst>
          </p:cNvPr>
          <p:cNvPicPr>
            <a:picLocks noChangeAspect="1"/>
          </p:cNvPicPr>
          <p:nvPr/>
        </p:nvPicPr>
        <p:blipFill>
          <a:blip r:embed="rId3"/>
          <a:srcRect l="-577" t="22570" r="577" b="16329"/>
          <a:stretch>
            <a:fillRect/>
          </a:stretch>
        </p:blipFill>
        <p:spPr>
          <a:xfrm>
            <a:off x="199282" y="5178555"/>
            <a:ext cx="2564091" cy="1566665"/>
          </a:xfrm>
          <a:prstGeom prst="rect">
            <a:avLst/>
          </a:prstGeom>
        </p:spPr>
      </p:pic>
      <p:pic>
        <p:nvPicPr>
          <p:cNvPr id="101" name="Imagem 101" descr="Capa do relatório do Ano 1 do pós-doutorado"/>
          <p:cNvPicPr>
            <a:picLocks noChangeAspect="1"/>
          </p:cNvPicPr>
          <p:nvPr/>
        </p:nvPicPr>
        <p:blipFill>
          <a:blip r:embed="rIdM1"/>
          <a:stretch>
            <a:fillRect/>
          </a:stretch>
        </p:blipFill>
        <p:spPr>
          <a:xfrm>
            <a:off x="658368" y="1691640"/>
            <a:ext cx="2432304" cy="3438144"/>
          </a:xfrm>
          <a:prstGeom prst="rect">
            <a:avLst/>
          </a:prstGeom>
          <a:ln w="12700">
            <a:solidFill>
              <a:srgbClr val="E7E2DA"/>
            </a:solidFill>
          </a:ln>
        </p:spPr>
      </p:pic>
      <p:sp>
        <p:nvSpPr>
          <p:cNvPr id="102" name="Texto 102"/>
          <p:cNvSpPr txBox="1"/>
          <p:nvPr/>
        </p:nvSpPr>
        <p:spPr>
          <a:xfrm>
            <a:off x="3520440" y="1783080"/>
            <a:ext cx="8001000" cy="3200400"/>
          </a:xfrm>
          <a:prstGeom prst="rect">
            <a:avLst/>
          </a:prstGeom>
          <a:noFill/>
          <a:ln>
            <a:noFill/>
          </a:ln>
        </p:spPr>
        <p:txBody>
          <a:bodyPr wrap="square" lIns="0" tIns="0" rIns="0" bIns="0" rtlCol="0" anchor="t">
            <a:normAutofit/>
          </a:bodyPr>
          <a:lstStyle/>
          <a:p>
            <a:pPr algn="l" marL="0" indent="0">
              <a:spcAft>
                <a:spcPts val="800"/>
              </a:spcAft>
              <a:buNone/>
            </a:pPr>
            <a:r>
              <a:rPr lang="pt-BR" sz="1100" b="1" dirty="0">
                <a:solidFill>
                  <a:srgbClr val="FF5A1F"/>
                </a:solidFill>
              </a:rPr>
              <a:t>PESQUISA DE PÓS-DOUTORADO · ENAP</a:t>
            </a:r>
          </a:p>
          <a:p>
            <a:pPr algn="l" marL="0" indent="0">
              <a:lnSpc>
                <a:spcPct val="100000"/>
              </a:lnSpc>
              <a:spcAft>
                <a:spcPts val="1200"/>
              </a:spcAft>
              <a:buNone/>
            </a:pPr>
            <a:r>
              <a:rPr lang="pt-BR" sz="2600" b="1" dirty="0">
                <a:solidFill>
                  <a:srgbClr val="0A2252"/>
                </a:solidFill>
                <a:latin typeface="Aptos Display"/>
                <a:ea typeface="Aptos Display"/>
                <a:cs typeface="Aptos Display"/>
              </a:rPr>
              <a:t>Das arquiteturas judiciárias às arenas sociomateriais de implementação</a:t>
            </a:r>
          </a:p>
          <a:p>
            <a:pPr algn="l" marL="0" indent="0">
              <a:lnSpc>
                <a:spcPct val="110000"/>
              </a:lnSpc>
              <a:spcAft>
                <a:spcPts val="1000"/>
              </a:spcAft>
              <a:buNone/>
            </a:pPr>
            <a:r>
              <a:rPr lang="pt-BR" sz="1600" dirty="0">
                <a:solidFill>
                  <a:srgbClr val="26364F"/>
                </a:solidFill>
              </a:rPr>
              <a:t>Desenvolvimento do framework ARENAS e sua ampliação pela governança regulatória.</a:t>
            </a:r>
          </a:p>
          <a:p>
            <a:pPr algn="l" marL="0" indent="0">
              <a:lnSpc>
                <a:spcPct val="110000"/>
              </a:lnSpc>
              <a:buNone/>
            </a:pPr>
            <a:r>
              <a:rPr lang="pt-BR" sz="1300" dirty="0">
                <a:solidFill>
                  <a:srgbClr val="667085"/>
                </a:solidFill>
              </a:rPr>
              <a:t>Linha de Governança e práticas de avaliação de políticas públicas. Supervisão da Prof.ª Dr.ª Regina Luna Santos de Souza.</a:t>
            </a:r>
          </a:p>
        </p:txBody>
      </p:sp>
      <p:sp>
        <p:nvSpPr>
          <p:cNvPr id="103" name="Roteiro 103"/>
          <p:cNvSpPr/>
          <p:nvPr/>
        </p:nvSpPr>
        <p:spPr>
          <a:xfrm>
            <a:off x="7269480" y="5230368"/>
            <a:ext cx="4251960" cy="1005840"/>
          </a:xfrm>
          <a:prstGeom prst="roundRect">
            <a:avLst>
              <a:gd name="adj" fmla="val 8000"/>
            </a:avLst>
          </a:prstGeom>
          <a:solidFill>
            <a:srgbClr val="FFFFFF"/>
          </a:solidFill>
          <a:ln w="12700">
            <a:solidFill>
              <a:srgbClr val="FFD1BE"/>
            </a:solidFill>
          </a:ln>
        </p:spPr>
        <p:txBody>
          <a:bodyPr wrap="square" lIns="91440" tIns="91440" rIns="91440" bIns="91440" rtlCol="0" anchor="ctr">
            <a:normAutofit/>
          </a:bodyPr>
          <a:lstStyle/>
          <a:p>
            <a:pPr algn="l" marL="171450" indent="-171450">
              <a:spcAft>
                <a:spcPts val="150"/>
              </a:spcAft>
              <a:buFont typeface="Arial"/>
              <a:buChar char="•"/>
            </a:pPr>
            <a:r>
              <a:rPr lang="pt-BR" sz="1050" dirty="0">
                <a:solidFill>
                  <a:srgbClr val="26364F"/>
                </a:solidFill>
              </a:rPr>
              <a:t>Origem: arquitetura judiciária e escala ARQJUD</a:t>
            </a:r>
          </a:p>
          <a:p>
            <a:pPr algn="l" marL="171450" indent="-171450">
              <a:spcAft>
                <a:spcPts val="150"/>
              </a:spcAft>
              <a:buFont typeface="Arial"/>
              <a:buChar char="•"/>
            </a:pPr>
            <a:r>
              <a:rPr lang="pt-BR" sz="1050" dirty="0">
                <a:solidFill>
                  <a:srgbClr val="26364F"/>
                </a:solidFill>
              </a:rPr>
              <a:t>O framework ARENAS e sua operacionalização</a:t>
            </a:r>
          </a:p>
          <a:p>
            <a:pPr algn="l" marL="171450" indent="-171450">
              <a:spcAft>
                <a:spcPts val="150"/>
              </a:spcAft>
              <a:buFont typeface="Arial"/>
              <a:buChar char="•"/>
            </a:pPr>
            <a:r>
              <a:rPr lang="pt-BR" sz="1050" dirty="0">
                <a:solidFill>
                  <a:srgbClr val="26364F"/>
                </a:solidFill>
              </a:rPr>
              <a:t>Ampliação pela governança regulatória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58368" y="896112"/>
            <a:ext cx="9052560" cy="502920"/>
          </a:xfrm>
          <a:prstGeom prst="rect">
            <a:avLst/>
          </a:prstGeom>
          <a:noFill/>
          <a:ln/>
        </p:spPr>
        <p:txBody>
          <a:bodyPr wrap="square" lIns="0" tIns="0" rIns="0" bIns="0" rtlCol="0" anchor="ctr">
            <a:normAutofit/>
          </a:bodyPr>
          <a:lstStyle/>
          <a:p>
            <a:pPr marL="0" indent="0">
              <a:buNone/>
            </a:pPr>
            <a:r>
              <a:rPr lang="pt-BR" sz="2600" b="1" dirty="0">
                <a:solidFill>
                  <a:srgbClr val="0A2252"/>
                </a:solidFill>
                <a:latin typeface="Aptos Display" pitchFamily="34" charset="0"/>
                <a:ea typeface="Aptos Display" pitchFamily="34" charset="-122"/>
                <a:cs typeface="Aptos Display" pitchFamily="34" charset="-120"/>
              </a:rPr>
              <a:t>O CONCEITO DE ARENA</a:t>
            </a:r>
            <a:endParaRPr lang="en-US" sz="2600" dirty="0"/>
          </a:p>
        </p:txBody>
      </p:sp>
      <p:sp>
        <p:nvSpPr>
          <p:cNvPr id="3" name="Shape 1"/>
          <p:cNvSpPr/>
          <p:nvPr/>
        </p:nvSpPr>
        <p:spPr>
          <a:xfrm>
            <a:off x="658368" y="1536192"/>
            <a:ext cx="822960" cy="0"/>
          </a:xfrm>
          <a:prstGeom prst="line">
            <a:avLst/>
          </a:prstGeom>
          <a:noFill/>
          <a:ln w="44450">
            <a:solidFill>
              <a:srgbClr val="FF5A1F"/>
            </a:solidFill>
            <a:prstDash val="solid"/>
          </a:ln>
        </p:spPr>
        <p:txBody>
          <a:bodyPr/>
          <a:lstStyle/>
          <a:p>
            <a:endParaRPr lang="pt-BR"/>
          </a:p>
        </p:txBody>
      </p:sp>
      <p:sp>
        <p:nvSpPr>
          <p:cNvPr id="25" name="Slide Number Placeholder 0"/>
          <p:cNvSpPr>
            <a:spLocks noGrp="1"/>
          </p:cNvSpPr>
          <p:nvPr>
            <p:ph type="sldNum" sz="quarter" idx="4294967295"/>
          </p:nvPr>
        </p:nvSpPr>
        <p:spPr>
          <a:xfrm>
            <a:off x="11631168" y="6473952"/>
            <a:ext cx="420000" cy="164592"/>
          </a:xfrm>
          <a:prstGeom prst="rect">
            <a:avLst/>
          </a:prstGeom>
          <a:extLst>
            <a:ext uri="{C572A759-6A51-4108-AA02-DFA0A04FC94B}">
              <ma14:wrappingTextBoxFlag xmlns:ma14="http://schemas.microsoft.com/office/mac/drawingml/2011/main" xmlns="" val="0"/>
            </a:ext>
          </a:extLst>
        </p:spPr>
        <p:txBody>
          <a:bodyPr/>
          <a:lstStyle>
            <a:lvl1pPr>
              <a:defRPr sz="850">
                <a:solidFill>
                  <a:srgbClr val="7D8797"/>
                </a:solidFill>
              </a:defRPr>
            </a:lvl1pPr>
          </a:lstStyle>
          <a:p>
            <a:pPr algn="r"/>
            <a:fld id="{F7021451-1387-4CA6-816F-3879F97B5CBC}" type="slidenum">
              <a:rPr lang="en-US" b="0"/>
              <a:t>2</a:t>
            </a:fld>
            <a:endParaRPr lang="en-US"/>
          </a:p>
        </p:txBody>
      </p:sp>
      <p:pic>
        <p:nvPicPr>
          <p:cNvPr id="9" name="Imagem 8">
            <a:extLst>
              <a:ext uri="{FF2B5EF4-FFF2-40B4-BE49-F238E27FC236}">
                <a16:creationId xmlns:a16="http://schemas.microsoft.com/office/drawing/2014/main" id="{35A0857D-7EDC-DFF6-3CFE-A70D6D0695B9}"/>
              </a:ext>
            </a:extLst>
          </p:cNvPr>
          <p:cNvPicPr>
            <a:picLocks noChangeAspect="1"/>
          </p:cNvPicPr>
          <p:nvPr/>
        </p:nvPicPr>
        <p:blipFill>
          <a:blip r:embed="rId3"/>
          <a:srcRect l="-577" t="22570" r="577" b="16329"/>
          <a:stretch>
            <a:fillRect/>
          </a:stretch>
        </p:blipFill>
        <p:spPr>
          <a:xfrm>
            <a:off x="199282" y="5178555"/>
            <a:ext cx="2564091" cy="1566665"/>
          </a:xfrm>
          <a:prstGeom prst="rect">
            <a:avLst/>
          </a:prstGeom>
        </p:spPr>
      </p:pic>
      <p:sp>
        <p:nvSpPr>
          <p:cNvPr id="101" name="Definição 101"/>
          <p:cNvSpPr/>
          <p:nvPr/>
        </p:nvSpPr>
        <p:spPr>
          <a:xfrm>
            <a:off x="658368" y="1783080"/>
            <a:ext cx="10863072" cy="2011680"/>
          </a:xfrm>
          <a:prstGeom prst="roundRect">
            <a:avLst>
              <a:gd name="adj" fmla="val 5000"/>
            </a:avLst>
          </a:prstGeom>
          <a:solidFill>
            <a:srgbClr val="FFF3ED"/>
          </a:solidFill>
          <a:ln w="12700">
            <a:solidFill>
              <a:srgbClr val="FFD1BE"/>
            </a:solidFill>
          </a:ln>
        </p:spPr>
        <p:txBody>
          <a:bodyPr wrap="square" lIns="320040" tIns="320040" rIns="320040" bIns="320040" rtlCol="0" anchor="ctr">
            <a:normAutofit/>
          </a:bodyPr>
          <a:lstStyle/>
          <a:p>
            <a:pPr algn="l" marL="0" indent="0">
              <a:lnSpc>
                <a:spcPct val="114999"/>
              </a:lnSpc>
              <a:buNone/>
            </a:pPr>
            <a:r>
              <a:rPr lang="pt-BR" sz="2000" dirty="0">
                <a:solidFill>
                  <a:srgbClr val="0A2252"/>
                </a:solidFill>
              </a:rPr>
              <a:t>Uma </a:t>
            </a:r>
            <a:r>
              <a:rPr lang="pt-BR" sz="2000" b="1" dirty="0">
                <a:solidFill>
                  <a:srgbClr val="0A2252"/>
                </a:solidFill>
              </a:rPr>
              <a:t>arena sociomaterial de implementação</a:t>
            </a:r>
            <a:r>
              <a:rPr lang="pt-BR" sz="2000" dirty="0">
                <a:solidFill>
                  <a:srgbClr val="0A2252"/>
                </a:solidFill>
              </a:rPr>
              <a:t> é uma configuração situada de atores, prescrições institucionais, espaços, artefatos, tecnologias e infraestruturas por meio da qual uma política pública é interpretada, executada, negociada e experimentada.</a:t>
            </a:r>
          </a:p>
        </p:txBody>
      </p:sp>
      <p:sp>
        <p:nvSpPr>
          <p:cNvPr id="102" name="Texto 102"/>
          <p:cNvSpPr txBox="1"/>
          <p:nvPr/>
        </p:nvSpPr>
        <p:spPr>
          <a:xfrm>
            <a:off x="658368" y="4023360"/>
            <a:ext cx="10863072" cy="731520"/>
          </a:xfrm>
          <a:prstGeom prst="rect">
            <a:avLst/>
          </a:prstGeom>
          <a:noFill/>
          <a:ln>
            <a:noFill/>
          </a:ln>
        </p:spPr>
        <p:txBody>
          <a:bodyPr wrap="square" lIns="0" tIns="0" rIns="0" bIns="0" rtlCol="0" anchor="ctr">
            <a:normAutofit/>
          </a:bodyPr>
          <a:lstStyle/>
          <a:p>
            <a:pPr algn="l" marL="0" indent="0">
              <a:buNone/>
            </a:pPr>
            <a:r>
              <a:rPr lang="pt-BR" sz="1600" dirty="0">
                <a:solidFill>
                  <a:srgbClr val="26364F"/>
                </a:solidFill>
              </a:rPr>
              <a:t>Um prédio pode conter várias arenas. Uma arena pode atravessar prédios, plataformas e documentos.</a:t>
            </a:r>
          </a:p>
        </p:txBody>
      </p:sp>
      <p:sp>
        <p:nvSpPr>
          <p:cNvPr id="103" name="Roteiro 103"/>
          <p:cNvSpPr/>
          <p:nvPr/>
        </p:nvSpPr>
        <p:spPr>
          <a:xfrm>
            <a:off x="7269480" y="5230368"/>
            <a:ext cx="4251960" cy="1005840"/>
          </a:xfrm>
          <a:prstGeom prst="roundRect">
            <a:avLst>
              <a:gd name="adj" fmla="val 8000"/>
            </a:avLst>
          </a:prstGeom>
          <a:solidFill>
            <a:srgbClr val="FFFFFF"/>
          </a:solidFill>
          <a:ln w="12700">
            <a:solidFill>
              <a:srgbClr val="FFD1BE"/>
            </a:solidFill>
          </a:ln>
        </p:spPr>
        <p:txBody>
          <a:bodyPr wrap="square" lIns="91440" tIns="91440" rIns="91440" bIns="91440" rtlCol="0" anchor="ctr">
            <a:normAutofit/>
          </a:bodyPr>
          <a:lstStyle/>
          <a:p>
            <a:pPr algn="l" marL="171450" indent="-171450">
              <a:spcAft>
                <a:spcPts val="150"/>
              </a:spcAft>
              <a:buFont typeface="Arial"/>
              <a:buChar char="•"/>
            </a:pPr>
            <a:r>
              <a:rPr lang="pt-BR" sz="1050" dirty="0">
                <a:solidFill>
                  <a:srgbClr val="26364F"/>
                </a:solidFill>
              </a:rPr>
              <a:t>Sociomaterialidade nas organizações (Orlikowski, 2007)</a:t>
            </a:r>
          </a:p>
          <a:p>
            <a:pPr algn="l" marL="171450" indent="-171450">
              <a:spcAft>
                <a:spcPts val="150"/>
              </a:spcAft>
              <a:buFont typeface="Arial"/>
              <a:buChar char="•"/>
            </a:pPr>
            <a:r>
              <a:rPr lang="pt-BR" sz="1050" dirty="0">
                <a:solidFill>
                  <a:srgbClr val="26364F"/>
                </a:solidFill>
              </a:rPr>
              <a:t>Imbricação entre humano e material (Leonardi, 2011)</a:t>
            </a:r>
          </a:p>
          <a:p>
            <a:pPr algn="l" marL="171450" indent="-171450">
              <a:spcAft>
                <a:spcPts val="150"/>
              </a:spcAft>
              <a:buFont typeface="Arial"/>
              <a:buChar char="•"/>
            </a:pPr>
            <a:r>
              <a:rPr lang="pt-BR" sz="1050" dirty="0">
                <a:solidFill>
                  <a:srgbClr val="26364F"/>
                </a:solidFill>
              </a:rPr>
              <a:t>Como delimitar uma arena: política e ponto de contato</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58368" y="896112"/>
            <a:ext cx="9052560" cy="502920"/>
          </a:xfrm>
          <a:prstGeom prst="rect">
            <a:avLst/>
          </a:prstGeom>
          <a:noFill/>
          <a:ln/>
        </p:spPr>
        <p:txBody>
          <a:bodyPr wrap="square" lIns="0" tIns="0" rIns="0" bIns="0" rtlCol="0" anchor="ctr">
            <a:normAutofit/>
          </a:bodyPr>
          <a:lstStyle/>
          <a:p>
            <a:pPr marL="0" indent="0">
              <a:buNone/>
            </a:pPr>
            <a:r>
              <a:rPr lang="pt-BR" sz="2600" b="1" dirty="0">
                <a:solidFill>
                  <a:srgbClr val="0A2252"/>
                </a:solidFill>
                <a:latin typeface="Aptos Display" pitchFamily="34" charset="0"/>
                <a:ea typeface="Aptos Display" pitchFamily="34" charset="-122"/>
                <a:cs typeface="Aptos Display" pitchFamily="34" charset="-120"/>
              </a:rPr>
              <a:t>CINCO COMPONENTES FORMAM A ARENA</a:t>
            </a:r>
            <a:endParaRPr lang="en-US" sz="2600" dirty="0"/>
          </a:p>
        </p:txBody>
      </p:sp>
      <p:sp>
        <p:nvSpPr>
          <p:cNvPr id="3" name="Shape 1"/>
          <p:cNvSpPr/>
          <p:nvPr/>
        </p:nvSpPr>
        <p:spPr>
          <a:xfrm>
            <a:off x="658368" y="1536192"/>
            <a:ext cx="822960" cy="0"/>
          </a:xfrm>
          <a:prstGeom prst="line">
            <a:avLst/>
          </a:prstGeom>
          <a:noFill/>
          <a:ln w="44450">
            <a:solidFill>
              <a:srgbClr val="FF5A1F"/>
            </a:solidFill>
            <a:prstDash val="solid"/>
          </a:ln>
        </p:spPr>
        <p:txBody>
          <a:bodyPr/>
          <a:lstStyle/>
          <a:p>
            <a:endParaRPr lang="pt-BR"/>
          </a:p>
        </p:txBody>
      </p:sp>
      <p:sp>
        <p:nvSpPr>
          <p:cNvPr id="25" name="Slide Number Placeholder 0"/>
          <p:cNvSpPr>
            <a:spLocks noGrp="1"/>
          </p:cNvSpPr>
          <p:nvPr>
            <p:ph type="sldNum" sz="quarter" idx="4294967295"/>
          </p:nvPr>
        </p:nvSpPr>
        <p:spPr>
          <a:xfrm>
            <a:off x="11631168" y="6473952"/>
            <a:ext cx="420000" cy="164592"/>
          </a:xfrm>
          <a:prstGeom prst="rect">
            <a:avLst/>
          </a:prstGeom>
          <a:extLst>
            <a:ext uri="{C572A759-6A51-4108-AA02-DFA0A04FC94B}">
              <ma14:wrappingTextBoxFlag xmlns:ma14="http://schemas.microsoft.com/office/mac/drawingml/2011/main" xmlns="" val="0"/>
            </a:ext>
          </a:extLst>
        </p:spPr>
        <p:txBody>
          <a:bodyPr/>
          <a:lstStyle>
            <a:lvl1pPr>
              <a:defRPr sz="850">
                <a:solidFill>
                  <a:srgbClr val="7D8797"/>
                </a:solidFill>
              </a:defRPr>
            </a:lvl1pPr>
          </a:lstStyle>
          <a:p>
            <a:pPr algn="r"/>
            <a:fld id="{F7021451-1387-4CA6-816F-3879F97B5CBC}" type="slidenum">
              <a:rPr lang="en-US" b="0"/>
              <a:t>2</a:t>
            </a:fld>
            <a:endParaRPr lang="en-US"/>
          </a:p>
        </p:txBody>
      </p:sp>
      <p:pic>
        <p:nvPicPr>
          <p:cNvPr id="9" name="Imagem 8">
            <a:extLst>
              <a:ext uri="{FF2B5EF4-FFF2-40B4-BE49-F238E27FC236}">
                <a16:creationId xmlns:a16="http://schemas.microsoft.com/office/drawing/2014/main" id="{35A0857D-7EDC-DFF6-3CFE-A70D6D0695B9}"/>
              </a:ext>
            </a:extLst>
          </p:cNvPr>
          <p:cNvPicPr>
            <a:picLocks noChangeAspect="1"/>
          </p:cNvPicPr>
          <p:nvPr/>
        </p:nvPicPr>
        <p:blipFill>
          <a:blip r:embed="rId3"/>
          <a:srcRect l="-577" t="22570" r="577" b="16329"/>
          <a:stretch>
            <a:fillRect/>
          </a:stretch>
        </p:blipFill>
        <p:spPr>
          <a:xfrm>
            <a:off x="199282" y="5178555"/>
            <a:ext cx="2564091" cy="1566665"/>
          </a:xfrm>
          <a:prstGeom prst="rect">
            <a:avLst/>
          </a:prstGeom>
        </p:spPr>
      </p:pic>
      <p:sp>
        <p:nvSpPr>
          <p:cNvPr id="101" name="Cartão 101"/>
          <p:cNvSpPr/>
          <p:nvPr/>
        </p:nvSpPr>
        <p:spPr>
          <a:xfrm>
            <a:off x="658368" y="1783080"/>
            <a:ext cx="2026310" cy="1965960"/>
          </a:xfrm>
          <a:prstGeom prst="roundRect">
            <a:avLst>
              <a:gd name="adj" fmla="val 6000"/>
            </a:avLst>
          </a:prstGeom>
          <a:solidFill>
            <a:srgbClr val="FFFFFF"/>
          </a:solidFill>
          <a:ln w="12700">
            <a:solidFill>
              <a:srgbClr val="E7E2DA"/>
            </a:solidFill>
          </a:ln>
          <a:effectLst>
            <a:outerShdw blurRad="76200" dist="19050" dir="5400000" algn="t" rotWithShape="0">
              <a:srgbClr val="0A2252">
                <a:alpha val="12000"/>
              </a:srgbClr>
            </a:outerShdw>
          </a:effectLst>
        </p:spPr>
        <p:txBody>
          <a:bodyPr wrap="square" lIns="164592" tIns="164592" rIns="164592" bIns="164592" rtlCol="0" anchor="t">
            <a:normAutofit/>
          </a:bodyPr>
          <a:lstStyle/>
          <a:p>
            <a:pPr algn="l" marL="0" indent="0">
              <a:lnSpc>
                <a:spcPct val="100000"/>
              </a:lnSpc>
              <a:spcAft>
                <a:spcPts val="500"/>
              </a:spcAft>
              <a:buNone/>
            </a:pPr>
            <a:r>
              <a:rPr lang="pt-BR" sz="1400" b="1" dirty="0">
                <a:solidFill>
                  <a:srgbClr val="0A2252"/>
                </a:solidFill>
                <a:latin typeface="Aptos Display"/>
                <a:ea typeface="Aptos Display"/>
                <a:cs typeface="Aptos Display"/>
              </a:rPr>
              <a:t>Atores</a:t>
            </a:r>
          </a:p>
          <a:p>
            <a:pPr algn="l" marL="0" indent="0">
              <a:lnSpc>
                <a:spcPct val="105000"/>
              </a:lnSpc>
              <a:buNone/>
            </a:pPr>
            <a:r>
              <a:rPr lang="pt-BR" sz="1300" dirty="0">
                <a:solidFill>
                  <a:srgbClr val="26364F"/>
                </a:solidFill>
              </a:rPr>
              <a:t>Profissionais, cidadãos, gestores, intermediários</a:t>
            </a:r>
          </a:p>
        </p:txBody>
      </p:sp>
      <p:sp>
        <p:nvSpPr>
          <p:cNvPr id="102" name="Cartão 102"/>
          <p:cNvSpPr/>
          <p:nvPr/>
        </p:nvSpPr>
        <p:spPr>
          <a:xfrm>
            <a:off x="2867558" y="1783080"/>
            <a:ext cx="2026310" cy="1965960"/>
          </a:xfrm>
          <a:prstGeom prst="roundRect">
            <a:avLst>
              <a:gd name="adj" fmla="val 6000"/>
            </a:avLst>
          </a:prstGeom>
          <a:solidFill>
            <a:srgbClr val="FFFFFF"/>
          </a:solidFill>
          <a:ln w="12700">
            <a:solidFill>
              <a:srgbClr val="E7E2DA"/>
            </a:solidFill>
          </a:ln>
          <a:effectLst>
            <a:outerShdw blurRad="76200" dist="19050" dir="5400000" algn="t" rotWithShape="0">
              <a:srgbClr val="0A2252">
                <a:alpha val="12000"/>
              </a:srgbClr>
            </a:outerShdw>
          </a:effectLst>
        </p:spPr>
        <p:txBody>
          <a:bodyPr wrap="square" lIns="164592" tIns="164592" rIns="164592" bIns="164592" rtlCol="0" anchor="t">
            <a:normAutofit/>
          </a:bodyPr>
          <a:lstStyle/>
          <a:p>
            <a:pPr algn="l" marL="0" indent="0">
              <a:lnSpc>
                <a:spcPct val="100000"/>
              </a:lnSpc>
              <a:spcAft>
                <a:spcPts val="500"/>
              </a:spcAft>
              <a:buNone/>
            </a:pPr>
            <a:r>
              <a:rPr lang="pt-BR" sz="1400" b="1" dirty="0">
                <a:solidFill>
                  <a:srgbClr val="0A2252"/>
                </a:solidFill>
                <a:latin typeface="Aptos Display"/>
                <a:ea typeface="Aptos Display"/>
                <a:cs typeface="Aptos Display"/>
              </a:rPr>
              <a:t>Prescrições</a:t>
            </a:r>
          </a:p>
          <a:p>
            <a:pPr algn="l" marL="0" indent="0">
              <a:lnSpc>
                <a:spcPct val="105000"/>
              </a:lnSpc>
              <a:buNone/>
            </a:pPr>
            <a:r>
              <a:rPr lang="pt-BR" sz="1300" dirty="0">
                <a:solidFill>
                  <a:srgbClr val="26364F"/>
                </a:solidFill>
              </a:rPr>
              <a:t>Normas, regras, procedimentos, critérios de elegibilidade</a:t>
            </a:r>
          </a:p>
        </p:txBody>
      </p:sp>
      <p:sp>
        <p:nvSpPr>
          <p:cNvPr id="103" name="Cartão 103"/>
          <p:cNvSpPr/>
          <p:nvPr/>
        </p:nvSpPr>
        <p:spPr>
          <a:xfrm>
            <a:off x="5076749" y="1783080"/>
            <a:ext cx="2026310" cy="1965960"/>
          </a:xfrm>
          <a:prstGeom prst="roundRect">
            <a:avLst>
              <a:gd name="adj" fmla="val 6000"/>
            </a:avLst>
          </a:prstGeom>
          <a:solidFill>
            <a:srgbClr val="0A2252"/>
          </a:solidFill>
          <a:ln>
            <a:noFill/>
          </a:ln>
        </p:spPr>
        <p:txBody>
          <a:bodyPr wrap="square" lIns="164592" tIns="164592" rIns="164592" bIns="164592" rtlCol="0" anchor="t">
            <a:normAutofit/>
          </a:bodyPr>
          <a:lstStyle/>
          <a:p>
            <a:pPr algn="l" marL="0" indent="0">
              <a:lnSpc>
                <a:spcPct val="100000"/>
              </a:lnSpc>
              <a:spcAft>
                <a:spcPts val="500"/>
              </a:spcAft>
              <a:buNone/>
            </a:pPr>
            <a:r>
              <a:rPr lang="pt-BR" sz="1400" b="1" dirty="0">
                <a:solidFill>
                  <a:srgbClr val="FF5A1F"/>
                </a:solidFill>
                <a:latin typeface="Aptos Display"/>
                <a:ea typeface="Aptos Display"/>
                <a:cs typeface="Aptos Display"/>
              </a:rPr>
              <a:t>Materialidades</a:t>
            </a:r>
          </a:p>
          <a:p>
            <a:pPr algn="l" marL="0" indent="0">
              <a:lnSpc>
                <a:spcPct val="105000"/>
              </a:lnSpc>
              <a:buNone/>
            </a:pPr>
            <a:r>
              <a:rPr lang="pt-BR" sz="1300" dirty="0">
                <a:solidFill>
                  <a:srgbClr val="FFFFFF"/>
                </a:solidFill>
              </a:rPr>
              <a:t>Edifícios, salas, balcões, mobiliário, documentos</a:t>
            </a:r>
          </a:p>
        </p:txBody>
      </p:sp>
      <p:sp>
        <p:nvSpPr>
          <p:cNvPr id="104" name="Cartão 104"/>
          <p:cNvSpPr/>
          <p:nvPr/>
        </p:nvSpPr>
        <p:spPr>
          <a:xfrm>
            <a:off x="7285939" y="1783080"/>
            <a:ext cx="2026310" cy="1965960"/>
          </a:xfrm>
          <a:prstGeom prst="roundRect">
            <a:avLst>
              <a:gd name="adj" fmla="val 6000"/>
            </a:avLst>
          </a:prstGeom>
          <a:solidFill>
            <a:srgbClr val="0A2252"/>
          </a:solidFill>
          <a:ln>
            <a:noFill/>
          </a:ln>
        </p:spPr>
        <p:txBody>
          <a:bodyPr wrap="square" lIns="164592" tIns="164592" rIns="164592" bIns="164592" rtlCol="0" anchor="t">
            <a:normAutofit/>
          </a:bodyPr>
          <a:lstStyle/>
          <a:p>
            <a:pPr algn="l" marL="0" indent="0">
              <a:lnSpc>
                <a:spcPct val="100000"/>
              </a:lnSpc>
              <a:spcAft>
                <a:spcPts val="500"/>
              </a:spcAft>
              <a:buNone/>
            </a:pPr>
            <a:r>
              <a:rPr lang="pt-BR" sz="1400" b="1" dirty="0">
                <a:solidFill>
                  <a:srgbClr val="FF5A1F"/>
                </a:solidFill>
                <a:latin typeface="Aptos Display"/>
                <a:ea typeface="Aptos Display"/>
                <a:cs typeface="Aptos Display"/>
              </a:rPr>
              <a:t>Tecnologias</a:t>
            </a:r>
          </a:p>
          <a:p>
            <a:pPr algn="l" marL="0" indent="0">
              <a:lnSpc>
                <a:spcPct val="105000"/>
              </a:lnSpc>
              <a:buNone/>
            </a:pPr>
            <a:r>
              <a:rPr lang="pt-BR" sz="1300" dirty="0">
                <a:solidFill>
                  <a:srgbClr val="FFFFFF"/>
                </a:solidFill>
              </a:rPr>
              <a:t>Plataformas, sistemas, formulários, sinalização</a:t>
            </a:r>
          </a:p>
        </p:txBody>
      </p:sp>
      <p:sp>
        <p:nvSpPr>
          <p:cNvPr id="105" name="Cartão 105"/>
          <p:cNvSpPr/>
          <p:nvPr/>
        </p:nvSpPr>
        <p:spPr>
          <a:xfrm>
            <a:off x="9495130" y="1783080"/>
            <a:ext cx="2026310" cy="1965960"/>
          </a:xfrm>
          <a:prstGeom prst="roundRect">
            <a:avLst>
              <a:gd name="adj" fmla="val 6000"/>
            </a:avLst>
          </a:prstGeom>
          <a:solidFill>
            <a:srgbClr val="FFFFFF"/>
          </a:solidFill>
          <a:ln w="12700">
            <a:solidFill>
              <a:srgbClr val="E7E2DA"/>
            </a:solidFill>
          </a:ln>
          <a:effectLst>
            <a:outerShdw blurRad="76200" dist="19050" dir="5400000" algn="t" rotWithShape="0">
              <a:srgbClr val="0A2252">
                <a:alpha val="12000"/>
              </a:srgbClr>
            </a:outerShdw>
          </a:effectLst>
        </p:spPr>
        <p:txBody>
          <a:bodyPr wrap="square" lIns="164592" tIns="164592" rIns="164592" bIns="164592" rtlCol="0" anchor="t">
            <a:normAutofit/>
          </a:bodyPr>
          <a:lstStyle/>
          <a:p>
            <a:pPr algn="l" marL="0" indent="0">
              <a:lnSpc>
                <a:spcPct val="100000"/>
              </a:lnSpc>
              <a:spcAft>
                <a:spcPts val="500"/>
              </a:spcAft>
              <a:buNone/>
            </a:pPr>
            <a:r>
              <a:rPr lang="pt-BR" sz="1400" b="1" dirty="0">
                <a:solidFill>
                  <a:srgbClr val="0A2252"/>
                </a:solidFill>
                <a:latin typeface="Aptos Display"/>
                <a:ea typeface="Aptos Display"/>
                <a:cs typeface="Aptos Display"/>
              </a:rPr>
              <a:t>Práticas</a:t>
            </a:r>
          </a:p>
          <a:p>
            <a:pPr algn="l" marL="0" indent="0">
              <a:lnSpc>
                <a:spcPct val="105000"/>
              </a:lnSpc>
              <a:buNone/>
            </a:pPr>
            <a:r>
              <a:rPr lang="pt-BR" sz="1300" dirty="0">
                <a:solidFill>
                  <a:srgbClr val="26364F"/>
                </a:solidFill>
              </a:rPr>
              <a:t>Esperar, circular, atender, decidir, adaptar</a:t>
            </a:r>
          </a:p>
        </p:txBody>
      </p:sp>
      <p:sp>
        <p:nvSpPr>
          <p:cNvPr id="106" name="Texto 106"/>
          <p:cNvSpPr txBox="1"/>
          <p:nvPr/>
        </p:nvSpPr>
        <p:spPr>
          <a:xfrm>
            <a:off x="658368" y="4023360"/>
            <a:ext cx="10863072" cy="640080"/>
          </a:xfrm>
          <a:prstGeom prst="rect">
            <a:avLst/>
          </a:prstGeom>
          <a:noFill/>
          <a:ln>
            <a:noFill/>
          </a:ln>
        </p:spPr>
        <p:txBody>
          <a:bodyPr wrap="square" lIns="0" tIns="0" rIns="0" bIns="0" rtlCol="0" anchor="ctr">
            <a:normAutofit/>
          </a:bodyPr>
          <a:lstStyle/>
          <a:p>
            <a:pPr algn="l" marL="0" indent="0">
              <a:buNone/>
            </a:pPr>
            <a:r>
              <a:rPr lang="pt-BR" sz="1600" b="1" dirty="0">
                <a:solidFill>
                  <a:srgbClr val="0A2252"/>
                </a:solidFill>
              </a:rPr>
              <a:t>Um componente isolado não forma uma arena. O objeto de análise é o entrelaçamento.</a:t>
            </a:r>
          </a:p>
        </p:txBody>
      </p:sp>
      <p:sp>
        <p:nvSpPr>
          <p:cNvPr id="107" name="Roteiro 107"/>
          <p:cNvSpPr/>
          <p:nvPr/>
        </p:nvSpPr>
        <p:spPr>
          <a:xfrm>
            <a:off x="7269480" y="5230368"/>
            <a:ext cx="4251960" cy="1005840"/>
          </a:xfrm>
          <a:prstGeom prst="roundRect">
            <a:avLst>
              <a:gd name="adj" fmla="val 8000"/>
            </a:avLst>
          </a:prstGeom>
          <a:solidFill>
            <a:srgbClr val="FFFFFF"/>
          </a:solidFill>
          <a:ln w="12700">
            <a:solidFill>
              <a:srgbClr val="FFD1BE"/>
            </a:solidFill>
          </a:ln>
        </p:spPr>
        <p:txBody>
          <a:bodyPr wrap="square" lIns="91440" tIns="91440" rIns="91440" bIns="91440" rtlCol="0" anchor="ctr">
            <a:normAutofit/>
          </a:bodyPr>
          <a:lstStyle/>
          <a:p>
            <a:pPr algn="l" marL="171450" indent="-171450">
              <a:spcAft>
                <a:spcPts val="150"/>
              </a:spcAft>
              <a:buFont typeface="Arial"/>
              <a:buChar char="•"/>
            </a:pPr>
            <a:r>
              <a:rPr lang="pt-BR" sz="1050" dirty="0">
                <a:solidFill>
                  <a:srgbClr val="26364F"/>
                </a:solidFill>
              </a:rPr>
              <a:t>Cinco grupos relacionais do framework</a:t>
            </a:r>
          </a:p>
          <a:p>
            <a:pPr algn="l" marL="171450" indent="-171450">
              <a:spcAft>
                <a:spcPts val="150"/>
              </a:spcAft>
              <a:buFont typeface="Arial"/>
              <a:buChar char="•"/>
            </a:pPr>
            <a:r>
              <a:rPr lang="pt-BR" sz="1050" dirty="0">
                <a:solidFill>
                  <a:srgbClr val="26364F"/>
                </a:solidFill>
              </a:rPr>
              <a:t>Mediação por artefatos (Engeström, 2001)</a:t>
            </a:r>
          </a:p>
          <a:p>
            <a:pPr algn="l" marL="171450" indent="-171450">
              <a:spcAft>
                <a:spcPts val="150"/>
              </a:spcAft>
              <a:buFont typeface="Arial"/>
              <a:buChar char="•"/>
            </a:pPr>
            <a:r>
              <a:rPr lang="pt-BR" sz="1050" dirty="0">
                <a:solidFill>
                  <a:srgbClr val="26364F"/>
                </a:solidFill>
              </a:rPr>
              <a:t>Configurações que se sedimentam (Leonardi, 2011)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58368" y="896112"/>
            <a:ext cx="9052560" cy="502920"/>
          </a:xfrm>
          <a:prstGeom prst="rect">
            <a:avLst/>
          </a:prstGeom>
          <a:noFill/>
          <a:ln/>
        </p:spPr>
        <p:txBody>
          <a:bodyPr wrap="square" lIns="0" tIns="0" rIns="0" bIns="0" rtlCol="0" anchor="ctr">
            <a:normAutofit/>
          </a:bodyPr>
          <a:lstStyle/>
          <a:p>
            <a:pPr marL="0" indent="0">
              <a:buNone/>
            </a:pPr>
            <a:r>
              <a:rPr lang="pt-BR" sz="2600" b="1" dirty="0">
                <a:solidFill>
                  <a:srgbClr val="0A2252"/>
                </a:solidFill>
                <a:latin typeface="Aptos Display" pitchFamily="34" charset="0"/>
                <a:ea typeface="Aptos Display" pitchFamily="34" charset="-122"/>
                <a:cs typeface="Aptos Display" pitchFamily="34" charset="-120"/>
              </a:rPr>
              <a:t>CINCO MECANISMOS, COM EXEMPLOS DO JUDICIÁRIO</a:t>
            </a:r>
            <a:endParaRPr lang="en-US" sz="2600" dirty="0"/>
          </a:p>
        </p:txBody>
      </p:sp>
      <p:sp>
        <p:nvSpPr>
          <p:cNvPr id="3" name="Shape 1"/>
          <p:cNvSpPr/>
          <p:nvPr/>
        </p:nvSpPr>
        <p:spPr>
          <a:xfrm>
            <a:off x="658368" y="1536192"/>
            <a:ext cx="822960" cy="0"/>
          </a:xfrm>
          <a:prstGeom prst="line">
            <a:avLst/>
          </a:prstGeom>
          <a:noFill/>
          <a:ln w="44450">
            <a:solidFill>
              <a:srgbClr val="FF5A1F"/>
            </a:solidFill>
            <a:prstDash val="solid"/>
          </a:ln>
        </p:spPr>
        <p:txBody>
          <a:bodyPr/>
          <a:lstStyle/>
          <a:p>
            <a:endParaRPr lang="pt-BR"/>
          </a:p>
        </p:txBody>
      </p:sp>
      <p:sp>
        <p:nvSpPr>
          <p:cNvPr id="25" name="Slide Number Placeholder 0"/>
          <p:cNvSpPr>
            <a:spLocks noGrp="1"/>
          </p:cNvSpPr>
          <p:nvPr>
            <p:ph type="sldNum" sz="quarter" idx="4294967295"/>
          </p:nvPr>
        </p:nvSpPr>
        <p:spPr>
          <a:xfrm>
            <a:off x="11631168" y="6473952"/>
            <a:ext cx="420000" cy="164592"/>
          </a:xfrm>
          <a:prstGeom prst="rect">
            <a:avLst/>
          </a:prstGeom>
          <a:extLst>
            <a:ext uri="{C572A759-6A51-4108-AA02-DFA0A04FC94B}">
              <ma14:wrappingTextBoxFlag xmlns:ma14="http://schemas.microsoft.com/office/mac/drawingml/2011/main" xmlns="" val="0"/>
            </a:ext>
          </a:extLst>
        </p:spPr>
        <p:txBody>
          <a:bodyPr/>
          <a:lstStyle>
            <a:lvl1pPr>
              <a:defRPr sz="850">
                <a:solidFill>
                  <a:srgbClr val="7D8797"/>
                </a:solidFill>
              </a:defRPr>
            </a:lvl1pPr>
          </a:lstStyle>
          <a:p>
            <a:pPr algn="r"/>
            <a:fld id="{F7021451-1387-4CA6-816F-3879F97B5CBC}" type="slidenum">
              <a:rPr lang="en-US" b="0"/>
              <a:t>2</a:t>
            </a:fld>
            <a:endParaRPr lang="en-US"/>
          </a:p>
        </p:txBody>
      </p:sp>
      <p:pic>
        <p:nvPicPr>
          <p:cNvPr id="9" name="Imagem 8">
            <a:extLst>
              <a:ext uri="{FF2B5EF4-FFF2-40B4-BE49-F238E27FC236}">
                <a16:creationId xmlns:a16="http://schemas.microsoft.com/office/drawing/2014/main" id="{35A0857D-7EDC-DFF6-3CFE-A70D6D0695B9}"/>
              </a:ext>
            </a:extLst>
          </p:cNvPr>
          <p:cNvPicPr>
            <a:picLocks noChangeAspect="1"/>
          </p:cNvPicPr>
          <p:nvPr/>
        </p:nvPicPr>
        <p:blipFill>
          <a:blip r:embed="rId3"/>
          <a:srcRect l="-577" t="22570" r="577" b="16329"/>
          <a:stretch>
            <a:fillRect/>
          </a:stretch>
        </p:blipFill>
        <p:spPr>
          <a:xfrm>
            <a:off x="199282" y="5178555"/>
            <a:ext cx="2564091" cy="1566665"/>
          </a:xfrm>
          <a:prstGeom prst="rect">
            <a:avLst/>
          </a:prstGeom>
        </p:spPr>
      </p:pic>
      <p:sp>
        <p:nvSpPr>
          <p:cNvPr id="101" name="Cabeçalho 101"/>
          <p:cNvSpPr/>
          <p:nvPr/>
        </p:nvSpPr>
        <p:spPr>
          <a:xfrm>
            <a:off x="658368" y="1737360"/>
            <a:ext cx="2743200" cy="365760"/>
          </a:xfrm>
          <a:prstGeom prst="rect">
            <a:avLst/>
          </a:prstGeom>
          <a:solidFill>
            <a:srgbClr val="0A2252"/>
          </a:solidFill>
          <a:ln>
            <a:noFill/>
          </a:ln>
        </p:spPr>
        <p:txBody>
          <a:bodyPr wrap="square" lIns="91440" tIns="91440" rIns="91440" bIns="91440" rtlCol="0" anchor="ctr">
            <a:normAutofit/>
          </a:bodyPr>
          <a:lstStyle/>
          <a:p>
            <a:pPr algn="l" marL="0" indent="0">
              <a:buNone/>
            </a:pPr>
            <a:r>
              <a:rPr lang="pt-BR" sz="1200" b="1" dirty="0">
                <a:solidFill>
                  <a:srgbClr val="FFFFFF"/>
                </a:solidFill>
              </a:rPr>
              <a:t>Mecanismo</a:t>
            </a:r>
          </a:p>
        </p:txBody>
      </p:sp>
      <p:sp>
        <p:nvSpPr>
          <p:cNvPr id="102" name="Cabeçalho 102"/>
          <p:cNvSpPr/>
          <p:nvPr/>
        </p:nvSpPr>
        <p:spPr>
          <a:xfrm>
            <a:off x="3401568" y="1737360"/>
            <a:ext cx="3566160" cy="365760"/>
          </a:xfrm>
          <a:prstGeom prst="rect">
            <a:avLst/>
          </a:prstGeom>
          <a:solidFill>
            <a:srgbClr val="0A2252"/>
          </a:solidFill>
          <a:ln>
            <a:noFill/>
          </a:ln>
        </p:spPr>
        <p:txBody>
          <a:bodyPr wrap="square" lIns="91440" tIns="91440" rIns="91440" bIns="91440" rtlCol="0" anchor="ctr">
            <a:normAutofit/>
          </a:bodyPr>
          <a:lstStyle/>
          <a:p>
            <a:pPr algn="l" marL="0" indent="0">
              <a:buNone/>
            </a:pPr>
            <a:r>
              <a:rPr lang="pt-BR" sz="1200" b="1" dirty="0">
                <a:solidFill>
                  <a:srgbClr val="FFFFFF"/>
                </a:solidFill>
              </a:rPr>
              <a:t>Pergunta</a:t>
            </a:r>
          </a:p>
        </p:txBody>
      </p:sp>
      <p:sp>
        <p:nvSpPr>
          <p:cNvPr id="103" name="Cabeçalho 103"/>
          <p:cNvSpPr/>
          <p:nvPr/>
        </p:nvSpPr>
        <p:spPr>
          <a:xfrm>
            <a:off x="6967728" y="1737360"/>
            <a:ext cx="4553712" cy="365760"/>
          </a:xfrm>
          <a:prstGeom prst="rect">
            <a:avLst/>
          </a:prstGeom>
          <a:solidFill>
            <a:srgbClr val="0A2252"/>
          </a:solidFill>
          <a:ln>
            <a:noFill/>
          </a:ln>
        </p:spPr>
        <p:txBody>
          <a:bodyPr wrap="square" lIns="91440" tIns="91440" rIns="91440" bIns="91440" rtlCol="0" anchor="ctr">
            <a:normAutofit/>
          </a:bodyPr>
          <a:lstStyle/>
          <a:p>
            <a:pPr algn="l" marL="0" indent="0">
              <a:buNone/>
            </a:pPr>
            <a:r>
              <a:rPr lang="pt-BR" sz="1200" b="1" dirty="0">
                <a:solidFill>
                  <a:srgbClr val="FFFFFF"/>
                </a:solidFill>
              </a:rPr>
              <a:t>Exemplo no Judiciário</a:t>
            </a:r>
          </a:p>
        </p:txBody>
      </p:sp>
      <p:sp>
        <p:nvSpPr>
          <p:cNvPr id="104" name="Célula 104"/>
          <p:cNvSpPr/>
          <p:nvPr/>
        </p:nvSpPr>
        <p:spPr>
          <a:xfrm>
            <a:off x="658368" y="2103120"/>
            <a:ext cx="2743200" cy="548640"/>
          </a:xfrm>
          <a:prstGeom prst="rect">
            <a:avLst/>
          </a:prstGeom>
          <a:solidFill>
            <a:srgbClr val="FFFFFF"/>
          </a:solidFill>
          <a:ln>
            <a:noFill/>
          </a:ln>
        </p:spPr>
        <p:txBody>
          <a:bodyPr wrap="square" lIns="91440" tIns="91440" rIns="91440" bIns="91440" rtlCol="0" anchor="ctr">
            <a:normAutofit/>
          </a:bodyPr>
          <a:lstStyle/>
          <a:p>
            <a:pPr algn="l" marL="0" indent="0">
              <a:buNone/>
            </a:pPr>
            <a:r>
              <a:rPr lang="pt-BR" sz="1250" b="1" dirty="0">
                <a:solidFill>
                  <a:srgbClr val="0A2252"/>
                </a:solidFill>
              </a:rPr>
              <a:t>M1 · Instrumentação</a:t>
            </a:r>
          </a:p>
        </p:txBody>
      </p:sp>
      <p:sp>
        <p:nvSpPr>
          <p:cNvPr id="105" name="Célula 105"/>
          <p:cNvSpPr/>
          <p:nvPr/>
        </p:nvSpPr>
        <p:spPr>
          <a:xfrm>
            <a:off x="3401568" y="2103120"/>
            <a:ext cx="3566160" cy="548640"/>
          </a:xfrm>
          <a:prstGeom prst="rect">
            <a:avLst/>
          </a:prstGeom>
          <a:solidFill>
            <a:srgbClr val="FFFFFF"/>
          </a:solidFill>
          <a:ln>
            <a:noFill/>
          </a:ln>
        </p:spPr>
        <p:txBody>
          <a:bodyPr wrap="square" lIns="91440" tIns="91440" rIns="91440" bIns="91440" rtlCol="0" anchor="ctr">
            <a:normAutofit/>
          </a:bodyPr>
          <a:lstStyle/>
          <a:p>
            <a:pPr algn="l" marL="0" indent="0">
              <a:buNone/>
            </a:pPr>
            <a:r>
              <a:rPr lang="pt-BR" sz="1250" dirty="0">
                <a:solidFill>
                  <a:srgbClr val="26364F"/>
                </a:solidFill>
              </a:rPr>
              <a:t>Como a norma vira arranjo concreto?</a:t>
            </a:r>
          </a:p>
        </p:txBody>
      </p:sp>
      <p:sp>
        <p:nvSpPr>
          <p:cNvPr id="106" name="Célula 106"/>
          <p:cNvSpPr/>
          <p:nvPr/>
        </p:nvSpPr>
        <p:spPr>
          <a:xfrm>
            <a:off x="6967728" y="2103120"/>
            <a:ext cx="4553712" cy="548640"/>
          </a:xfrm>
          <a:prstGeom prst="rect">
            <a:avLst/>
          </a:prstGeom>
          <a:solidFill>
            <a:srgbClr val="FFFFFF"/>
          </a:solidFill>
          <a:ln>
            <a:noFill/>
          </a:ln>
        </p:spPr>
        <p:txBody>
          <a:bodyPr wrap="square" lIns="91440" tIns="91440" rIns="91440" bIns="91440" rtlCol="0" anchor="ctr">
            <a:normAutofit/>
          </a:bodyPr>
          <a:lstStyle/>
          <a:p>
            <a:pPr algn="l" marL="0" indent="0">
              <a:buNone/>
            </a:pPr>
            <a:r>
              <a:rPr lang="pt-BR" sz="1250" dirty="0">
                <a:solidFill>
                  <a:srgbClr val="26364F"/>
                </a:solidFill>
              </a:rPr>
              <a:t>Resolução de acessibilidade que vira, ou não, rampa e sinalização tátil</a:t>
            </a:r>
          </a:p>
        </p:txBody>
      </p:sp>
      <p:sp>
        <p:nvSpPr>
          <p:cNvPr id="107" name="Célula 107"/>
          <p:cNvSpPr/>
          <p:nvPr/>
        </p:nvSpPr>
        <p:spPr>
          <a:xfrm>
            <a:off x="658368" y="2651760"/>
            <a:ext cx="2743200" cy="548640"/>
          </a:xfrm>
          <a:prstGeom prst="rect">
            <a:avLst/>
          </a:prstGeom>
          <a:solidFill>
            <a:srgbClr val="F4F1EC"/>
          </a:solidFill>
          <a:ln>
            <a:noFill/>
          </a:ln>
        </p:spPr>
        <p:txBody>
          <a:bodyPr wrap="square" lIns="91440" tIns="91440" rIns="91440" bIns="91440" rtlCol="0" anchor="ctr">
            <a:normAutofit/>
          </a:bodyPr>
          <a:lstStyle/>
          <a:p>
            <a:pPr algn="l" marL="0" indent="0">
              <a:buNone/>
            </a:pPr>
            <a:r>
              <a:rPr lang="pt-BR" sz="1250" b="1" dirty="0">
                <a:solidFill>
                  <a:srgbClr val="0A2252"/>
                </a:solidFill>
              </a:rPr>
              <a:t>M2 · Mediação do trabalho</a:t>
            </a:r>
          </a:p>
        </p:txBody>
      </p:sp>
      <p:sp>
        <p:nvSpPr>
          <p:cNvPr id="108" name="Célula 108"/>
          <p:cNvSpPr/>
          <p:nvPr/>
        </p:nvSpPr>
        <p:spPr>
          <a:xfrm>
            <a:off x="3401568" y="2651760"/>
            <a:ext cx="3566160" cy="548640"/>
          </a:xfrm>
          <a:prstGeom prst="rect">
            <a:avLst/>
          </a:prstGeom>
          <a:solidFill>
            <a:srgbClr val="F4F1EC"/>
          </a:solidFill>
          <a:ln>
            <a:noFill/>
          </a:ln>
        </p:spPr>
        <p:txBody>
          <a:bodyPr wrap="square" lIns="91440" tIns="91440" rIns="91440" bIns="91440" rtlCol="0" anchor="ctr">
            <a:normAutofit/>
          </a:bodyPr>
          <a:lstStyle/>
          <a:p>
            <a:pPr algn="l" marL="0" indent="0">
              <a:buNone/>
            </a:pPr>
            <a:r>
              <a:rPr lang="pt-BR" sz="1250" dirty="0">
                <a:solidFill>
                  <a:srgbClr val="26364F"/>
                </a:solidFill>
              </a:rPr>
              <a:t>Como o arranjo organiza o trabalho?</a:t>
            </a:r>
          </a:p>
        </p:txBody>
      </p:sp>
      <p:sp>
        <p:nvSpPr>
          <p:cNvPr id="109" name="Célula 109"/>
          <p:cNvSpPr/>
          <p:nvPr/>
        </p:nvSpPr>
        <p:spPr>
          <a:xfrm>
            <a:off x="6967728" y="2651760"/>
            <a:ext cx="4553712" cy="548640"/>
          </a:xfrm>
          <a:prstGeom prst="rect">
            <a:avLst/>
          </a:prstGeom>
          <a:solidFill>
            <a:srgbClr val="F4F1EC"/>
          </a:solidFill>
          <a:ln>
            <a:noFill/>
          </a:ln>
        </p:spPr>
        <p:txBody>
          <a:bodyPr wrap="square" lIns="91440" tIns="91440" rIns="91440" bIns="91440" rtlCol="0" anchor="ctr">
            <a:normAutofit/>
          </a:bodyPr>
          <a:lstStyle/>
          <a:p>
            <a:pPr algn="l" marL="0" indent="0">
              <a:buNone/>
            </a:pPr>
            <a:r>
              <a:rPr lang="pt-BR" sz="1250" dirty="0">
                <a:solidFill>
                  <a:srgbClr val="26364F"/>
                </a:solidFill>
              </a:rPr>
              <a:t>Processos empilhados no corredor porque o arquivo fica em outro andar</a:t>
            </a:r>
          </a:p>
        </p:txBody>
      </p:sp>
      <p:sp>
        <p:nvSpPr>
          <p:cNvPr id="110" name="Célula 110"/>
          <p:cNvSpPr/>
          <p:nvPr/>
        </p:nvSpPr>
        <p:spPr>
          <a:xfrm>
            <a:off x="658368" y="3200400"/>
            <a:ext cx="2743200" cy="548640"/>
          </a:xfrm>
          <a:prstGeom prst="rect">
            <a:avLst/>
          </a:prstGeom>
          <a:solidFill>
            <a:srgbClr val="FFFFFF"/>
          </a:solidFill>
          <a:ln>
            <a:noFill/>
          </a:ln>
        </p:spPr>
        <p:txBody>
          <a:bodyPr wrap="square" lIns="91440" tIns="91440" rIns="91440" bIns="91440" rtlCol="0" anchor="ctr">
            <a:normAutofit/>
          </a:bodyPr>
          <a:lstStyle/>
          <a:p>
            <a:pPr algn="l" marL="0" indent="0">
              <a:buNone/>
            </a:pPr>
            <a:r>
              <a:rPr lang="pt-BR" sz="1250" b="1" dirty="0">
                <a:solidFill>
                  <a:srgbClr val="0A2252"/>
                </a:solidFill>
              </a:rPr>
              <a:t>M3 · Mediação da experiência</a:t>
            </a:r>
          </a:p>
        </p:txBody>
      </p:sp>
      <p:sp>
        <p:nvSpPr>
          <p:cNvPr id="111" name="Célula 111"/>
          <p:cNvSpPr/>
          <p:nvPr/>
        </p:nvSpPr>
        <p:spPr>
          <a:xfrm>
            <a:off x="3401568" y="3200400"/>
            <a:ext cx="3566160" cy="548640"/>
          </a:xfrm>
          <a:prstGeom prst="rect">
            <a:avLst/>
          </a:prstGeom>
          <a:solidFill>
            <a:srgbClr val="FFFFFF"/>
          </a:solidFill>
          <a:ln>
            <a:noFill/>
          </a:ln>
        </p:spPr>
        <p:txBody>
          <a:bodyPr wrap="square" lIns="91440" tIns="91440" rIns="91440" bIns="91440" rtlCol="0" anchor="ctr">
            <a:normAutofit/>
          </a:bodyPr>
          <a:lstStyle/>
          <a:p>
            <a:pPr algn="l" marL="0" indent="0">
              <a:buNone/>
            </a:pPr>
            <a:r>
              <a:rPr lang="pt-BR" sz="1250" dirty="0">
                <a:solidFill>
                  <a:srgbClr val="26364F"/>
                </a:solidFill>
              </a:rPr>
              <a:t>Como o lugar afeta a percepção de tratamento justo?</a:t>
            </a:r>
          </a:p>
        </p:txBody>
      </p:sp>
      <p:sp>
        <p:nvSpPr>
          <p:cNvPr id="112" name="Célula 112"/>
          <p:cNvSpPr/>
          <p:nvPr/>
        </p:nvSpPr>
        <p:spPr>
          <a:xfrm>
            <a:off x="6967728" y="3200400"/>
            <a:ext cx="4553712" cy="548640"/>
          </a:xfrm>
          <a:prstGeom prst="rect">
            <a:avLst/>
          </a:prstGeom>
          <a:solidFill>
            <a:srgbClr val="FFFFFF"/>
          </a:solidFill>
          <a:ln>
            <a:noFill/>
          </a:ln>
        </p:spPr>
        <p:txBody>
          <a:bodyPr wrap="square" lIns="91440" tIns="91440" rIns="91440" bIns="91440" rtlCol="0" anchor="ctr">
            <a:normAutofit/>
          </a:bodyPr>
          <a:lstStyle/>
          <a:p>
            <a:pPr algn="l" marL="0" indent="0">
              <a:buNone/>
            </a:pPr>
            <a:r>
              <a:rPr lang="pt-BR" sz="1250" dirty="0">
                <a:solidFill>
                  <a:srgbClr val="26364F"/>
                </a:solidFill>
              </a:rPr>
              <a:t>Bancada elevada na sala de audiência reforça a distância institucional</a:t>
            </a:r>
          </a:p>
        </p:txBody>
      </p:sp>
      <p:sp>
        <p:nvSpPr>
          <p:cNvPr id="113" name="Célula 113"/>
          <p:cNvSpPr/>
          <p:nvPr/>
        </p:nvSpPr>
        <p:spPr>
          <a:xfrm>
            <a:off x="658368" y="3749040"/>
            <a:ext cx="2743200" cy="548640"/>
          </a:xfrm>
          <a:prstGeom prst="rect">
            <a:avLst/>
          </a:prstGeom>
          <a:solidFill>
            <a:srgbClr val="F4F1EC"/>
          </a:solidFill>
          <a:ln>
            <a:noFill/>
          </a:ln>
        </p:spPr>
        <p:txBody>
          <a:bodyPr wrap="square" lIns="91440" tIns="91440" rIns="91440" bIns="91440" rtlCol="0" anchor="ctr">
            <a:normAutofit/>
          </a:bodyPr>
          <a:lstStyle/>
          <a:p>
            <a:pPr algn="l" marL="0" indent="0">
              <a:buNone/>
            </a:pPr>
            <a:r>
              <a:rPr lang="pt-BR" sz="1250" b="1" dirty="0">
                <a:solidFill>
                  <a:srgbClr val="0A2252"/>
                </a:solidFill>
              </a:rPr>
              <a:t>M4 · Legibilidade</a:t>
            </a:r>
          </a:p>
        </p:txBody>
      </p:sp>
      <p:sp>
        <p:nvSpPr>
          <p:cNvPr id="114" name="Célula 114"/>
          <p:cNvSpPr/>
          <p:nvPr/>
        </p:nvSpPr>
        <p:spPr>
          <a:xfrm>
            <a:off x="3401568" y="3749040"/>
            <a:ext cx="3566160" cy="548640"/>
          </a:xfrm>
          <a:prstGeom prst="rect">
            <a:avLst/>
          </a:prstGeom>
          <a:solidFill>
            <a:srgbClr val="F4F1EC"/>
          </a:solidFill>
          <a:ln>
            <a:noFill/>
          </a:ln>
        </p:spPr>
        <p:txBody>
          <a:bodyPr wrap="square" lIns="91440" tIns="91440" rIns="91440" bIns="91440" rtlCol="0" anchor="ctr">
            <a:normAutofit/>
          </a:bodyPr>
          <a:lstStyle/>
          <a:p>
            <a:pPr algn="l" marL="0" indent="0">
              <a:buNone/>
            </a:pPr>
            <a:r>
              <a:rPr lang="pt-BR" sz="1250" dirty="0">
                <a:solidFill>
                  <a:srgbClr val="26364F"/>
                </a:solidFill>
              </a:rPr>
              <a:t>A instituição é compreensível para quem chega?</a:t>
            </a:r>
          </a:p>
        </p:txBody>
      </p:sp>
      <p:sp>
        <p:nvSpPr>
          <p:cNvPr id="115" name="Célula 115"/>
          <p:cNvSpPr/>
          <p:nvPr/>
        </p:nvSpPr>
        <p:spPr>
          <a:xfrm>
            <a:off x="6967728" y="3749040"/>
            <a:ext cx="4553712" cy="548640"/>
          </a:xfrm>
          <a:prstGeom prst="rect">
            <a:avLst/>
          </a:prstGeom>
          <a:solidFill>
            <a:srgbClr val="F4F1EC"/>
          </a:solidFill>
          <a:ln>
            <a:noFill/>
          </a:ln>
        </p:spPr>
        <p:txBody>
          <a:bodyPr wrap="square" lIns="91440" tIns="91440" rIns="91440" bIns="91440" rtlCol="0" anchor="ctr">
            <a:normAutofit/>
          </a:bodyPr>
          <a:lstStyle/>
          <a:p>
            <a:pPr algn="l" marL="0" indent="0">
              <a:buNone/>
            </a:pPr>
            <a:r>
              <a:rPr lang="pt-BR" sz="1250" dirty="0">
                <a:solidFill>
                  <a:srgbClr val="26364F"/>
                </a:solidFill>
              </a:rPr>
              <a:t>Tribunal sem sinalização obriga o cidadão a perguntar várias vezes</a:t>
            </a:r>
          </a:p>
        </p:txBody>
      </p:sp>
      <p:sp>
        <p:nvSpPr>
          <p:cNvPr id="116" name="Célula 116"/>
          <p:cNvSpPr/>
          <p:nvPr/>
        </p:nvSpPr>
        <p:spPr>
          <a:xfrm>
            <a:off x="658368" y="4297680"/>
            <a:ext cx="2743200" cy="548640"/>
          </a:xfrm>
          <a:prstGeom prst="rect">
            <a:avLst/>
          </a:prstGeom>
          <a:solidFill>
            <a:srgbClr val="FFFFFF"/>
          </a:solidFill>
          <a:ln>
            <a:noFill/>
          </a:ln>
        </p:spPr>
        <p:txBody>
          <a:bodyPr wrap="square" lIns="91440" tIns="91440" rIns="91440" bIns="91440" rtlCol="0" anchor="ctr">
            <a:normAutofit/>
          </a:bodyPr>
          <a:lstStyle/>
          <a:p>
            <a:pPr algn="l" marL="0" indent="0">
              <a:buNone/>
            </a:pPr>
            <a:r>
              <a:rPr lang="pt-BR" sz="1250" b="1" dirty="0">
                <a:solidFill>
                  <a:srgbClr val="0A2252"/>
                </a:solidFill>
              </a:rPr>
              <a:t>M5 · Aprendizagem</a:t>
            </a:r>
          </a:p>
        </p:txBody>
      </p:sp>
      <p:sp>
        <p:nvSpPr>
          <p:cNvPr id="117" name="Célula 117"/>
          <p:cNvSpPr/>
          <p:nvPr/>
        </p:nvSpPr>
        <p:spPr>
          <a:xfrm>
            <a:off x="3401568" y="4297680"/>
            <a:ext cx="3566160" cy="548640"/>
          </a:xfrm>
          <a:prstGeom prst="rect">
            <a:avLst/>
          </a:prstGeom>
          <a:solidFill>
            <a:srgbClr val="FFFFFF"/>
          </a:solidFill>
          <a:ln>
            <a:noFill/>
          </a:ln>
        </p:spPr>
        <p:txBody>
          <a:bodyPr wrap="square" lIns="91440" tIns="91440" rIns="91440" bIns="91440" rtlCol="0" anchor="ctr">
            <a:normAutofit/>
          </a:bodyPr>
          <a:lstStyle/>
          <a:p>
            <a:pPr algn="l" marL="0" indent="0">
              <a:buNone/>
            </a:pPr>
            <a:r>
              <a:rPr lang="pt-BR" sz="1250" dirty="0">
                <a:solidFill>
                  <a:srgbClr val="26364F"/>
                </a:solidFill>
              </a:rPr>
              <a:t>As fricções chegam a quem decide?</a:t>
            </a:r>
          </a:p>
        </p:txBody>
      </p:sp>
      <p:sp>
        <p:nvSpPr>
          <p:cNvPr id="118" name="Célula 118"/>
          <p:cNvSpPr/>
          <p:nvPr/>
        </p:nvSpPr>
        <p:spPr>
          <a:xfrm>
            <a:off x="6967728" y="4297680"/>
            <a:ext cx="4553712" cy="548640"/>
          </a:xfrm>
          <a:prstGeom prst="rect">
            <a:avLst/>
          </a:prstGeom>
          <a:solidFill>
            <a:srgbClr val="FFFFFF"/>
          </a:solidFill>
          <a:ln>
            <a:noFill/>
          </a:ln>
        </p:spPr>
        <p:txBody>
          <a:bodyPr wrap="square" lIns="91440" tIns="91440" rIns="91440" bIns="91440" rtlCol="0" anchor="ctr">
            <a:normAutofit/>
          </a:bodyPr>
          <a:lstStyle/>
          <a:p>
            <a:pPr algn="l" marL="0" indent="0">
              <a:buNone/>
            </a:pPr>
            <a:r>
              <a:rPr lang="pt-BR" sz="1250" dirty="0">
                <a:solidFill>
                  <a:srgbClr val="26364F"/>
                </a:solidFill>
              </a:rPr>
              <a:t>Erros recorrentes do sistema eletrônico nunca notificados à gestão</a:t>
            </a:r>
          </a:p>
        </p:txBody>
      </p:sp>
      <p:sp>
        <p:nvSpPr>
          <p:cNvPr id="119" name="Roteiro 119"/>
          <p:cNvSpPr/>
          <p:nvPr/>
        </p:nvSpPr>
        <p:spPr>
          <a:xfrm>
            <a:off x="7269480" y="5230368"/>
            <a:ext cx="4251960" cy="1005840"/>
          </a:xfrm>
          <a:prstGeom prst="roundRect">
            <a:avLst>
              <a:gd name="adj" fmla="val 8000"/>
            </a:avLst>
          </a:prstGeom>
          <a:solidFill>
            <a:srgbClr val="FFFFFF"/>
          </a:solidFill>
          <a:ln w="12700">
            <a:solidFill>
              <a:srgbClr val="FFD1BE"/>
            </a:solidFill>
          </a:ln>
        </p:spPr>
        <p:txBody>
          <a:bodyPr wrap="square" lIns="91440" tIns="91440" rIns="91440" bIns="91440" rtlCol="0" anchor="ctr">
            <a:normAutofit/>
          </a:bodyPr>
          <a:lstStyle/>
          <a:p>
            <a:pPr algn="l" marL="171450" indent="-171450">
              <a:spcAft>
                <a:spcPts val="150"/>
              </a:spcAft>
              <a:buFont typeface="Arial"/>
              <a:buChar char="•"/>
            </a:pPr>
            <a:r>
              <a:rPr lang="pt-BR" sz="1050" dirty="0">
                <a:solidFill>
                  <a:srgbClr val="26364F"/>
                </a:solidFill>
              </a:rPr>
              <a:t>Norma que vira arranjo (Lascoumes; Le Galès, 2007)</a:t>
            </a:r>
          </a:p>
          <a:p>
            <a:pPr algn="l" marL="171450" indent="-171450">
              <a:spcAft>
                <a:spcPts val="150"/>
              </a:spcAft>
              <a:buFont typeface="Arial"/>
              <a:buChar char="•"/>
            </a:pPr>
            <a:r>
              <a:rPr lang="pt-BR" sz="1050" dirty="0">
                <a:solidFill>
                  <a:srgbClr val="26364F"/>
                </a:solidFill>
              </a:rPr>
              <a:t>Justiça procedimental (Tyler, 2003)</a:t>
            </a:r>
          </a:p>
          <a:p>
            <a:pPr algn="l" marL="171450" indent="-171450">
              <a:spcAft>
                <a:spcPts val="150"/>
              </a:spcAft>
              <a:buFont typeface="Arial"/>
              <a:buChar char="•"/>
            </a:pPr>
            <a:r>
              <a:rPr lang="pt-BR" sz="1050" dirty="0">
                <a:solidFill>
                  <a:srgbClr val="26364F"/>
                </a:solidFill>
              </a:rPr>
              <a:t>Aprendizagem organizacional (Argyris; Schön, 1978)</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58368" y="896112"/>
            <a:ext cx="9052560" cy="502920"/>
          </a:xfrm>
          <a:prstGeom prst="rect">
            <a:avLst/>
          </a:prstGeom>
          <a:noFill/>
          <a:ln/>
        </p:spPr>
        <p:txBody>
          <a:bodyPr wrap="square" lIns="0" tIns="0" rIns="0" bIns="0" rtlCol="0" anchor="ctr">
            <a:normAutofit/>
          </a:bodyPr>
          <a:lstStyle/>
          <a:p>
            <a:pPr marL="0" indent="0">
              <a:buNone/>
            </a:pPr>
            <a:r>
              <a:rPr lang="pt-BR" sz="2600" b="1" dirty="0">
                <a:solidFill>
                  <a:srgbClr val="0A2252"/>
                </a:solidFill>
                <a:latin typeface="Aptos Display" pitchFamily="34" charset="0"/>
                <a:ea typeface="Aptos Display" pitchFamily="34" charset="-122"/>
                <a:cs typeface="Aptos Display" pitchFamily="34" charset="-120"/>
              </a:rPr>
              <a:t>UM ACHADO PARA O GESTOR</a:t>
            </a:r>
            <a:endParaRPr lang="en-US" sz="2600" dirty="0"/>
          </a:p>
        </p:txBody>
      </p:sp>
      <p:sp>
        <p:nvSpPr>
          <p:cNvPr id="3" name="Shape 1"/>
          <p:cNvSpPr/>
          <p:nvPr/>
        </p:nvSpPr>
        <p:spPr>
          <a:xfrm>
            <a:off x="658368" y="1536192"/>
            <a:ext cx="822960" cy="0"/>
          </a:xfrm>
          <a:prstGeom prst="line">
            <a:avLst/>
          </a:prstGeom>
          <a:noFill/>
          <a:ln w="44450">
            <a:solidFill>
              <a:srgbClr val="FF5A1F"/>
            </a:solidFill>
            <a:prstDash val="solid"/>
          </a:ln>
        </p:spPr>
        <p:txBody>
          <a:bodyPr/>
          <a:lstStyle/>
          <a:p>
            <a:endParaRPr lang="pt-BR"/>
          </a:p>
        </p:txBody>
      </p:sp>
      <p:sp>
        <p:nvSpPr>
          <p:cNvPr id="25" name="Slide Number Placeholder 0"/>
          <p:cNvSpPr>
            <a:spLocks noGrp="1"/>
          </p:cNvSpPr>
          <p:nvPr>
            <p:ph type="sldNum" sz="quarter" idx="4294967295"/>
          </p:nvPr>
        </p:nvSpPr>
        <p:spPr>
          <a:xfrm>
            <a:off x="11631168" y="6473952"/>
            <a:ext cx="420000" cy="164592"/>
          </a:xfrm>
          <a:prstGeom prst="rect">
            <a:avLst/>
          </a:prstGeom>
          <a:extLst>
            <a:ext uri="{C572A759-6A51-4108-AA02-DFA0A04FC94B}">
              <ma14:wrappingTextBoxFlag xmlns:ma14="http://schemas.microsoft.com/office/mac/drawingml/2011/main" xmlns="" val="0"/>
            </a:ext>
          </a:extLst>
        </p:spPr>
        <p:txBody>
          <a:bodyPr/>
          <a:lstStyle>
            <a:lvl1pPr>
              <a:defRPr sz="850">
                <a:solidFill>
                  <a:srgbClr val="7D8797"/>
                </a:solidFill>
              </a:defRPr>
            </a:lvl1pPr>
          </a:lstStyle>
          <a:p>
            <a:pPr algn="r"/>
            <a:fld id="{F7021451-1387-4CA6-816F-3879F97B5CBC}" type="slidenum">
              <a:rPr lang="en-US" b="0"/>
              <a:t>2</a:t>
            </a:fld>
            <a:endParaRPr lang="en-US"/>
          </a:p>
        </p:txBody>
      </p:sp>
      <p:pic>
        <p:nvPicPr>
          <p:cNvPr id="9" name="Imagem 8">
            <a:extLst>
              <a:ext uri="{FF2B5EF4-FFF2-40B4-BE49-F238E27FC236}">
                <a16:creationId xmlns:a16="http://schemas.microsoft.com/office/drawing/2014/main" id="{35A0857D-7EDC-DFF6-3CFE-A70D6D0695B9}"/>
              </a:ext>
            </a:extLst>
          </p:cNvPr>
          <p:cNvPicPr>
            <a:picLocks noChangeAspect="1"/>
          </p:cNvPicPr>
          <p:nvPr/>
        </p:nvPicPr>
        <p:blipFill>
          <a:blip r:embed="rId3"/>
          <a:srcRect l="-577" t="22570" r="577" b="16329"/>
          <a:stretch>
            <a:fillRect/>
          </a:stretch>
        </p:blipFill>
        <p:spPr>
          <a:xfrm>
            <a:off x="199282" y="5178555"/>
            <a:ext cx="2564091" cy="1566665"/>
          </a:xfrm>
          <a:prstGeom prst="rect">
            <a:avLst/>
          </a:prstGeom>
        </p:spPr>
      </p:pic>
      <p:sp>
        <p:nvSpPr>
          <p:cNvPr id="101" name="Achado 101"/>
          <p:cNvSpPr/>
          <p:nvPr/>
        </p:nvSpPr>
        <p:spPr>
          <a:xfrm>
            <a:off x="658368" y="1737360"/>
            <a:ext cx="10863072" cy="3246120"/>
          </a:xfrm>
          <a:prstGeom prst="roundRect">
            <a:avLst>
              <a:gd name="adj" fmla="val 4000"/>
            </a:avLst>
          </a:prstGeom>
          <a:solidFill>
            <a:srgbClr val="0A2252"/>
          </a:solidFill>
          <a:ln>
            <a:noFill/>
          </a:ln>
        </p:spPr>
        <p:txBody>
          <a:bodyPr wrap="square" lIns="411480" tIns="411480" rIns="411480" bIns="411480" rtlCol="0" anchor="ctr">
            <a:normAutofit/>
          </a:bodyPr>
          <a:lstStyle/>
          <a:p>
            <a:pPr algn="l" marL="0" indent="0">
              <a:spcAft>
                <a:spcPts val="800"/>
              </a:spcAft>
              <a:buNone/>
            </a:pPr>
            <a:r>
              <a:rPr lang="pt-BR" sz="1100" b="1" dirty="0">
                <a:solidFill>
                  <a:srgbClr val="FF5A1F"/>
                </a:solidFill>
              </a:rPr>
              <a:t>PROPOSIÇÃO A TESTAR</a:t>
            </a:r>
          </a:p>
          <a:p>
            <a:pPr algn="l" marL="0" indent="0">
              <a:lnSpc>
                <a:spcPct val="100000"/>
              </a:lnSpc>
              <a:spcAft>
                <a:spcPts val="1200"/>
              </a:spcAft>
              <a:buNone/>
            </a:pPr>
            <a:r>
              <a:rPr lang="pt-BR" sz="2600" b="1" dirty="0">
                <a:solidFill>
                  <a:srgbClr val="FFFFFF"/>
                </a:solidFill>
                <a:latin typeface="Aptos Display"/>
                <a:ea typeface="Aptos Display"/>
                <a:cs typeface="Aptos Display"/>
              </a:rPr>
              <a:t>A digitalização redistribui a materialidade da política pública.</a:t>
            </a:r>
          </a:p>
          <a:p>
            <a:pPr algn="l" marL="0" indent="0">
              <a:lnSpc>
                <a:spcPct val="110000"/>
              </a:lnSpc>
              <a:spcAft>
                <a:spcPts val="1200"/>
              </a:spcAft>
              <a:buNone/>
            </a:pPr>
            <a:r>
              <a:rPr lang="pt-BR" sz="1500" dirty="0">
                <a:solidFill>
                  <a:srgbClr val="D6DEEC"/>
                </a:solidFill>
              </a:rPr>
              <a:t>Quando as transações rotineiras migram para o digital, o prédio recebe menos pessoas. Os atendimentos que permanecem presenciais tendem a exigir mais coordenação, proteção e infraestrutura.</a:t>
            </a:r>
          </a:p>
          <a:p>
            <a:pPr algn="l" marL="0" indent="0">
              <a:buNone/>
            </a:pPr>
            <a:r>
              <a:rPr lang="pt-BR" sz="1600" b="1" dirty="0">
                <a:solidFill>
                  <a:srgbClr val="FFFFFF"/>
                </a:solidFill>
              </a:rPr>
              <a:t>Consequência: a ocupação média perde força como indicador de valor público.</a:t>
            </a:r>
          </a:p>
        </p:txBody>
      </p:sp>
      <p:sp>
        <p:nvSpPr>
          <p:cNvPr id="102" name="Roteiro 102"/>
          <p:cNvSpPr/>
          <p:nvPr/>
        </p:nvSpPr>
        <p:spPr>
          <a:xfrm>
            <a:off x="7269480" y="5230368"/>
            <a:ext cx="4251960" cy="1005840"/>
          </a:xfrm>
          <a:prstGeom prst="roundRect">
            <a:avLst>
              <a:gd name="adj" fmla="val 8000"/>
            </a:avLst>
          </a:prstGeom>
          <a:solidFill>
            <a:srgbClr val="FFFFFF"/>
          </a:solidFill>
          <a:ln w="12700">
            <a:solidFill>
              <a:srgbClr val="FFD1BE"/>
            </a:solidFill>
          </a:ln>
        </p:spPr>
        <p:txBody>
          <a:bodyPr wrap="square" lIns="91440" tIns="91440" rIns="91440" bIns="91440" rtlCol="0" anchor="ctr">
            <a:normAutofit/>
          </a:bodyPr>
          <a:lstStyle/>
          <a:p>
            <a:pPr algn="l" marL="171450" indent="-171450">
              <a:spcAft>
                <a:spcPts val="150"/>
              </a:spcAft>
              <a:buFont typeface="Arial"/>
              <a:buChar char="•"/>
            </a:pPr>
            <a:r>
              <a:rPr lang="pt-BR" sz="1050" dirty="0">
                <a:solidFill>
                  <a:srgbClr val="26364F"/>
                </a:solidFill>
              </a:rPr>
              <a:t>Digitalização e encontros complexos</a:t>
            </a:r>
          </a:p>
          <a:p>
            <a:pPr algn="l" marL="171450" indent="-171450">
              <a:spcAft>
                <a:spcPts val="150"/>
              </a:spcAft>
              <a:buFont typeface="Arial"/>
              <a:buChar char="•"/>
            </a:pPr>
            <a:r>
              <a:rPr lang="pt-BR" sz="1050" dirty="0">
                <a:solidFill>
                  <a:srgbClr val="26364F"/>
                </a:solidFill>
              </a:rPr>
              <a:t>Custos para o cidadão (Christensen et al., 2020)</a:t>
            </a:r>
          </a:p>
          <a:p>
            <a:pPr algn="l" marL="171450" indent="-171450">
              <a:spcAft>
                <a:spcPts val="150"/>
              </a:spcAft>
              <a:buFont typeface="Arial"/>
              <a:buChar char="•"/>
            </a:pPr>
            <a:r>
              <a:rPr lang="pt-BR" sz="1050" dirty="0">
                <a:solidFill>
                  <a:srgbClr val="26364F"/>
                </a:solidFill>
              </a:rPr>
              <a:t>Ocupação média como indicador de valor público</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58368" y="896112"/>
            <a:ext cx="9052560" cy="502920"/>
          </a:xfrm>
          <a:prstGeom prst="rect">
            <a:avLst/>
          </a:prstGeom>
          <a:noFill/>
          <a:ln/>
        </p:spPr>
        <p:txBody>
          <a:bodyPr wrap="square" lIns="0" tIns="0" rIns="0" bIns="0" rtlCol="0" anchor="ctr">
            <a:normAutofit/>
          </a:bodyPr>
          <a:lstStyle/>
          <a:p>
            <a:pPr marL="0" indent="0">
              <a:buNone/>
            </a:pPr>
            <a:r>
              <a:rPr lang="pt-BR" sz="2600" b="1" dirty="0">
                <a:solidFill>
                  <a:srgbClr val="0A2252"/>
                </a:solidFill>
                <a:latin typeface="Aptos Display" pitchFamily="34" charset="0"/>
                <a:ea typeface="Aptos Display" pitchFamily="34" charset="-122"/>
                <a:cs typeface="Aptos Display" pitchFamily="34" charset="-120"/>
              </a:rPr>
              <a:t>MÉTODO ARENAS: SEIS LENTES DE DIAGNÓSTICO</a:t>
            </a:r>
            <a:endParaRPr lang="en-US" sz="2600" dirty="0"/>
          </a:p>
        </p:txBody>
      </p:sp>
      <p:sp>
        <p:nvSpPr>
          <p:cNvPr id="3" name="Shape 1"/>
          <p:cNvSpPr/>
          <p:nvPr/>
        </p:nvSpPr>
        <p:spPr>
          <a:xfrm>
            <a:off x="658368" y="1536192"/>
            <a:ext cx="822960" cy="0"/>
          </a:xfrm>
          <a:prstGeom prst="line">
            <a:avLst/>
          </a:prstGeom>
          <a:noFill/>
          <a:ln w="44450">
            <a:solidFill>
              <a:srgbClr val="FF5A1F"/>
            </a:solidFill>
            <a:prstDash val="solid"/>
          </a:ln>
        </p:spPr>
        <p:txBody>
          <a:bodyPr/>
          <a:lstStyle/>
          <a:p>
            <a:endParaRPr lang="pt-BR"/>
          </a:p>
        </p:txBody>
      </p:sp>
      <p:sp>
        <p:nvSpPr>
          <p:cNvPr id="25" name="Slide Number Placeholder 0"/>
          <p:cNvSpPr>
            <a:spLocks noGrp="1"/>
          </p:cNvSpPr>
          <p:nvPr>
            <p:ph type="sldNum" sz="quarter" idx="4294967295"/>
          </p:nvPr>
        </p:nvSpPr>
        <p:spPr>
          <a:xfrm>
            <a:off x="11631168" y="6473952"/>
            <a:ext cx="420000" cy="164592"/>
          </a:xfrm>
          <a:prstGeom prst="rect">
            <a:avLst/>
          </a:prstGeom>
          <a:extLst>
            <a:ext uri="{C572A759-6A51-4108-AA02-DFA0A04FC94B}">
              <ma14:wrappingTextBoxFlag xmlns:ma14="http://schemas.microsoft.com/office/mac/drawingml/2011/main" xmlns="" val="0"/>
            </a:ext>
          </a:extLst>
        </p:spPr>
        <p:txBody>
          <a:bodyPr/>
          <a:lstStyle>
            <a:lvl1pPr>
              <a:defRPr sz="850">
                <a:solidFill>
                  <a:srgbClr val="7D8797"/>
                </a:solidFill>
              </a:defRPr>
            </a:lvl1pPr>
          </a:lstStyle>
          <a:p>
            <a:pPr algn="r"/>
            <a:fld id="{F7021451-1387-4CA6-816F-3879F97B5CBC}" type="slidenum">
              <a:rPr lang="en-US" b="0"/>
              <a:t>2</a:t>
            </a:fld>
            <a:endParaRPr lang="en-US"/>
          </a:p>
        </p:txBody>
      </p:sp>
      <p:pic>
        <p:nvPicPr>
          <p:cNvPr id="9" name="Imagem 8">
            <a:extLst>
              <a:ext uri="{FF2B5EF4-FFF2-40B4-BE49-F238E27FC236}">
                <a16:creationId xmlns:a16="http://schemas.microsoft.com/office/drawing/2014/main" id="{35A0857D-7EDC-DFF6-3CFE-A70D6D0695B9}"/>
              </a:ext>
            </a:extLst>
          </p:cNvPr>
          <p:cNvPicPr>
            <a:picLocks noChangeAspect="1"/>
          </p:cNvPicPr>
          <p:nvPr/>
        </p:nvPicPr>
        <p:blipFill>
          <a:blip r:embed="rId3"/>
          <a:srcRect l="-577" t="22570" r="577" b="16329"/>
          <a:stretch>
            <a:fillRect/>
          </a:stretch>
        </p:blipFill>
        <p:spPr>
          <a:xfrm>
            <a:off x="199282" y="5178555"/>
            <a:ext cx="2564091" cy="1566665"/>
          </a:xfrm>
          <a:prstGeom prst="rect">
            <a:avLst/>
          </a:prstGeom>
        </p:spPr>
      </p:pic>
      <p:sp>
        <p:nvSpPr>
          <p:cNvPr id="101" name="Lente 101"/>
          <p:cNvSpPr/>
          <p:nvPr/>
        </p:nvSpPr>
        <p:spPr>
          <a:xfrm>
            <a:off x="658368" y="1783080"/>
            <a:ext cx="3499104" cy="731520"/>
          </a:xfrm>
          <a:prstGeom prst="roundRect">
            <a:avLst>
              <a:gd name="adj" fmla="val 10000"/>
            </a:avLst>
          </a:prstGeom>
          <a:solidFill>
            <a:srgbClr val="FFFFFF"/>
          </a:solidFill>
          <a:ln w="12700">
            <a:solidFill>
              <a:srgbClr val="E7E2DA"/>
            </a:solidFill>
          </a:ln>
        </p:spPr>
        <p:txBody>
          <a:bodyPr wrap="square" lIns="182880" tIns="182880" rIns="182880" bIns="182880" rtlCol="0" anchor="ctr">
            <a:normAutofit/>
          </a:bodyPr>
          <a:lstStyle/>
          <a:p>
            <a:pPr algn="l" marL="0" indent="0">
              <a:buNone/>
            </a:pPr>
            <a:r>
              <a:rPr lang="pt-BR" sz="2600" b="1" dirty="0">
                <a:solidFill>
                  <a:srgbClr val="FF5A1F"/>
                </a:solidFill>
                <a:latin typeface="Aptos Display"/>
                <a:ea typeface="Aptos Display"/>
                <a:cs typeface="Aptos Display"/>
              </a:rPr>
              <a:t>A   </a:t>
            </a:r>
            <a:r>
              <a:rPr lang="pt-BR" sz="1600" b="1" dirty="0">
                <a:solidFill>
                  <a:srgbClr val="0A2252"/>
                </a:solidFill>
              </a:rPr>
              <a:t>Arranjo espacial</a:t>
            </a:r>
          </a:p>
        </p:txBody>
      </p:sp>
      <p:sp>
        <p:nvSpPr>
          <p:cNvPr id="102" name="Lente 102"/>
          <p:cNvSpPr/>
          <p:nvPr/>
        </p:nvSpPr>
        <p:spPr>
          <a:xfrm>
            <a:off x="4340352" y="1783080"/>
            <a:ext cx="3499104" cy="731520"/>
          </a:xfrm>
          <a:prstGeom prst="roundRect">
            <a:avLst>
              <a:gd name="adj" fmla="val 10000"/>
            </a:avLst>
          </a:prstGeom>
          <a:solidFill>
            <a:srgbClr val="FFFFFF"/>
          </a:solidFill>
          <a:ln w="12700">
            <a:solidFill>
              <a:srgbClr val="E7E2DA"/>
            </a:solidFill>
          </a:ln>
        </p:spPr>
        <p:txBody>
          <a:bodyPr wrap="square" lIns="182880" tIns="182880" rIns="182880" bIns="182880" rtlCol="0" anchor="ctr">
            <a:normAutofit/>
          </a:bodyPr>
          <a:lstStyle/>
          <a:p>
            <a:pPr algn="l" marL="0" indent="0">
              <a:buNone/>
            </a:pPr>
            <a:r>
              <a:rPr lang="pt-BR" sz="2600" b="1" dirty="0">
                <a:solidFill>
                  <a:srgbClr val="FF5A1F"/>
                </a:solidFill>
                <a:latin typeface="Aptos Display"/>
                <a:ea typeface="Aptos Display"/>
                <a:cs typeface="Aptos Display"/>
              </a:rPr>
              <a:t>R   </a:t>
            </a:r>
            <a:r>
              <a:rPr lang="pt-BR" sz="1600" b="1" dirty="0">
                <a:solidFill>
                  <a:srgbClr val="0A2252"/>
                </a:solidFill>
              </a:rPr>
              <a:t>Rotinas de trabalho</a:t>
            </a:r>
          </a:p>
        </p:txBody>
      </p:sp>
      <p:sp>
        <p:nvSpPr>
          <p:cNvPr id="103" name="Lente 103"/>
          <p:cNvSpPr/>
          <p:nvPr/>
        </p:nvSpPr>
        <p:spPr>
          <a:xfrm>
            <a:off x="8022336" y="1783080"/>
            <a:ext cx="3499104" cy="731520"/>
          </a:xfrm>
          <a:prstGeom prst="roundRect">
            <a:avLst>
              <a:gd name="adj" fmla="val 10000"/>
            </a:avLst>
          </a:prstGeom>
          <a:solidFill>
            <a:srgbClr val="FFFFFF"/>
          </a:solidFill>
          <a:ln w="12700">
            <a:solidFill>
              <a:srgbClr val="E7E2DA"/>
            </a:solidFill>
          </a:ln>
        </p:spPr>
        <p:txBody>
          <a:bodyPr wrap="square" lIns="182880" tIns="182880" rIns="182880" bIns="182880" rtlCol="0" anchor="ctr">
            <a:normAutofit/>
          </a:bodyPr>
          <a:lstStyle/>
          <a:p>
            <a:pPr algn="l" marL="0" indent="0">
              <a:buNone/>
            </a:pPr>
            <a:r>
              <a:rPr lang="pt-BR" sz="2600" b="1" dirty="0">
                <a:solidFill>
                  <a:srgbClr val="FF5A1F"/>
                </a:solidFill>
                <a:latin typeface="Aptos Display"/>
                <a:ea typeface="Aptos Display"/>
                <a:cs typeface="Aptos Display"/>
              </a:rPr>
              <a:t>E   </a:t>
            </a:r>
            <a:r>
              <a:rPr lang="pt-BR" sz="1600" b="1" dirty="0">
                <a:solidFill>
                  <a:srgbClr val="0A2252"/>
                </a:solidFill>
              </a:rPr>
              <a:t>Experiência</a:t>
            </a:r>
          </a:p>
        </p:txBody>
      </p:sp>
      <p:sp>
        <p:nvSpPr>
          <p:cNvPr id="104" name="Lente 104"/>
          <p:cNvSpPr/>
          <p:nvPr/>
        </p:nvSpPr>
        <p:spPr>
          <a:xfrm>
            <a:off x="658368" y="2651760"/>
            <a:ext cx="3499104" cy="731520"/>
          </a:xfrm>
          <a:prstGeom prst="roundRect">
            <a:avLst>
              <a:gd name="adj" fmla="val 10000"/>
            </a:avLst>
          </a:prstGeom>
          <a:solidFill>
            <a:srgbClr val="FFFFFF"/>
          </a:solidFill>
          <a:ln w="12700">
            <a:solidFill>
              <a:srgbClr val="E7E2DA"/>
            </a:solidFill>
          </a:ln>
        </p:spPr>
        <p:txBody>
          <a:bodyPr wrap="square" lIns="182880" tIns="182880" rIns="182880" bIns="182880" rtlCol="0" anchor="ctr">
            <a:normAutofit/>
          </a:bodyPr>
          <a:lstStyle/>
          <a:p>
            <a:pPr algn="l" marL="0" indent="0">
              <a:buNone/>
            </a:pPr>
            <a:r>
              <a:rPr lang="pt-BR" sz="2600" b="1" dirty="0">
                <a:solidFill>
                  <a:srgbClr val="FF5A1F"/>
                </a:solidFill>
                <a:latin typeface="Aptos Display"/>
                <a:ea typeface="Aptos Display"/>
                <a:cs typeface="Aptos Display"/>
              </a:rPr>
              <a:t>N   </a:t>
            </a:r>
            <a:r>
              <a:rPr lang="pt-BR" sz="1600" b="1" dirty="0">
                <a:solidFill>
                  <a:srgbClr val="0A2252"/>
                </a:solidFill>
              </a:rPr>
              <a:t>Navegabilidade</a:t>
            </a:r>
          </a:p>
        </p:txBody>
      </p:sp>
      <p:sp>
        <p:nvSpPr>
          <p:cNvPr id="105" name="Lente 105"/>
          <p:cNvSpPr/>
          <p:nvPr/>
        </p:nvSpPr>
        <p:spPr>
          <a:xfrm>
            <a:off x="4340352" y="2651760"/>
            <a:ext cx="3499104" cy="731520"/>
          </a:xfrm>
          <a:prstGeom prst="roundRect">
            <a:avLst>
              <a:gd name="adj" fmla="val 10000"/>
            </a:avLst>
          </a:prstGeom>
          <a:solidFill>
            <a:srgbClr val="FFFFFF"/>
          </a:solidFill>
          <a:ln w="12700">
            <a:solidFill>
              <a:srgbClr val="E7E2DA"/>
            </a:solidFill>
          </a:ln>
        </p:spPr>
        <p:txBody>
          <a:bodyPr wrap="square" lIns="182880" tIns="182880" rIns="182880" bIns="182880" rtlCol="0" anchor="ctr">
            <a:normAutofit/>
          </a:bodyPr>
          <a:lstStyle/>
          <a:p>
            <a:pPr algn="l" marL="0" indent="0">
              <a:buNone/>
            </a:pPr>
            <a:r>
              <a:rPr lang="pt-BR" sz="2600" b="1" dirty="0">
                <a:solidFill>
                  <a:srgbClr val="FF5A1F"/>
                </a:solidFill>
                <a:latin typeface="Aptos Display"/>
                <a:ea typeface="Aptos Display"/>
                <a:cs typeface="Aptos Display"/>
              </a:rPr>
              <a:t>A   </a:t>
            </a:r>
            <a:r>
              <a:rPr lang="pt-BR" sz="1600" b="1" dirty="0">
                <a:solidFill>
                  <a:srgbClr val="0A2252"/>
                </a:solidFill>
              </a:rPr>
              <a:t>Aprendizagem</a:t>
            </a:r>
          </a:p>
        </p:txBody>
      </p:sp>
      <p:sp>
        <p:nvSpPr>
          <p:cNvPr id="106" name="Lente 106"/>
          <p:cNvSpPr/>
          <p:nvPr/>
        </p:nvSpPr>
        <p:spPr>
          <a:xfrm>
            <a:off x="8022336" y="2651760"/>
            <a:ext cx="3499104" cy="731520"/>
          </a:xfrm>
          <a:prstGeom prst="roundRect">
            <a:avLst>
              <a:gd name="adj" fmla="val 10000"/>
            </a:avLst>
          </a:prstGeom>
          <a:solidFill>
            <a:srgbClr val="0A2252"/>
          </a:solidFill>
          <a:ln>
            <a:noFill/>
          </a:ln>
        </p:spPr>
        <p:txBody>
          <a:bodyPr wrap="square" lIns="182880" tIns="182880" rIns="182880" bIns="182880" rtlCol="0" anchor="ctr">
            <a:normAutofit/>
          </a:bodyPr>
          <a:lstStyle/>
          <a:p>
            <a:pPr algn="l" marL="0" indent="0">
              <a:buNone/>
            </a:pPr>
            <a:r>
              <a:rPr lang="pt-BR" sz="2600" b="1" dirty="0">
                <a:solidFill>
                  <a:srgbClr val="FF5A1F"/>
                </a:solidFill>
                <a:latin typeface="Aptos Display"/>
                <a:ea typeface="Aptos Display"/>
                <a:cs typeface="Aptos Display"/>
              </a:rPr>
              <a:t>S   </a:t>
            </a:r>
            <a:r>
              <a:rPr lang="pt-BR" sz="1600" b="1" dirty="0">
                <a:solidFill>
                  <a:srgbClr val="FFFFFF"/>
                </a:solidFill>
              </a:rPr>
              <a:t>Sociomaterialidade</a:t>
            </a:r>
          </a:p>
        </p:txBody>
      </p:sp>
      <p:sp>
        <p:nvSpPr>
          <p:cNvPr id="107" name="Etiqueta 107"/>
          <p:cNvSpPr/>
          <p:nvPr/>
        </p:nvSpPr>
        <p:spPr>
          <a:xfrm>
            <a:off x="658368" y="3657600"/>
            <a:ext cx="1234440" cy="402336"/>
          </a:xfrm>
          <a:prstGeom prst="roundRect">
            <a:avLst>
              <a:gd name="adj" fmla="val 50000"/>
            </a:avLst>
          </a:prstGeom>
          <a:solidFill>
            <a:srgbClr val="0A2252"/>
          </a:solidFill>
          <a:ln>
            <a:noFill/>
          </a:ln>
        </p:spPr>
        <p:txBody>
          <a:bodyPr wrap="square" lIns="36576" tIns="36576" rIns="36576" bIns="36576" rtlCol="0" anchor="ctr">
            <a:normAutofit/>
          </a:bodyPr>
          <a:lstStyle/>
          <a:p>
            <a:pPr algn="ctr" marL="0" indent="0">
              <a:buNone/>
            </a:pPr>
            <a:r>
              <a:rPr lang="pt-BR" sz="1200" b="1" dirty="0">
                <a:solidFill>
                  <a:srgbClr val="FFFFFF"/>
                </a:solidFill>
              </a:rPr>
              <a:t>Observar</a:t>
            </a:r>
          </a:p>
        </p:txBody>
      </p:sp>
      <p:sp>
        <p:nvSpPr>
          <p:cNvPr id="108" name="Seta 108"/>
          <p:cNvSpPr/>
          <p:nvPr/>
        </p:nvSpPr>
        <p:spPr>
          <a:xfrm>
            <a:off x="1965960" y="3749040"/>
            <a:ext cx="329184" cy="219456"/>
          </a:xfrm>
          <a:prstGeom prst="rightArrow">
            <a:avLst/>
          </a:prstGeom>
          <a:solidFill>
            <a:srgbClr val="FF5A1F"/>
          </a:solidFill>
          <a:ln>
            <a:noFill/>
          </a:ln>
        </p:spPr>
      </p:sp>
      <p:sp>
        <p:nvSpPr>
          <p:cNvPr id="109" name="Etiqueta 109"/>
          <p:cNvSpPr/>
          <p:nvPr/>
        </p:nvSpPr>
        <p:spPr>
          <a:xfrm>
            <a:off x="2368296" y="3657600"/>
            <a:ext cx="1508760" cy="402336"/>
          </a:xfrm>
          <a:prstGeom prst="roundRect">
            <a:avLst>
              <a:gd name="adj" fmla="val 50000"/>
            </a:avLst>
          </a:prstGeom>
          <a:solidFill>
            <a:srgbClr val="0A2252"/>
          </a:solidFill>
          <a:ln>
            <a:noFill/>
          </a:ln>
        </p:spPr>
        <p:txBody>
          <a:bodyPr wrap="square" lIns="36576" tIns="36576" rIns="36576" bIns="36576" rtlCol="0" anchor="ctr">
            <a:normAutofit/>
          </a:bodyPr>
          <a:lstStyle/>
          <a:p>
            <a:pPr algn="ctr" marL="0" indent="0">
              <a:buNone/>
            </a:pPr>
            <a:r>
              <a:rPr lang="pt-BR" sz="1200" b="1" dirty="0">
                <a:solidFill>
                  <a:srgbClr val="FFFFFF"/>
                </a:solidFill>
              </a:rPr>
              <a:t>Diagnosticar</a:t>
            </a:r>
          </a:p>
        </p:txBody>
      </p:sp>
      <p:sp>
        <p:nvSpPr>
          <p:cNvPr id="110" name="Seta 110"/>
          <p:cNvSpPr/>
          <p:nvPr/>
        </p:nvSpPr>
        <p:spPr>
          <a:xfrm>
            <a:off x="3950208" y="3749040"/>
            <a:ext cx="329184" cy="219456"/>
          </a:xfrm>
          <a:prstGeom prst="rightArrow">
            <a:avLst/>
          </a:prstGeom>
          <a:solidFill>
            <a:srgbClr val="FF5A1F"/>
          </a:solidFill>
          <a:ln>
            <a:noFill/>
          </a:ln>
        </p:spPr>
      </p:sp>
      <p:sp>
        <p:nvSpPr>
          <p:cNvPr id="111" name="Etiqueta 111"/>
          <p:cNvSpPr/>
          <p:nvPr/>
        </p:nvSpPr>
        <p:spPr>
          <a:xfrm>
            <a:off x="4352544" y="3657600"/>
            <a:ext cx="1417320" cy="402336"/>
          </a:xfrm>
          <a:prstGeom prst="roundRect">
            <a:avLst>
              <a:gd name="adj" fmla="val 50000"/>
            </a:avLst>
          </a:prstGeom>
          <a:solidFill>
            <a:srgbClr val="0A2252"/>
          </a:solidFill>
          <a:ln>
            <a:noFill/>
          </a:ln>
        </p:spPr>
        <p:txBody>
          <a:bodyPr wrap="square" lIns="36576" tIns="36576" rIns="36576" bIns="36576" rtlCol="0" anchor="ctr">
            <a:normAutofit/>
          </a:bodyPr>
          <a:lstStyle/>
          <a:p>
            <a:pPr algn="ctr" marL="0" indent="0">
              <a:buNone/>
            </a:pPr>
            <a:r>
              <a:rPr lang="pt-BR" sz="1200" b="1" dirty="0">
                <a:solidFill>
                  <a:srgbClr val="FFFFFF"/>
                </a:solidFill>
              </a:rPr>
              <a:t>Redesenhar</a:t>
            </a:r>
          </a:p>
        </p:txBody>
      </p:sp>
      <p:sp>
        <p:nvSpPr>
          <p:cNvPr id="112" name="Seta 112"/>
          <p:cNvSpPr/>
          <p:nvPr/>
        </p:nvSpPr>
        <p:spPr>
          <a:xfrm>
            <a:off x="5843016" y="3749040"/>
            <a:ext cx="329184" cy="219456"/>
          </a:xfrm>
          <a:prstGeom prst="rightArrow">
            <a:avLst/>
          </a:prstGeom>
          <a:solidFill>
            <a:srgbClr val="FF5A1F"/>
          </a:solidFill>
          <a:ln>
            <a:noFill/>
          </a:ln>
        </p:spPr>
      </p:sp>
      <p:sp>
        <p:nvSpPr>
          <p:cNvPr id="113" name="Etiqueta 113"/>
          <p:cNvSpPr/>
          <p:nvPr/>
        </p:nvSpPr>
        <p:spPr>
          <a:xfrm>
            <a:off x="6245352" y="3657600"/>
            <a:ext cx="1783080" cy="402336"/>
          </a:xfrm>
          <a:prstGeom prst="roundRect">
            <a:avLst>
              <a:gd name="adj" fmla="val 50000"/>
            </a:avLst>
          </a:prstGeom>
          <a:solidFill>
            <a:srgbClr val="0A2252"/>
          </a:solidFill>
          <a:ln>
            <a:noFill/>
          </a:ln>
        </p:spPr>
        <p:txBody>
          <a:bodyPr wrap="square" lIns="36576" tIns="36576" rIns="36576" bIns="36576" rtlCol="0" anchor="ctr">
            <a:normAutofit/>
          </a:bodyPr>
          <a:lstStyle/>
          <a:p>
            <a:pPr algn="ctr" marL="0" indent="0">
              <a:buNone/>
            </a:pPr>
            <a:r>
              <a:rPr lang="pt-BR" sz="1200" b="1" dirty="0">
                <a:solidFill>
                  <a:srgbClr val="FFFFFF"/>
                </a:solidFill>
              </a:rPr>
              <a:t>Testar e avaliar</a:t>
            </a:r>
          </a:p>
        </p:txBody>
      </p:sp>
      <p:sp>
        <p:nvSpPr>
          <p:cNvPr id="114" name="Seta 114"/>
          <p:cNvSpPr/>
          <p:nvPr/>
        </p:nvSpPr>
        <p:spPr>
          <a:xfrm>
            <a:off x="8101584" y="3749040"/>
            <a:ext cx="329184" cy="219456"/>
          </a:xfrm>
          <a:prstGeom prst="rightArrow">
            <a:avLst/>
          </a:prstGeom>
          <a:solidFill>
            <a:srgbClr val="FF5A1F"/>
          </a:solidFill>
          <a:ln>
            <a:noFill/>
          </a:ln>
        </p:spPr>
      </p:sp>
      <p:sp>
        <p:nvSpPr>
          <p:cNvPr id="115" name="Etiqueta 115"/>
          <p:cNvSpPr/>
          <p:nvPr/>
        </p:nvSpPr>
        <p:spPr>
          <a:xfrm>
            <a:off x="8503920" y="3657600"/>
            <a:ext cx="1188720" cy="402336"/>
          </a:xfrm>
          <a:prstGeom prst="roundRect">
            <a:avLst>
              <a:gd name="adj" fmla="val 50000"/>
            </a:avLst>
          </a:prstGeom>
          <a:solidFill>
            <a:srgbClr val="0A2252"/>
          </a:solidFill>
          <a:ln>
            <a:noFill/>
          </a:ln>
        </p:spPr>
        <p:txBody>
          <a:bodyPr wrap="square" lIns="36576" tIns="36576" rIns="36576" bIns="36576" rtlCol="0" anchor="ctr">
            <a:normAutofit/>
          </a:bodyPr>
          <a:lstStyle/>
          <a:p>
            <a:pPr algn="ctr" marL="0" indent="0">
              <a:buNone/>
            </a:pPr>
            <a:r>
              <a:rPr lang="pt-BR" sz="1200" b="1" dirty="0">
                <a:solidFill>
                  <a:srgbClr val="FFFFFF"/>
                </a:solidFill>
              </a:rPr>
              <a:t>Aprender</a:t>
            </a:r>
          </a:p>
        </p:txBody>
      </p:sp>
      <p:sp>
        <p:nvSpPr>
          <p:cNvPr id="116" name="Texto 116"/>
          <p:cNvSpPr txBox="1"/>
          <p:nvPr/>
        </p:nvSpPr>
        <p:spPr>
          <a:xfrm>
            <a:off x="658368" y="4251960"/>
            <a:ext cx="6309360" cy="640080"/>
          </a:xfrm>
          <a:prstGeom prst="rect">
            <a:avLst/>
          </a:prstGeom>
          <a:noFill/>
          <a:ln>
            <a:noFill/>
          </a:ln>
        </p:spPr>
        <p:txBody>
          <a:bodyPr wrap="square" lIns="0" tIns="0" rIns="0" bIns="0" rtlCol="0" anchor="t">
            <a:normAutofit/>
          </a:bodyPr>
          <a:lstStyle/>
          <a:p>
            <a:pPr algn="l" marL="0" indent="0">
              <a:lnSpc>
                <a:spcPct val="110000"/>
              </a:lnSpc>
              <a:buNone/>
            </a:pPr>
            <a:r>
              <a:rPr lang="pt-BR" sz="1300" dirty="0">
                <a:solidFill>
                  <a:srgbClr val="667085"/>
                </a:solidFill>
              </a:rPr>
              <a:t>Protótipo com baralho de 24 cartas, checklist bilíngue e ciclo de aplicação em cinco passos.</a:t>
            </a:r>
          </a:p>
        </p:txBody>
      </p:sp>
      <p:sp>
        <p:nvSpPr>
          <p:cNvPr id="117" name="Roteiro 117"/>
          <p:cNvSpPr/>
          <p:nvPr/>
        </p:nvSpPr>
        <p:spPr>
          <a:xfrm>
            <a:off x="7269480" y="5230368"/>
            <a:ext cx="4251960" cy="1005840"/>
          </a:xfrm>
          <a:prstGeom prst="roundRect">
            <a:avLst>
              <a:gd name="adj" fmla="val 8000"/>
            </a:avLst>
          </a:prstGeom>
          <a:solidFill>
            <a:srgbClr val="FFFFFF"/>
          </a:solidFill>
          <a:ln w="12700">
            <a:solidFill>
              <a:srgbClr val="FFD1BE"/>
            </a:solidFill>
          </a:ln>
        </p:spPr>
        <p:txBody>
          <a:bodyPr wrap="square" lIns="91440" tIns="91440" rIns="91440" bIns="91440" rtlCol="0" anchor="ctr">
            <a:normAutofit/>
          </a:bodyPr>
          <a:lstStyle/>
          <a:p>
            <a:pPr algn="l" marL="171450" indent="-171450">
              <a:spcAft>
                <a:spcPts val="150"/>
              </a:spcAft>
              <a:buFont typeface="Arial"/>
              <a:buChar char="•"/>
            </a:pPr>
            <a:r>
              <a:rPr lang="pt-BR" sz="1050" dirty="0">
                <a:solidFill>
                  <a:srgbClr val="26364F"/>
                </a:solidFill>
              </a:rPr>
              <a:t>Seis lentes de diagnóstico</a:t>
            </a:r>
          </a:p>
          <a:p>
            <a:pPr algn="l" marL="171450" indent="-171450">
              <a:spcAft>
                <a:spcPts val="150"/>
              </a:spcAft>
              <a:buFont typeface="Arial"/>
              <a:buChar char="•"/>
            </a:pPr>
            <a:r>
              <a:rPr lang="pt-BR" sz="1050" dirty="0">
                <a:solidFill>
                  <a:srgbClr val="26364F"/>
                </a:solidFill>
              </a:rPr>
              <a:t>Ciclo: observar, diagnosticar, redesenhar</a:t>
            </a:r>
          </a:p>
          <a:p>
            <a:pPr algn="l" marL="171450" indent="-171450">
              <a:spcAft>
                <a:spcPts val="150"/>
              </a:spcAft>
              <a:buFont typeface="Arial"/>
              <a:buChar char="•"/>
            </a:pPr>
            <a:r>
              <a:rPr lang="pt-BR" sz="1050" dirty="0">
                <a:solidFill>
                  <a:srgbClr val="26364F"/>
                </a:solidFill>
              </a:rPr>
              <a:t>Gestão baseada em confiança (Torfing, 2023)</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58368" y="896112"/>
            <a:ext cx="9052560" cy="502920"/>
          </a:xfrm>
          <a:prstGeom prst="rect">
            <a:avLst/>
          </a:prstGeom>
          <a:noFill/>
          <a:ln/>
        </p:spPr>
        <p:txBody>
          <a:bodyPr wrap="square" lIns="0" tIns="0" rIns="0" bIns="0" rtlCol="0" anchor="ctr">
            <a:normAutofit/>
          </a:bodyPr>
          <a:lstStyle/>
          <a:p>
            <a:pPr marL="0" indent="0">
              <a:buNone/>
            </a:pPr>
            <a:r>
              <a:rPr lang="pt-BR" sz="2600" b="1" dirty="0">
                <a:solidFill>
                  <a:srgbClr val="0A2252"/>
                </a:solidFill>
                <a:latin typeface="Aptos Display" pitchFamily="34" charset="0"/>
                <a:ea typeface="Aptos Display" pitchFamily="34" charset="-122"/>
                <a:cs typeface="Aptos Display" pitchFamily="34" charset="-120"/>
              </a:rPr>
              <a:t>EXEMPLO: NOVO PROTOCOLO DE ATENDIMENTO</a:t>
            </a:r>
            <a:endParaRPr lang="en-US" sz="2600" dirty="0"/>
          </a:p>
        </p:txBody>
      </p:sp>
      <p:sp>
        <p:nvSpPr>
          <p:cNvPr id="3" name="Shape 1"/>
          <p:cNvSpPr/>
          <p:nvPr/>
        </p:nvSpPr>
        <p:spPr>
          <a:xfrm>
            <a:off x="658368" y="1536192"/>
            <a:ext cx="822960" cy="0"/>
          </a:xfrm>
          <a:prstGeom prst="line">
            <a:avLst/>
          </a:prstGeom>
          <a:noFill/>
          <a:ln w="44450">
            <a:solidFill>
              <a:srgbClr val="FF5A1F"/>
            </a:solidFill>
            <a:prstDash val="solid"/>
          </a:ln>
        </p:spPr>
        <p:txBody>
          <a:bodyPr/>
          <a:lstStyle/>
          <a:p>
            <a:endParaRPr lang="pt-BR"/>
          </a:p>
        </p:txBody>
      </p:sp>
      <p:sp>
        <p:nvSpPr>
          <p:cNvPr id="25" name="Slide Number Placeholder 0"/>
          <p:cNvSpPr>
            <a:spLocks noGrp="1"/>
          </p:cNvSpPr>
          <p:nvPr>
            <p:ph type="sldNum" sz="quarter" idx="4294967295"/>
          </p:nvPr>
        </p:nvSpPr>
        <p:spPr>
          <a:xfrm>
            <a:off x="11631168" y="6473952"/>
            <a:ext cx="420000" cy="164592"/>
          </a:xfrm>
          <a:prstGeom prst="rect">
            <a:avLst/>
          </a:prstGeom>
          <a:extLst>
            <a:ext uri="{C572A759-6A51-4108-AA02-DFA0A04FC94B}">
              <ma14:wrappingTextBoxFlag xmlns:ma14="http://schemas.microsoft.com/office/mac/drawingml/2011/main" xmlns="" val="0"/>
            </a:ext>
          </a:extLst>
        </p:spPr>
        <p:txBody>
          <a:bodyPr/>
          <a:lstStyle>
            <a:lvl1pPr>
              <a:defRPr sz="850">
                <a:solidFill>
                  <a:srgbClr val="7D8797"/>
                </a:solidFill>
              </a:defRPr>
            </a:lvl1pPr>
          </a:lstStyle>
          <a:p>
            <a:pPr algn="r"/>
            <a:fld id="{F7021451-1387-4CA6-816F-3879F97B5CBC}" type="slidenum">
              <a:rPr lang="en-US" b="0"/>
              <a:t>2</a:t>
            </a:fld>
            <a:endParaRPr lang="en-US"/>
          </a:p>
        </p:txBody>
      </p:sp>
      <p:pic>
        <p:nvPicPr>
          <p:cNvPr id="9" name="Imagem 8">
            <a:extLst>
              <a:ext uri="{FF2B5EF4-FFF2-40B4-BE49-F238E27FC236}">
                <a16:creationId xmlns:a16="http://schemas.microsoft.com/office/drawing/2014/main" id="{35A0857D-7EDC-DFF6-3CFE-A70D6D0695B9}"/>
              </a:ext>
            </a:extLst>
          </p:cNvPr>
          <p:cNvPicPr>
            <a:picLocks noChangeAspect="1"/>
          </p:cNvPicPr>
          <p:nvPr/>
        </p:nvPicPr>
        <p:blipFill>
          <a:blip r:embed="rId3"/>
          <a:srcRect l="-577" t="22570" r="577" b="16329"/>
          <a:stretch>
            <a:fillRect/>
          </a:stretch>
        </p:blipFill>
        <p:spPr>
          <a:xfrm>
            <a:off x="199282" y="5178555"/>
            <a:ext cx="2564091" cy="1566665"/>
          </a:xfrm>
          <a:prstGeom prst="rect">
            <a:avLst/>
          </a:prstGeom>
        </p:spPr>
      </p:pic>
      <p:sp>
        <p:nvSpPr>
          <p:cNvPr id="101" name="Caso 101"/>
          <p:cNvSpPr/>
          <p:nvPr/>
        </p:nvSpPr>
        <p:spPr>
          <a:xfrm>
            <a:off x="658368" y="1737360"/>
            <a:ext cx="10863072" cy="868680"/>
          </a:xfrm>
          <a:prstGeom prst="roundRect">
            <a:avLst>
              <a:gd name="adj" fmla="val 10000"/>
            </a:avLst>
          </a:prstGeom>
          <a:solidFill>
            <a:srgbClr val="FFF3ED"/>
          </a:solidFill>
          <a:ln w="12700">
            <a:solidFill>
              <a:srgbClr val="FFD1BE"/>
            </a:solidFill>
          </a:ln>
        </p:spPr>
        <p:txBody>
          <a:bodyPr wrap="square" lIns="228600" tIns="228600" rIns="228600" bIns="228600" rtlCol="0" anchor="ctr">
            <a:normAutofit/>
          </a:bodyPr>
          <a:lstStyle/>
          <a:p>
            <a:pPr algn="l" marL="0" indent="0">
              <a:lnSpc>
                <a:spcPct val="110000"/>
              </a:lnSpc>
              <a:buNone/>
            </a:pPr>
            <a:r>
              <a:rPr lang="pt-BR" sz="1600" dirty="0">
                <a:solidFill>
                  <a:srgbClr val="0A2252"/>
                </a:solidFill>
              </a:rPr>
              <a:t>O fluxo foi redesenhado, a meta foi definida e a equipe foi comunicada. Após três meses, o tempo de atendimento pouco mudou. </a:t>
            </a:r>
            <a:r>
              <a:rPr lang="pt-BR" sz="1600" b="1" dirty="0">
                <a:solidFill>
                  <a:srgbClr val="FF5A1F"/>
                </a:solidFill>
              </a:rPr>
              <a:t>Onde investigar?</a:t>
            </a:r>
          </a:p>
        </p:txBody>
      </p:sp>
      <p:sp>
        <p:nvSpPr>
          <p:cNvPr id="102" name="Cartão 102"/>
          <p:cNvSpPr/>
          <p:nvPr/>
        </p:nvSpPr>
        <p:spPr>
          <a:xfrm>
            <a:off x="658368" y="2880360"/>
            <a:ext cx="2026310" cy="1783080"/>
          </a:xfrm>
          <a:prstGeom prst="roundRect">
            <a:avLst>
              <a:gd name="adj" fmla="val 6000"/>
            </a:avLst>
          </a:prstGeom>
          <a:solidFill>
            <a:srgbClr val="FFFFFF"/>
          </a:solidFill>
          <a:ln w="12700">
            <a:solidFill>
              <a:srgbClr val="E7E2DA"/>
            </a:solidFill>
          </a:ln>
          <a:effectLst>
            <a:outerShdw blurRad="76200" dist="19050" dir="5400000" algn="t" rotWithShape="0">
              <a:srgbClr val="0A2252">
                <a:alpha val="12000"/>
              </a:srgbClr>
            </a:outerShdw>
          </a:effectLst>
        </p:spPr>
        <p:txBody>
          <a:bodyPr wrap="square" lIns="146304" tIns="146304" rIns="146304" bIns="146304" rtlCol="0" anchor="t">
            <a:normAutofit/>
          </a:bodyPr>
          <a:lstStyle/>
          <a:p>
            <a:pPr algn="l" marL="0" indent="0">
              <a:lnSpc>
                <a:spcPct val="100000"/>
              </a:lnSpc>
              <a:spcAft>
                <a:spcPts val="500"/>
              </a:spcAft>
              <a:buNone/>
            </a:pPr>
            <a:r>
              <a:rPr lang="pt-BR" sz="1400" b="1" dirty="0">
                <a:solidFill>
                  <a:srgbClr val="0A2252"/>
                </a:solidFill>
                <a:latin typeface="Aptos Display"/>
                <a:ea typeface="Aptos Display"/>
                <a:cs typeface="Aptos Display"/>
              </a:rPr>
              <a:t>Arranjo</a:t>
            </a:r>
          </a:p>
          <a:p>
            <a:pPr algn="l" marL="0" indent="0">
              <a:lnSpc>
                <a:spcPct val="105000"/>
              </a:lnSpc>
              <a:buNone/>
            </a:pPr>
            <a:r>
              <a:rPr lang="pt-BR" sz="1300" dirty="0">
                <a:solidFill>
                  <a:srgbClr val="26364F"/>
                </a:solidFill>
              </a:rPr>
              <a:t>A distribuição de pessoas e recursos mudou?</a:t>
            </a:r>
          </a:p>
        </p:txBody>
      </p:sp>
      <p:sp>
        <p:nvSpPr>
          <p:cNvPr id="103" name="Cartão 103"/>
          <p:cNvSpPr/>
          <p:nvPr/>
        </p:nvSpPr>
        <p:spPr>
          <a:xfrm>
            <a:off x="2867558" y="2880360"/>
            <a:ext cx="2026310" cy="1783080"/>
          </a:xfrm>
          <a:prstGeom prst="roundRect">
            <a:avLst>
              <a:gd name="adj" fmla="val 6000"/>
            </a:avLst>
          </a:prstGeom>
          <a:solidFill>
            <a:srgbClr val="FFFFFF"/>
          </a:solidFill>
          <a:ln w="12700">
            <a:solidFill>
              <a:srgbClr val="E7E2DA"/>
            </a:solidFill>
          </a:ln>
          <a:effectLst>
            <a:outerShdw blurRad="76200" dist="19050" dir="5400000" algn="t" rotWithShape="0">
              <a:srgbClr val="0A2252">
                <a:alpha val="12000"/>
              </a:srgbClr>
            </a:outerShdw>
          </a:effectLst>
        </p:spPr>
        <p:txBody>
          <a:bodyPr wrap="square" lIns="146304" tIns="146304" rIns="146304" bIns="146304" rtlCol="0" anchor="t">
            <a:normAutofit/>
          </a:bodyPr>
          <a:lstStyle/>
          <a:p>
            <a:pPr algn="l" marL="0" indent="0">
              <a:lnSpc>
                <a:spcPct val="100000"/>
              </a:lnSpc>
              <a:spcAft>
                <a:spcPts val="500"/>
              </a:spcAft>
              <a:buNone/>
            </a:pPr>
            <a:r>
              <a:rPr lang="pt-BR" sz="1400" b="1" dirty="0">
                <a:solidFill>
                  <a:srgbClr val="0A2252"/>
                </a:solidFill>
                <a:latin typeface="Aptos Display"/>
                <a:ea typeface="Aptos Display"/>
                <a:cs typeface="Aptos Display"/>
              </a:rPr>
              <a:t>Rotinas</a:t>
            </a:r>
          </a:p>
          <a:p>
            <a:pPr algn="l" marL="0" indent="0">
              <a:lnSpc>
                <a:spcPct val="105000"/>
              </a:lnSpc>
              <a:buNone/>
            </a:pPr>
            <a:r>
              <a:rPr lang="pt-BR" sz="1300" dirty="0">
                <a:solidFill>
                  <a:srgbClr val="26364F"/>
                </a:solidFill>
              </a:rPr>
              <a:t>O trabalho real seguiu o fluxo prescrito?</a:t>
            </a:r>
          </a:p>
        </p:txBody>
      </p:sp>
      <p:sp>
        <p:nvSpPr>
          <p:cNvPr id="104" name="Cartão 104"/>
          <p:cNvSpPr/>
          <p:nvPr/>
        </p:nvSpPr>
        <p:spPr>
          <a:xfrm>
            <a:off x="5076749" y="2880360"/>
            <a:ext cx="2026310" cy="1783080"/>
          </a:xfrm>
          <a:prstGeom prst="roundRect">
            <a:avLst>
              <a:gd name="adj" fmla="val 6000"/>
            </a:avLst>
          </a:prstGeom>
          <a:solidFill>
            <a:srgbClr val="FFFFFF"/>
          </a:solidFill>
          <a:ln w="12700">
            <a:solidFill>
              <a:srgbClr val="E7E2DA"/>
            </a:solidFill>
          </a:ln>
          <a:effectLst>
            <a:outerShdw blurRad="76200" dist="19050" dir="5400000" algn="t" rotWithShape="0">
              <a:srgbClr val="0A2252">
                <a:alpha val="12000"/>
              </a:srgbClr>
            </a:outerShdw>
          </a:effectLst>
        </p:spPr>
        <p:txBody>
          <a:bodyPr wrap="square" lIns="146304" tIns="146304" rIns="146304" bIns="146304" rtlCol="0" anchor="t">
            <a:normAutofit/>
          </a:bodyPr>
          <a:lstStyle/>
          <a:p>
            <a:pPr algn="l" marL="0" indent="0">
              <a:lnSpc>
                <a:spcPct val="100000"/>
              </a:lnSpc>
              <a:spcAft>
                <a:spcPts val="500"/>
              </a:spcAft>
              <a:buNone/>
            </a:pPr>
            <a:r>
              <a:rPr lang="pt-BR" sz="1400" b="1" dirty="0">
                <a:solidFill>
                  <a:srgbClr val="0A2252"/>
                </a:solidFill>
                <a:latin typeface="Aptos Display"/>
                <a:ea typeface="Aptos Display"/>
                <a:cs typeface="Aptos Display"/>
              </a:rPr>
              <a:t>Experiência</a:t>
            </a:r>
          </a:p>
          <a:p>
            <a:pPr algn="l" marL="0" indent="0">
              <a:lnSpc>
                <a:spcPct val="105000"/>
              </a:lnSpc>
              <a:buNone/>
            </a:pPr>
            <a:r>
              <a:rPr lang="pt-BR" sz="1300" dirty="0">
                <a:solidFill>
                  <a:srgbClr val="26364F"/>
                </a:solidFill>
              </a:rPr>
              <a:t>Usuários e equipe compreenderam a mudança?</a:t>
            </a:r>
          </a:p>
        </p:txBody>
      </p:sp>
      <p:sp>
        <p:nvSpPr>
          <p:cNvPr id="105" name="Cartão 105"/>
          <p:cNvSpPr/>
          <p:nvPr/>
        </p:nvSpPr>
        <p:spPr>
          <a:xfrm>
            <a:off x="7285939" y="2880360"/>
            <a:ext cx="2026310" cy="1783080"/>
          </a:xfrm>
          <a:prstGeom prst="roundRect">
            <a:avLst>
              <a:gd name="adj" fmla="val 6000"/>
            </a:avLst>
          </a:prstGeom>
          <a:solidFill>
            <a:srgbClr val="FFFFFF"/>
          </a:solidFill>
          <a:ln w="12700">
            <a:solidFill>
              <a:srgbClr val="E7E2DA"/>
            </a:solidFill>
          </a:ln>
          <a:effectLst>
            <a:outerShdw blurRad="76200" dist="19050" dir="5400000" algn="t" rotWithShape="0">
              <a:srgbClr val="0A2252">
                <a:alpha val="12000"/>
              </a:srgbClr>
            </a:outerShdw>
          </a:effectLst>
        </p:spPr>
        <p:txBody>
          <a:bodyPr wrap="square" lIns="146304" tIns="146304" rIns="146304" bIns="146304" rtlCol="0" anchor="t">
            <a:normAutofit/>
          </a:bodyPr>
          <a:lstStyle/>
          <a:p>
            <a:pPr algn="l" marL="0" indent="0">
              <a:lnSpc>
                <a:spcPct val="100000"/>
              </a:lnSpc>
              <a:spcAft>
                <a:spcPts val="500"/>
              </a:spcAft>
              <a:buNone/>
            </a:pPr>
            <a:r>
              <a:rPr lang="pt-BR" sz="1400" b="1" dirty="0">
                <a:solidFill>
                  <a:srgbClr val="0A2252"/>
                </a:solidFill>
                <a:latin typeface="Aptos Display"/>
                <a:ea typeface="Aptos Display"/>
                <a:cs typeface="Aptos Display"/>
              </a:rPr>
              <a:t>Navegabilidade</a:t>
            </a:r>
          </a:p>
          <a:p>
            <a:pPr algn="l" marL="0" indent="0">
              <a:lnSpc>
                <a:spcPct val="105000"/>
              </a:lnSpc>
              <a:buNone/>
            </a:pPr>
            <a:r>
              <a:rPr lang="pt-BR" sz="1300" dirty="0">
                <a:solidFill>
                  <a:srgbClr val="26364F"/>
                </a:solidFill>
              </a:rPr>
              <a:t>O percurso ficou mais claro?</a:t>
            </a:r>
          </a:p>
        </p:txBody>
      </p:sp>
      <p:sp>
        <p:nvSpPr>
          <p:cNvPr id="106" name="Cartão 106"/>
          <p:cNvSpPr/>
          <p:nvPr/>
        </p:nvSpPr>
        <p:spPr>
          <a:xfrm>
            <a:off x="9495130" y="2880360"/>
            <a:ext cx="2026310" cy="1783080"/>
          </a:xfrm>
          <a:prstGeom prst="roundRect">
            <a:avLst>
              <a:gd name="adj" fmla="val 6000"/>
            </a:avLst>
          </a:prstGeom>
          <a:solidFill>
            <a:srgbClr val="FFFFFF"/>
          </a:solidFill>
          <a:ln w="12700">
            <a:solidFill>
              <a:srgbClr val="E7E2DA"/>
            </a:solidFill>
          </a:ln>
          <a:effectLst>
            <a:outerShdw blurRad="76200" dist="19050" dir="5400000" algn="t" rotWithShape="0">
              <a:srgbClr val="0A2252">
                <a:alpha val="12000"/>
              </a:srgbClr>
            </a:outerShdw>
          </a:effectLst>
        </p:spPr>
        <p:txBody>
          <a:bodyPr wrap="square" lIns="146304" tIns="146304" rIns="146304" bIns="146304" rtlCol="0" anchor="t">
            <a:normAutofit/>
          </a:bodyPr>
          <a:lstStyle/>
          <a:p>
            <a:pPr algn="l" marL="0" indent="0">
              <a:lnSpc>
                <a:spcPct val="100000"/>
              </a:lnSpc>
              <a:spcAft>
                <a:spcPts val="500"/>
              </a:spcAft>
              <a:buNone/>
            </a:pPr>
            <a:r>
              <a:rPr lang="pt-BR" sz="1400" b="1" dirty="0">
                <a:solidFill>
                  <a:srgbClr val="0A2252"/>
                </a:solidFill>
                <a:latin typeface="Aptos Display"/>
                <a:ea typeface="Aptos Display"/>
                <a:cs typeface="Aptos Display"/>
              </a:rPr>
              <a:t>Aprendizagem</a:t>
            </a:r>
          </a:p>
          <a:p>
            <a:pPr algn="l" marL="0" indent="0">
              <a:lnSpc>
                <a:spcPct val="105000"/>
              </a:lnSpc>
              <a:buNone/>
            </a:pPr>
            <a:r>
              <a:rPr lang="pt-BR" sz="1300" dirty="0">
                <a:solidFill>
                  <a:srgbClr val="26364F"/>
                </a:solidFill>
              </a:rPr>
              <a:t>As falhas voltaram para quem decide?</a:t>
            </a:r>
          </a:p>
        </p:txBody>
      </p:sp>
      <p:sp>
        <p:nvSpPr>
          <p:cNvPr id="107" name="Roteiro 107"/>
          <p:cNvSpPr/>
          <p:nvPr/>
        </p:nvSpPr>
        <p:spPr>
          <a:xfrm>
            <a:off x="7269480" y="5230368"/>
            <a:ext cx="4251960" cy="1005840"/>
          </a:xfrm>
          <a:prstGeom prst="roundRect">
            <a:avLst>
              <a:gd name="adj" fmla="val 8000"/>
            </a:avLst>
          </a:prstGeom>
          <a:solidFill>
            <a:srgbClr val="FFFFFF"/>
          </a:solidFill>
          <a:ln w="12700">
            <a:solidFill>
              <a:srgbClr val="FFD1BE"/>
            </a:solidFill>
          </a:ln>
        </p:spPr>
        <p:txBody>
          <a:bodyPr wrap="square" lIns="91440" tIns="91440" rIns="91440" bIns="91440" rtlCol="0" anchor="ctr">
            <a:normAutofit/>
          </a:bodyPr>
          <a:lstStyle/>
          <a:p>
            <a:pPr algn="l" marL="171450" indent="-171450">
              <a:spcAft>
                <a:spcPts val="150"/>
              </a:spcAft>
              <a:buFont typeface="Arial"/>
              <a:buChar char="•"/>
            </a:pPr>
            <a:r>
              <a:rPr lang="pt-BR" sz="1050" dirty="0">
                <a:solidFill>
                  <a:srgbClr val="26364F"/>
                </a:solidFill>
              </a:rPr>
              <a:t>A regra mudou e o resultado ficou parecido</a:t>
            </a:r>
          </a:p>
          <a:p>
            <a:pPr algn="l" marL="171450" indent="-171450">
              <a:spcAft>
                <a:spcPts val="150"/>
              </a:spcAft>
              <a:buFont typeface="Arial"/>
              <a:buChar char="•"/>
            </a:pPr>
            <a:r>
              <a:rPr lang="pt-BR" sz="1050" dirty="0">
                <a:solidFill>
                  <a:srgbClr val="26364F"/>
                </a:solidFill>
              </a:rPr>
              <a:t>Investigar pelas lentes do Método ARENAS</a:t>
            </a:r>
          </a:p>
          <a:p>
            <a:pPr algn="l" marL="171450" indent="-171450">
              <a:spcAft>
                <a:spcPts val="150"/>
              </a:spcAft>
              <a:buFont typeface="Arial"/>
              <a:buChar char="•"/>
            </a:pPr>
            <a:r>
              <a:rPr lang="pt-BR" sz="1050" dirty="0">
                <a:solidFill>
                  <a:srgbClr val="26364F"/>
                </a:solidFill>
              </a:rPr>
              <a:t>Gestão baseada em evidências (Briner; Denyer; Rousseau, 2009)</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58368" y="896112"/>
            <a:ext cx="9052560" cy="502920"/>
          </a:xfrm>
          <a:prstGeom prst="rect">
            <a:avLst/>
          </a:prstGeom>
          <a:noFill/>
          <a:ln/>
        </p:spPr>
        <p:txBody>
          <a:bodyPr wrap="square" lIns="0" tIns="0" rIns="0" bIns="0" rtlCol="0" anchor="ctr">
            <a:normAutofit/>
          </a:bodyPr>
          <a:lstStyle/>
          <a:p>
            <a:pPr marL="0" indent="0">
              <a:buNone/>
            </a:pPr>
            <a:r>
              <a:rPr lang="pt-BR" sz="2600" b="1" dirty="0">
                <a:solidFill>
                  <a:srgbClr val="0A2252"/>
                </a:solidFill>
                <a:latin typeface="Aptos Display" pitchFamily="34" charset="0"/>
                <a:ea typeface="Aptos Display" pitchFamily="34" charset="-122"/>
                <a:cs typeface="Aptos Display" pitchFamily="34" charset="-120"/>
              </a:rPr>
              <a:t>PESQUISA EMPÍRICA COMO COMPETÊNCIA</a:t>
            </a:r>
            <a:endParaRPr lang="en-US" sz="2600" dirty="0"/>
          </a:p>
        </p:txBody>
      </p:sp>
      <p:sp>
        <p:nvSpPr>
          <p:cNvPr id="3" name="Shape 1"/>
          <p:cNvSpPr/>
          <p:nvPr/>
        </p:nvSpPr>
        <p:spPr>
          <a:xfrm>
            <a:off x="658368" y="1536192"/>
            <a:ext cx="822960" cy="0"/>
          </a:xfrm>
          <a:prstGeom prst="line">
            <a:avLst/>
          </a:prstGeom>
          <a:noFill/>
          <a:ln w="44450">
            <a:solidFill>
              <a:srgbClr val="FF5A1F"/>
            </a:solidFill>
            <a:prstDash val="solid"/>
          </a:ln>
        </p:spPr>
        <p:txBody>
          <a:bodyPr/>
          <a:lstStyle/>
          <a:p>
            <a:endParaRPr lang="pt-BR"/>
          </a:p>
        </p:txBody>
      </p:sp>
      <p:sp>
        <p:nvSpPr>
          <p:cNvPr id="25" name="Slide Number Placeholder 0"/>
          <p:cNvSpPr>
            <a:spLocks noGrp="1"/>
          </p:cNvSpPr>
          <p:nvPr>
            <p:ph type="sldNum" sz="quarter" idx="4294967295"/>
          </p:nvPr>
        </p:nvSpPr>
        <p:spPr>
          <a:xfrm>
            <a:off x="11631168" y="6473952"/>
            <a:ext cx="420000" cy="164592"/>
          </a:xfrm>
          <a:prstGeom prst="rect">
            <a:avLst/>
          </a:prstGeom>
          <a:extLst>
            <a:ext uri="{C572A759-6A51-4108-AA02-DFA0A04FC94B}">
              <ma14:wrappingTextBoxFlag xmlns:ma14="http://schemas.microsoft.com/office/mac/drawingml/2011/main" xmlns="" val="0"/>
            </a:ext>
          </a:extLst>
        </p:spPr>
        <p:txBody>
          <a:bodyPr/>
          <a:lstStyle>
            <a:lvl1pPr>
              <a:defRPr sz="850">
                <a:solidFill>
                  <a:srgbClr val="7D8797"/>
                </a:solidFill>
              </a:defRPr>
            </a:lvl1pPr>
          </a:lstStyle>
          <a:p>
            <a:pPr algn="r"/>
            <a:fld id="{F7021451-1387-4CA6-816F-3879F97B5CBC}" type="slidenum">
              <a:rPr lang="en-US" b="0"/>
              <a:t>2</a:t>
            </a:fld>
            <a:endParaRPr lang="en-US"/>
          </a:p>
        </p:txBody>
      </p:sp>
      <p:pic>
        <p:nvPicPr>
          <p:cNvPr id="9" name="Imagem 8">
            <a:extLst>
              <a:ext uri="{FF2B5EF4-FFF2-40B4-BE49-F238E27FC236}">
                <a16:creationId xmlns:a16="http://schemas.microsoft.com/office/drawing/2014/main" id="{35A0857D-7EDC-DFF6-3CFE-A70D6D0695B9}"/>
              </a:ext>
            </a:extLst>
          </p:cNvPr>
          <p:cNvPicPr>
            <a:picLocks noChangeAspect="1"/>
          </p:cNvPicPr>
          <p:nvPr/>
        </p:nvPicPr>
        <p:blipFill>
          <a:blip r:embed="rId3"/>
          <a:srcRect l="-577" t="22570" r="577" b="16329"/>
          <a:stretch>
            <a:fillRect/>
          </a:stretch>
        </p:blipFill>
        <p:spPr>
          <a:xfrm>
            <a:off x="199282" y="5178555"/>
            <a:ext cx="2564091" cy="1566665"/>
          </a:xfrm>
          <a:prstGeom prst="rect">
            <a:avLst/>
          </a:prstGeom>
        </p:spPr>
      </p:pic>
      <p:sp>
        <p:nvSpPr>
          <p:cNvPr id="101" name="Cartão 101"/>
          <p:cNvSpPr/>
          <p:nvPr/>
        </p:nvSpPr>
        <p:spPr>
          <a:xfrm>
            <a:off x="658368" y="1783080"/>
            <a:ext cx="2514600" cy="1024128"/>
          </a:xfrm>
          <a:prstGeom prst="roundRect">
            <a:avLst>
              <a:gd name="adj" fmla="val 6000"/>
            </a:avLst>
          </a:prstGeom>
          <a:solidFill>
            <a:srgbClr val="FFFFFF"/>
          </a:solidFill>
          <a:ln w="12700">
            <a:solidFill>
              <a:srgbClr val="E7E2DA"/>
            </a:solidFill>
          </a:ln>
          <a:effectLst>
            <a:outerShdw blurRad="76200" dist="19050" dir="5400000" algn="t" rotWithShape="0">
              <a:srgbClr val="0A2252">
                <a:alpha val="12000"/>
              </a:srgbClr>
            </a:outerShdw>
          </a:effectLst>
        </p:spPr>
        <p:txBody>
          <a:bodyPr wrap="square" lIns="164592" tIns="164592" rIns="164592" bIns="164592" rtlCol="0" anchor="ctr">
            <a:normAutofit/>
          </a:bodyPr>
          <a:lstStyle/>
          <a:p>
            <a:pPr algn="l" marL="0" indent="0">
              <a:lnSpc>
                <a:spcPct val="100000"/>
              </a:lnSpc>
              <a:spcAft>
                <a:spcPts val="500"/>
              </a:spcAft>
              <a:buNone/>
            </a:pPr>
            <a:r>
              <a:rPr lang="pt-BR" sz="1700" b="1" dirty="0">
                <a:solidFill>
                  <a:srgbClr val="0A2252"/>
                </a:solidFill>
                <a:latin typeface="Aptos Display"/>
                <a:ea typeface="Aptos Display"/>
                <a:cs typeface="Aptos Display"/>
              </a:rPr>
              <a:t>Problema</a:t>
            </a:r>
          </a:p>
          <a:p>
            <a:pPr algn="l" marL="0" indent="0">
              <a:lnSpc>
                <a:spcPct val="105000"/>
              </a:lnSpc>
              <a:buNone/>
            </a:pPr>
            <a:r>
              <a:rPr lang="pt-BR" sz="1300" dirty="0">
                <a:solidFill>
                  <a:srgbClr val="26364F"/>
                </a:solidFill>
              </a:rPr>
              <a:t>Enxergar além do sintoma</a:t>
            </a:r>
          </a:p>
        </p:txBody>
      </p:sp>
      <p:sp>
        <p:nvSpPr>
          <p:cNvPr id="102" name="Cartão 102"/>
          <p:cNvSpPr/>
          <p:nvPr/>
        </p:nvSpPr>
        <p:spPr>
          <a:xfrm>
            <a:off x="3355848" y="1783080"/>
            <a:ext cx="2514600" cy="1024128"/>
          </a:xfrm>
          <a:prstGeom prst="roundRect">
            <a:avLst>
              <a:gd name="adj" fmla="val 6000"/>
            </a:avLst>
          </a:prstGeom>
          <a:solidFill>
            <a:srgbClr val="FFFFFF"/>
          </a:solidFill>
          <a:ln w="12700">
            <a:solidFill>
              <a:srgbClr val="E7E2DA"/>
            </a:solidFill>
          </a:ln>
          <a:effectLst>
            <a:outerShdw blurRad="76200" dist="19050" dir="5400000" algn="t" rotWithShape="0">
              <a:srgbClr val="0A2252">
                <a:alpha val="12000"/>
              </a:srgbClr>
            </a:outerShdw>
          </a:effectLst>
        </p:spPr>
        <p:txBody>
          <a:bodyPr wrap="square" lIns="164592" tIns="164592" rIns="164592" bIns="164592" rtlCol="0" anchor="ctr">
            <a:normAutofit/>
          </a:bodyPr>
          <a:lstStyle/>
          <a:p>
            <a:pPr algn="l" marL="0" indent="0">
              <a:lnSpc>
                <a:spcPct val="100000"/>
              </a:lnSpc>
              <a:spcAft>
                <a:spcPts val="500"/>
              </a:spcAft>
              <a:buNone/>
            </a:pPr>
            <a:r>
              <a:rPr lang="pt-BR" sz="1700" b="1" dirty="0">
                <a:solidFill>
                  <a:srgbClr val="0A2252"/>
                </a:solidFill>
                <a:latin typeface="Aptos Display"/>
                <a:ea typeface="Aptos Display"/>
                <a:cs typeface="Aptos Display"/>
              </a:rPr>
              <a:t>Método</a:t>
            </a:r>
          </a:p>
          <a:p>
            <a:pPr algn="l" marL="0" indent="0">
              <a:lnSpc>
                <a:spcPct val="105000"/>
              </a:lnSpc>
              <a:buNone/>
            </a:pPr>
            <a:r>
              <a:rPr lang="pt-BR" sz="1300" dirty="0">
                <a:solidFill>
                  <a:srgbClr val="26364F"/>
                </a:solidFill>
              </a:rPr>
              <a:t>Organizar a investigação</a:t>
            </a:r>
          </a:p>
        </p:txBody>
      </p:sp>
      <p:sp>
        <p:nvSpPr>
          <p:cNvPr id="103" name="Cartão 103"/>
          <p:cNvSpPr/>
          <p:nvPr/>
        </p:nvSpPr>
        <p:spPr>
          <a:xfrm>
            <a:off x="658368" y="2971800"/>
            <a:ext cx="2514600" cy="1024128"/>
          </a:xfrm>
          <a:prstGeom prst="roundRect">
            <a:avLst>
              <a:gd name="adj" fmla="val 6000"/>
            </a:avLst>
          </a:prstGeom>
          <a:solidFill>
            <a:srgbClr val="FFFFFF"/>
          </a:solidFill>
          <a:ln w="12700">
            <a:solidFill>
              <a:srgbClr val="E7E2DA"/>
            </a:solidFill>
          </a:ln>
          <a:effectLst>
            <a:outerShdw blurRad="76200" dist="19050" dir="5400000" algn="t" rotWithShape="0">
              <a:srgbClr val="0A2252">
                <a:alpha val="12000"/>
              </a:srgbClr>
            </a:outerShdw>
          </a:effectLst>
        </p:spPr>
        <p:txBody>
          <a:bodyPr wrap="square" lIns="164592" tIns="164592" rIns="164592" bIns="164592" rtlCol="0" anchor="ctr">
            <a:normAutofit/>
          </a:bodyPr>
          <a:lstStyle/>
          <a:p>
            <a:pPr algn="l" marL="0" indent="0">
              <a:lnSpc>
                <a:spcPct val="100000"/>
              </a:lnSpc>
              <a:spcAft>
                <a:spcPts val="500"/>
              </a:spcAft>
              <a:buNone/>
            </a:pPr>
            <a:r>
              <a:rPr lang="pt-BR" sz="1700" b="1" dirty="0">
                <a:solidFill>
                  <a:srgbClr val="0A2252"/>
                </a:solidFill>
                <a:latin typeface="Aptos Display"/>
                <a:ea typeface="Aptos Display"/>
                <a:cs typeface="Aptos Display"/>
              </a:rPr>
              <a:t>Evidência</a:t>
            </a:r>
          </a:p>
          <a:p>
            <a:pPr algn="l" marL="0" indent="0">
              <a:lnSpc>
                <a:spcPct val="105000"/>
              </a:lnSpc>
              <a:buNone/>
            </a:pPr>
            <a:r>
              <a:rPr lang="pt-BR" sz="1300" dirty="0">
                <a:solidFill>
                  <a:srgbClr val="26364F"/>
                </a:solidFill>
              </a:rPr>
              <a:t>Sustentar decisões</a:t>
            </a:r>
          </a:p>
        </p:txBody>
      </p:sp>
      <p:sp>
        <p:nvSpPr>
          <p:cNvPr id="104" name="Cartão 104"/>
          <p:cNvSpPr/>
          <p:nvPr/>
        </p:nvSpPr>
        <p:spPr>
          <a:xfrm>
            <a:off x="3355848" y="2971800"/>
            <a:ext cx="2514600" cy="1024128"/>
          </a:xfrm>
          <a:prstGeom prst="roundRect">
            <a:avLst>
              <a:gd name="adj" fmla="val 6000"/>
            </a:avLst>
          </a:prstGeom>
          <a:solidFill>
            <a:srgbClr val="0A2252"/>
          </a:solidFill>
          <a:ln>
            <a:noFill/>
          </a:ln>
        </p:spPr>
        <p:txBody>
          <a:bodyPr wrap="square" lIns="164592" tIns="164592" rIns="164592" bIns="164592" rtlCol="0" anchor="ctr">
            <a:normAutofit/>
          </a:bodyPr>
          <a:lstStyle/>
          <a:p>
            <a:pPr algn="l" marL="0" indent="0">
              <a:lnSpc>
                <a:spcPct val="100000"/>
              </a:lnSpc>
              <a:spcAft>
                <a:spcPts val="500"/>
              </a:spcAft>
              <a:buNone/>
            </a:pPr>
            <a:r>
              <a:rPr lang="pt-BR" sz="1700" b="1" dirty="0">
                <a:solidFill>
                  <a:srgbClr val="FF5A1F"/>
                </a:solidFill>
                <a:latin typeface="Aptos Display"/>
                <a:ea typeface="Aptos Display"/>
                <a:cs typeface="Aptos Display"/>
              </a:rPr>
              <a:t>Comunicação</a:t>
            </a:r>
          </a:p>
          <a:p>
            <a:pPr algn="l" marL="0" indent="0">
              <a:lnSpc>
                <a:spcPct val="105000"/>
              </a:lnSpc>
              <a:buNone/>
            </a:pPr>
            <a:r>
              <a:rPr lang="pt-BR" sz="1300" dirty="0">
                <a:solidFill>
                  <a:srgbClr val="FFFFFF"/>
                </a:solidFill>
              </a:rPr>
              <a:t>Produzir autoridade técnica</a:t>
            </a:r>
          </a:p>
        </p:txBody>
      </p:sp>
      <p:sp>
        <p:nvSpPr>
          <p:cNvPr id="105" name="Texto 105"/>
          <p:cNvSpPr txBox="1"/>
          <p:nvPr/>
        </p:nvSpPr>
        <p:spPr>
          <a:xfrm>
            <a:off x="658368" y="4206240"/>
            <a:ext cx="5212080" cy="822960"/>
          </a:xfrm>
          <a:prstGeom prst="rect">
            <a:avLst/>
          </a:prstGeom>
          <a:noFill/>
          <a:ln>
            <a:noFill/>
          </a:ln>
        </p:spPr>
        <p:txBody>
          <a:bodyPr wrap="square" lIns="0" tIns="0" rIns="0" bIns="0" rtlCol="0" anchor="t">
            <a:normAutofit/>
          </a:bodyPr>
          <a:lstStyle/>
          <a:p>
            <a:pPr algn="l" marL="0" indent="0">
              <a:lnSpc>
                <a:spcPct val="110000"/>
              </a:lnSpc>
              <a:buNone/>
            </a:pPr>
            <a:r>
              <a:rPr lang="pt-BR" sz="1400" dirty="0">
                <a:solidFill>
                  <a:srgbClr val="26364F"/>
                </a:solidFill>
              </a:rPr>
              <a:t>A experiência profissional ganha força quando pode ser descrita, analisada e comunicada com método.</a:t>
            </a:r>
          </a:p>
        </p:txBody>
      </p:sp>
      <p:pic>
        <p:nvPicPr>
          <p:cNvPr id="106" name="Imagem 106" descr="Ilustração de um ciclo de observação, análise, discussão e redesenho feito por equipes"/>
          <p:cNvPicPr>
            <a:picLocks noChangeAspect="1"/>
          </p:cNvPicPr>
          <p:nvPr/>
        </p:nvPicPr>
        <p:blipFill>
          <a:blip r:embed="rIdM1"/>
          <a:stretch>
            <a:fillRect/>
          </a:stretch>
        </p:blipFill>
        <p:spPr>
          <a:xfrm>
            <a:off x="6035040" y="1783080"/>
            <a:ext cx="5486400" cy="3090672"/>
          </a:xfrm>
          <a:prstGeom prst="roundRect">
            <a:avLst>
              <a:gd name="adj" fmla="val 4000"/>
            </a:avLst>
          </a:prstGeom>
        </p:spPr>
      </p:pic>
      <p:sp>
        <p:nvSpPr>
          <p:cNvPr id="107" name="Roteiro 107"/>
          <p:cNvSpPr/>
          <p:nvPr/>
        </p:nvSpPr>
        <p:spPr>
          <a:xfrm>
            <a:off x="7269480" y="5230368"/>
            <a:ext cx="4251960" cy="1005840"/>
          </a:xfrm>
          <a:prstGeom prst="roundRect">
            <a:avLst>
              <a:gd name="adj" fmla="val 8000"/>
            </a:avLst>
          </a:prstGeom>
          <a:solidFill>
            <a:srgbClr val="FFFFFF"/>
          </a:solidFill>
          <a:ln w="12700">
            <a:solidFill>
              <a:srgbClr val="FFD1BE"/>
            </a:solidFill>
          </a:ln>
        </p:spPr>
        <p:txBody>
          <a:bodyPr wrap="square" lIns="91440" tIns="91440" rIns="91440" bIns="91440" rtlCol="0" anchor="ctr">
            <a:normAutofit/>
          </a:bodyPr>
          <a:lstStyle/>
          <a:p>
            <a:pPr algn="l" marL="171450" indent="-171450">
              <a:spcAft>
                <a:spcPts val="150"/>
              </a:spcAft>
              <a:buFont typeface="Arial"/>
              <a:buChar char="•"/>
            </a:pPr>
            <a:r>
              <a:rPr lang="pt-BR" sz="1050" dirty="0">
                <a:solidFill>
                  <a:srgbClr val="26364F"/>
                </a:solidFill>
              </a:rPr>
              <a:t>Separar opinião, hipótese e evidência</a:t>
            </a:r>
          </a:p>
          <a:p>
            <a:pPr algn="l" marL="171450" indent="-171450">
              <a:spcAft>
                <a:spcPts val="150"/>
              </a:spcAft>
              <a:buFont typeface="Arial"/>
              <a:buChar char="•"/>
            </a:pPr>
            <a:r>
              <a:rPr lang="pt-BR" sz="1050" dirty="0">
                <a:solidFill>
                  <a:srgbClr val="26364F"/>
                </a:solidFill>
              </a:rPr>
              <a:t>Gestão baseada em evidências (Briner; Denyer; Rousseau, 2009)</a:t>
            </a:r>
          </a:p>
          <a:p>
            <a:pPr algn="l" marL="171450" indent="-171450">
              <a:spcAft>
                <a:spcPts val="150"/>
              </a:spcAft>
              <a:buFont typeface="Arial"/>
              <a:buChar char="•"/>
            </a:pPr>
            <a:r>
              <a:rPr lang="pt-BR" sz="1050" dirty="0">
                <a:solidFill>
                  <a:srgbClr val="26364F"/>
                </a:solidFill>
              </a:rPr>
              <a:t>Comportamento administrativo (Simon, 1947)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58368" y="896112"/>
            <a:ext cx="9052560" cy="502920"/>
          </a:xfrm>
          <a:prstGeom prst="rect">
            <a:avLst/>
          </a:prstGeom>
          <a:noFill/>
          <a:ln/>
        </p:spPr>
        <p:txBody>
          <a:bodyPr wrap="square" lIns="0" tIns="0" rIns="0" bIns="0" rtlCol="0" anchor="ctr">
            <a:normAutofit/>
          </a:bodyPr>
          <a:lstStyle/>
          <a:p>
            <a:pPr marL="0" indent="0">
              <a:buNone/>
            </a:pPr>
            <a:r>
              <a:rPr lang="pt-BR" sz="2600" b="1" dirty="0">
                <a:solidFill>
                  <a:srgbClr val="0A2252"/>
                </a:solidFill>
                <a:latin typeface="Aptos Display" pitchFamily="34" charset="0"/>
                <a:ea typeface="Aptos Display" pitchFamily="34" charset="-122"/>
                <a:cs typeface="Aptos Display" pitchFamily="34" charset="-120"/>
              </a:rPr>
              <a:t>SEU LOCAL DE TRABALHO É UM CAMPO DE PESQUISA</a:t>
            </a:r>
            <a:endParaRPr lang="en-US" sz="2600" dirty="0"/>
          </a:p>
        </p:txBody>
      </p:sp>
      <p:sp>
        <p:nvSpPr>
          <p:cNvPr id="3" name="Shape 1"/>
          <p:cNvSpPr/>
          <p:nvPr/>
        </p:nvSpPr>
        <p:spPr>
          <a:xfrm>
            <a:off x="658368" y="1536192"/>
            <a:ext cx="822960" cy="0"/>
          </a:xfrm>
          <a:prstGeom prst="line">
            <a:avLst/>
          </a:prstGeom>
          <a:noFill/>
          <a:ln w="44450">
            <a:solidFill>
              <a:srgbClr val="FF5A1F"/>
            </a:solidFill>
            <a:prstDash val="solid"/>
          </a:ln>
        </p:spPr>
        <p:txBody>
          <a:bodyPr/>
          <a:lstStyle/>
          <a:p>
            <a:endParaRPr lang="pt-BR"/>
          </a:p>
        </p:txBody>
      </p:sp>
      <p:sp>
        <p:nvSpPr>
          <p:cNvPr id="25" name="Slide Number Placeholder 0"/>
          <p:cNvSpPr>
            <a:spLocks noGrp="1"/>
          </p:cNvSpPr>
          <p:nvPr>
            <p:ph type="sldNum" sz="quarter" idx="4294967295"/>
          </p:nvPr>
        </p:nvSpPr>
        <p:spPr>
          <a:xfrm>
            <a:off x="11631168" y="6473952"/>
            <a:ext cx="420000" cy="164592"/>
          </a:xfrm>
          <a:prstGeom prst="rect">
            <a:avLst/>
          </a:prstGeom>
          <a:extLst>
            <a:ext uri="{C572A759-6A51-4108-AA02-DFA0A04FC94B}">
              <ma14:wrappingTextBoxFlag xmlns:ma14="http://schemas.microsoft.com/office/mac/drawingml/2011/main" xmlns="" val="0"/>
            </a:ext>
          </a:extLst>
        </p:spPr>
        <p:txBody>
          <a:bodyPr/>
          <a:lstStyle>
            <a:lvl1pPr>
              <a:defRPr sz="850">
                <a:solidFill>
                  <a:srgbClr val="7D8797"/>
                </a:solidFill>
              </a:defRPr>
            </a:lvl1pPr>
          </a:lstStyle>
          <a:p>
            <a:pPr algn="r"/>
            <a:fld id="{F7021451-1387-4CA6-816F-3879F97B5CBC}" type="slidenum">
              <a:rPr lang="en-US" b="0"/>
              <a:t>2</a:t>
            </a:fld>
            <a:endParaRPr lang="en-US"/>
          </a:p>
        </p:txBody>
      </p:sp>
      <p:pic>
        <p:nvPicPr>
          <p:cNvPr id="9" name="Imagem 8">
            <a:extLst>
              <a:ext uri="{FF2B5EF4-FFF2-40B4-BE49-F238E27FC236}">
                <a16:creationId xmlns:a16="http://schemas.microsoft.com/office/drawing/2014/main" id="{35A0857D-7EDC-DFF6-3CFE-A70D6D0695B9}"/>
              </a:ext>
            </a:extLst>
          </p:cNvPr>
          <p:cNvPicPr>
            <a:picLocks noChangeAspect="1"/>
          </p:cNvPicPr>
          <p:nvPr/>
        </p:nvPicPr>
        <p:blipFill>
          <a:blip r:embed="rId3"/>
          <a:srcRect l="-577" t="22570" r="577" b="16329"/>
          <a:stretch>
            <a:fillRect/>
          </a:stretch>
        </p:blipFill>
        <p:spPr>
          <a:xfrm>
            <a:off x="199282" y="5178555"/>
            <a:ext cx="2564091" cy="1566665"/>
          </a:xfrm>
          <a:prstGeom prst="rect">
            <a:avLst/>
          </a:prstGeom>
        </p:spPr>
      </p:pic>
      <p:sp>
        <p:nvSpPr>
          <p:cNvPr id="101" name="Passo 101"/>
          <p:cNvSpPr/>
          <p:nvPr/>
        </p:nvSpPr>
        <p:spPr>
          <a:xfrm>
            <a:off x="658368" y="1783080"/>
            <a:ext cx="2544318" cy="2011680"/>
          </a:xfrm>
          <a:prstGeom prst="roundRect">
            <a:avLst>
              <a:gd name="adj" fmla="val 6000"/>
            </a:avLst>
          </a:prstGeom>
          <a:solidFill>
            <a:srgbClr val="0A2252"/>
          </a:solidFill>
          <a:ln>
            <a:noFill/>
          </a:ln>
        </p:spPr>
        <p:txBody>
          <a:bodyPr wrap="square" lIns="201168" tIns="201168" rIns="201168" bIns="201168" rtlCol="0" anchor="t">
            <a:normAutofit/>
          </a:bodyPr>
          <a:lstStyle/>
          <a:p>
            <a:pPr algn="l" marL="0" indent="0">
              <a:spcAft>
                <a:spcPts val="400"/>
              </a:spcAft>
              <a:buNone/>
            </a:pPr>
            <a:r>
              <a:rPr lang="pt-BR" sz="2800" b="1" dirty="0">
                <a:solidFill>
                  <a:srgbClr val="FF5A1F"/>
                </a:solidFill>
                <a:latin typeface="Aptos Display"/>
                <a:ea typeface="Aptos Display"/>
                <a:cs typeface="Aptos Display"/>
              </a:rPr>
              <a:t>1</a:t>
            </a:r>
          </a:p>
          <a:p>
            <a:pPr algn="l" marL="0" indent="0">
              <a:spcAft>
                <a:spcPts val="500"/>
              </a:spcAft>
              <a:buNone/>
            </a:pPr>
            <a:r>
              <a:rPr lang="pt-BR" sz="1800" b="1" dirty="0">
                <a:solidFill>
                  <a:srgbClr val="FFFFFF"/>
                </a:solidFill>
                <a:latin typeface="Aptos Display"/>
                <a:ea typeface="Aptos Display"/>
                <a:cs typeface="Aptos Display"/>
              </a:rPr>
              <a:t>Observe</a:t>
            </a:r>
          </a:p>
          <a:p>
            <a:pPr algn="l" marL="0" indent="0">
              <a:lnSpc>
                <a:spcPct val="105000"/>
              </a:lnSpc>
              <a:buNone/>
            </a:pPr>
            <a:r>
              <a:rPr lang="pt-BR" sz="1350" dirty="0">
                <a:solidFill>
                  <a:srgbClr val="D6DEEC"/>
                </a:solidFill>
              </a:rPr>
              <a:t>Que problema se repete no seu trabalho?</a:t>
            </a:r>
          </a:p>
        </p:txBody>
      </p:sp>
      <p:sp>
        <p:nvSpPr>
          <p:cNvPr id="102" name="Passo 102"/>
          <p:cNvSpPr/>
          <p:nvPr/>
        </p:nvSpPr>
        <p:spPr>
          <a:xfrm>
            <a:off x="3431286" y="1783080"/>
            <a:ext cx="2544318" cy="2011680"/>
          </a:xfrm>
          <a:prstGeom prst="roundRect">
            <a:avLst>
              <a:gd name="adj" fmla="val 6000"/>
            </a:avLst>
          </a:prstGeom>
          <a:solidFill>
            <a:srgbClr val="0A2252"/>
          </a:solidFill>
          <a:ln>
            <a:noFill/>
          </a:ln>
        </p:spPr>
        <p:txBody>
          <a:bodyPr wrap="square" lIns="201168" tIns="201168" rIns="201168" bIns="201168" rtlCol="0" anchor="t">
            <a:normAutofit/>
          </a:bodyPr>
          <a:lstStyle/>
          <a:p>
            <a:pPr algn="l" marL="0" indent="0">
              <a:spcAft>
                <a:spcPts val="400"/>
              </a:spcAft>
              <a:buNone/>
            </a:pPr>
            <a:r>
              <a:rPr lang="pt-BR" sz="2800" b="1" dirty="0">
                <a:solidFill>
                  <a:srgbClr val="FF5A1F"/>
                </a:solidFill>
                <a:latin typeface="Aptos Display"/>
                <a:ea typeface="Aptos Display"/>
                <a:cs typeface="Aptos Display"/>
              </a:rPr>
              <a:t>2</a:t>
            </a:r>
          </a:p>
          <a:p>
            <a:pPr algn="l" marL="0" indent="0">
              <a:spcAft>
                <a:spcPts val="500"/>
              </a:spcAft>
              <a:buNone/>
            </a:pPr>
            <a:r>
              <a:rPr lang="pt-BR" sz="1800" b="1" dirty="0">
                <a:solidFill>
                  <a:srgbClr val="FFFFFF"/>
                </a:solidFill>
                <a:latin typeface="Aptos Display"/>
                <a:ea typeface="Aptos Display"/>
                <a:cs typeface="Aptos Display"/>
              </a:rPr>
              <a:t>Registre</a:t>
            </a:r>
          </a:p>
          <a:p>
            <a:pPr algn="l" marL="0" indent="0">
              <a:lnSpc>
                <a:spcPct val="105000"/>
              </a:lnSpc>
              <a:buNone/>
            </a:pPr>
            <a:r>
              <a:rPr lang="pt-BR" sz="1350" dirty="0">
                <a:solidFill>
                  <a:srgbClr val="D6DEEC"/>
                </a:solidFill>
              </a:rPr>
              <a:t>Anote casos, fluxos, reclamações e improvisos.</a:t>
            </a:r>
          </a:p>
        </p:txBody>
      </p:sp>
      <p:sp>
        <p:nvSpPr>
          <p:cNvPr id="103" name="Passo 103"/>
          <p:cNvSpPr/>
          <p:nvPr/>
        </p:nvSpPr>
        <p:spPr>
          <a:xfrm>
            <a:off x="6204204" y="1783080"/>
            <a:ext cx="2544318" cy="2011680"/>
          </a:xfrm>
          <a:prstGeom prst="roundRect">
            <a:avLst>
              <a:gd name="adj" fmla="val 6000"/>
            </a:avLst>
          </a:prstGeom>
          <a:solidFill>
            <a:srgbClr val="0A2252"/>
          </a:solidFill>
          <a:ln>
            <a:noFill/>
          </a:ln>
        </p:spPr>
        <p:txBody>
          <a:bodyPr wrap="square" lIns="201168" tIns="201168" rIns="201168" bIns="201168" rtlCol="0" anchor="t">
            <a:normAutofit/>
          </a:bodyPr>
          <a:lstStyle/>
          <a:p>
            <a:pPr algn="l" marL="0" indent="0">
              <a:spcAft>
                <a:spcPts val="400"/>
              </a:spcAft>
              <a:buNone/>
            </a:pPr>
            <a:r>
              <a:rPr lang="pt-BR" sz="2800" b="1" dirty="0">
                <a:solidFill>
                  <a:srgbClr val="FF5A1F"/>
                </a:solidFill>
                <a:latin typeface="Aptos Display"/>
                <a:ea typeface="Aptos Display"/>
                <a:cs typeface="Aptos Display"/>
              </a:rPr>
              <a:t>3</a:t>
            </a:r>
          </a:p>
          <a:p>
            <a:pPr algn="l" marL="0" indent="0">
              <a:spcAft>
                <a:spcPts val="500"/>
              </a:spcAft>
              <a:buNone/>
            </a:pPr>
            <a:r>
              <a:rPr lang="pt-BR" sz="1800" b="1" dirty="0">
                <a:solidFill>
                  <a:srgbClr val="FFFFFF"/>
                </a:solidFill>
                <a:latin typeface="Aptos Display"/>
                <a:ea typeface="Aptos Display"/>
                <a:cs typeface="Aptos Display"/>
              </a:rPr>
              <a:t>Meça</a:t>
            </a:r>
          </a:p>
          <a:p>
            <a:pPr algn="l" marL="0" indent="0">
              <a:lnSpc>
                <a:spcPct val="105000"/>
              </a:lnSpc>
              <a:buNone/>
            </a:pPr>
            <a:r>
              <a:rPr lang="pt-BR" sz="1350" dirty="0">
                <a:solidFill>
                  <a:srgbClr val="D6DEEC"/>
                </a:solidFill>
              </a:rPr>
              <a:t>Use os dados administrativos que já existem.</a:t>
            </a:r>
          </a:p>
        </p:txBody>
      </p:sp>
      <p:sp>
        <p:nvSpPr>
          <p:cNvPr id="104" name="Passo 104"/>
          <p:cNvSpPr/>
          <p:nvPr/>
        </p:nvSpPr>
        <p:spPr>
          <a:xfrm>
            <a:off x="8977122" y="1783080"/>
            <a:ext cx="2544318" cy="2011680"/>
          </a:xfrm>
          <a:prstGeom prst="roundRect">
            <a:avLst>
              <a:gd name="adj" fmla="val 6000"/>
            </a:avLst>
          </a:prstGeom>
          <a:solidFill>
            <a:srgbClr val="0A2252"/>
          </a:solidFill>
          <a:ln>
            <a:noFill/>
          </a:ln>
        </p:spPr>
        <p:txBody>
          <a:bodyPr wrap="square" lIns="201168" tIns="201168" rIns="201168" bIns="201168" rtlCol="0" anchor="t">
            <a:normAutofit/>
          </a:bodyPr>
          <a:lstStyle/>
          <a:p>
            <a:pPr algn="l" marL="0" indent="0">
              <a:spcAft>
                <a:spcPts val="400"/>
              </a:spcAft>
              <a:buNone/>
            </a:pPr>
            <a:r>
              <a:rPr lang="pt-BR" sz="2800" b="1" dirty="0">
                <a:solidFill>
                  <a:srgbClr val="FF5A1F"/>
                </a:solidFill>
                <a:latin typeface="Aptos Display"/>
                <a:ea typeface="Aptos Display"/>
                <a:cs typeface="Aptos Display"/>
              </a:rPr>
              <a:t>4</a:t>
            </a:r>
          </a:p>
          <a:p>
            <a:pPr algn="l" marL="0" indent="0">
              <a:spcAft>
                <a:spcPts val="500"/>
              </a:spcAft>
              <a:buNone/>
            </a:pPr>
            <a:r>
              <a:rPr lang="pt-BR" sz="1800" b="1" dirty="0">
                <a:solidFill>
                  <a:srgbClr val="FFFFFF"/>
                </a:solidFill>
                <a:latin typeface="Aptos Display"/>
                <a:ea typeface="Aptos Display"/>
                <a:cs typeface="Aptos Display"/>
              </a:rPr>
              <a:t>Escreva</a:t>
            </a:r>
          </a:p>
          <a:p>
            <a:pPr algn="l" marL="0" indent="0">
              <a:lnSpc>
                <a:spcPct val="105000"/>
              </a:lnSpc>
              <a:buNone/>
            </a:pPr>
            <a:r>
              <a:rPr lang="pt-BR" sz="1350" dirty="0">
                <a:solidFill>
                  <a:srgbClr val="D6DEEC"/>
                </a:solidFill>
              </a:rPr>
              <a:t>Transforme o achado em artigo, relatório ou proposta.</a:t>
            </a:r>
          </a:p>
        </p:txBody>
      </p:sp>
      <p:sp>
        <p:nvSpPr>
          <p:cNvPr id="105" name="Texto 105"/>
          <p:cNvSpPr txBox="1"/>
          <p:nvPr/>
        </p:nvSpPr>
        <p:spPr>
          <a:xfrm>
            <a:off x="658368" y="4069080"/>
            <a:ext cx="10863072" cy="640080"/>
          </a:xfrm>
          <a:prstGeom prst="rect">
            <a:avLst/>
          </a:prstGeom>
          <a:noFill/>
          <a:ln>
            <a:noFill/>
          </a:ln>
        </p:spPr>
        <p:txBody>
          <a:bodyPr wrap="square" lIns="0" tIns="0" rIns="0" bIns="0" rtlCol="0" anchor="ctr">
            <a:normAutofit/>
          </a:bodyPr>
          <a:lstStyle/>
          <a:p>
            <a:pPr algn="l" marL="0" indent="0">
              <a:buNone/>
            </a:pPr>
            <a:r>
              <a:rPr lang="pt-BR" sz="1800" b="1" dirty="0">
                <a:solidFill>
                  <a:srgbClr val="0A2252"/>
                </a:solidFill>
                <a:latin typeface="Aptos Display"/>
                <a:ea typeface="Aptos Display"/>
                <a:cs typeface="Aptos Display"/>
              </a:rPr>
              <a:t>Quem pesquisa o próprio trabalho decide melhor e se diferencia na carreira.</a:t>
            </a:r>
          </a:p>
        </p:txBody>
      </p:sp>
      <p:sp>
        <p:nvSpPr>
          <p:cNvPr id="106" name="Roteiro 106"/>
          <p:cNvSpPr/>
          <p:nvPr/>
        </p:nvSpPr>
        <p:spPr>
          <a:xfrm>
            <a:off x="7269480" y="5230368"/>
            <a:ext cx="4251960" cy="1005840"/>
          </a:xfrm>
          <a:prstGeom prst="roundRect">
            <a:avLst>
              <a:gd name="adj" fmla="val 8000"/>
            </a:avLst>
          </a:prstGeom>
          <a:solidFill>
            <a:srgbClr val="FFFFFF"/>
          </a:solidFill>
          <a:ln w="12700">
            <a:solidFill>
              <a:srgbClr val="FFD1BE"/>
            </a:solidFill>
          </a:ln>
        </p:spPr>
        <p:txBody>
          <a:bodyPr wrap="square" lIns="91440" tIns="91440" rIns="91440" bIns="91440" rtlCol="0" anchor="ctr">
            <a:normAutofit/>
          </a:bodyPr>
          <a:lstStyle/>
          <a:p>
            <a:pPr algn="l" marL="171450" indent="-171450">
              <a:spcAft>
                <a:spcPts val="150"/>
              </a:spcAft>
              <a:buFont typeface="Arial"/>
              <a:buChar char="•"/>
            </a:pPr>
            <a:r>
              <a:rPr lang="pt-BR" sz="1050" dirty="0">
                <a:solidFill>
                  <a:srgbClr val="26364F"/>
                </a:solidFill>
              </a:rPr>
              <a:t>O local de trabalho como campo de pesquisa</a:t>
            </a:r>
          </a:p>
          <a:p>
            <a:pPr algn="l" marL="171450" indent="-171450">
              <a:spcAft>
                <a:spcPts val="150"/>
              </a:spcAft>
              <a:buFont typeface="Arial"/>
              <a:buChar char="•"/>
            </a:pPr>
            <a:r>
              <a:rPr lang="pt-BR" sz="1050" dirty="0">
                <a:solidFill>
                  <a:srgbClr val="26364F"/>
                </a:solidFill>
              </a:rPr>
              <a:t>Dados administrativos como fonte de evidência</a:t>
            </a:r>
          </a:p>
          <a:p>
            <a:pPr algn="l" marL="171450" indent="-171450">
              <a:spcAft>
                <a:spcPts val="150"/>
              </a:spcAft>
              <a:buFont typeface="Arial"/>
              <a:buChar char="•"/>
            </a:pPr>
            <a:r>
              <a:rPr lang="pt-BR" sz="1050" dirty="0">
                <a:solidFill>
                  <a:srgbClr val="26364F"/>
                </a:solidFill>
              </a:rPr>
              <a:t>Do achado ao artigo, ao relatório ou à proposta</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58368" y="896112"/>
            <a:ext cx="9052560" cy="502920"/>
          </a:xfrm>
          <a:prstGeom prst="rect">
            <a:avLst/>
          </a:prstGeom>
          <a:noFill/>
          <a:ln/>
        </p:spPr>
        <p:txBody>
          <a:bodyPr wrap="square" lIns="0" tIns="0" rIns="0" bIns="0" rtlCol="0" anchor="ctr">
            <a:normAutofit/>
          </a:bodyPr>
          <a:lstStyle/>
          <a:p>
            <a:pPr marL="0" indent="0">
              <a:buNone/>
            </a:pPr>
            <a:r>
              <a:rPr lang="pt-BR" sz="2600" b="1" dirty="0">
                <a:solidFill>
                  <a:srgbClr val="0A2252"/>
                </a:solidFill>
                <a:latin typeface="Aptos Display" pitchFamily="34" charset="0"/>
                <a:ea typeface="Aptos Display" pitchFamily="34" charset="-122"/>
                <a:cs typeface="Aptos Display" pitchFamily="34" charset="-120"/>
              </a:rPr>
              <a:t>A JUSTIÇA TAMBÉM É SERVIÇO PÚBLICO</a:t>
            </a:r>
            <a:endParaRPr lang="en-US" sz="2600" dirty="0"/>
          </a:p>
        </p:txBody>
      </p:sp>
      <p:sp>
        <p:nvSpPr>
          <p:cNvPr id="3" name="Shape 1"/>
          <p:cNvSpPr/>
          <p:nvPr/>
        </p:nvSpPr>
        <p:spPr>
          <a:xfrm>
            <a:off x="658368" y="1536192"/>
            <a:ext cx="822960" cy="0"/>
          </a:xfrm>
          <a:prstGeom prst="line">
            <a:avLst/>
          </a:prstGeom>
          <a:noFill/>
          <a:ln w="44450">
            <a:solidFill>
              <a:srgbClr val="FF5A1F"/>
            </a:solidFill>
            <a:prstDash val="solid"/>
          </a:ln>
        </p:spPr>
        <p:txBody>
          <a:bodyPr/>
          <a:lstStyle/>
          <a:p>
            <a:endParaRPr lang="pt-BR"/>
          </a:p>
        </p:txBody>
      </p:sp>
      <p:sp>
        <p:nvSpPr>
          <p:cNvPr id="25" name="Slide Number Placeholder 0"/>
          <p:cNvSpPr>
            <a:spLocks noGrp="1"/>
          </p:cNvSpPr>
          <p:nvPr>
            <p:ph type="sldNum" sz="quarter" idx="4294967295"/>
          </p:nvPr>
        </p:nvSpPr>
        <p:spPr>
          <a:xfrm>
            <a:off x="11631168" y="6473952"/>
            <a:ext cx="420000" cy="164592"/>
          </a:xfrm>
          <a:prstGeom prst="rect">
            <a:avLst/>
          </a:prstGeom>
          <a:extLst>
            <a:ext uri="{C572A759-6A51-4108-AA02-DFA0A04FC94B}">
              <ma14:wrappingTextBoxFlag xmlns:ma14="http://schemas.microsoft.com/office/mac/drawingml/2011/main" xmlns="" val="0"/>
            </a:ext>
          </a:extLst>
        </p:spPr>
        <p:txBody>
          <a:bodyPr/>
          <a:lstStyle>
            <a:lvl1pPr>
              <a:defRPr sz="850">
                <a:solidFill>
                  <a:srgbClr val="7D8797"/>
                </a:solidFill>
              </a:defRPr>
            </a:lvl1pPr>
          </a:lstStyle>
          <a:p>
            <a:pPr algn="r"/>
            <a:fld id="{F7021451-1387-4CA6-816F-3879F97B5CBC}" type="slidenum">
              <a:rPr lang="en-US" b="0"/>
              <a:t>2</a:t>
            </a:fld>
            <a:endParaRPr lang="en-US"/>
          </a:p>
        </p:txBody>
      </p:sp>
      <p:pic>
        <p:nvPicPr>
          <p:cNvPr id="9" name="Imagem 8">
            <a:extLst>
              <a:ext uri="{FF2B5EF4-FFF2-40B4-BE49-F238E27FC236}">
                <a16:creationId xmlns:a16="http://schemas.microsoft.com/office/drawing/2014/main" id="{35A0857D-7EDC-DFF6-3CFE-A70D6D0695B9}"/>
              </a:ext>
            </a:extLst>
          </p:cNvPr>
          <p:cNvPicPr>
            <a:picLocks noChangeAspect="1"/>
          </p:cNvPicPr>
          <p:nvPr/>
        </p:nvPicPr>
        <p:blipFill>
          <a:blip r:embed="rId3"/>
          <a:srcRect l="-577" t="22570" r="577" b="16329"/>
          <a:stretch>
            <a:fillRect/>
          </a:stretch>
        </p:blipFill>
        <p:spPr>
          <a:xfrm>
            <a:off x="199282" y="5178555"/>
            <a:ext cx="2564091" cy="1566665"/>
          </a:xfrm>
          <a:prstGeom prst="rect">
            <a:avLst/>
          </a:prstGeom>
        </p:spPr>
      </p:pic>
      <p:sp>
        <p:nvSpPr>
          <p:cNvPr id="101" name="Tema 101"/>
          <p:cNvSpPr/>
          <p:nvPr/>
        </p:nvSpPr>
        <p:spPr>
          <a:xfrm>
            <a:off x="658368" y="1783080"/>
            <a:ext cx="3499104" cy="804672"/>
          </a:xfrm>
          <a:prstGeom prst="roundRect">
            <a:avLst>
              <a:gd name="adj" fmla="val 10000"/>
            </a:avLst>
          </a:prstGeom>
          <a:solidFill>
            <a:srgbClr val="0A2252"/>
          </a:solidFill>
          <a:ln>
            <a:noFill/>
          </a:ln>
        </p:spPr>
        <p:txBody>
          <a:bodyPr wrap="square" lIns="201168" tIns="201168" rIns="201168" bIns="201168" rtlCol="0" anchor="ctr">
            <a:normAutofit/>
          </a:bodyPr>
          <a:lstStyle/>
          <a:p>
            <a:pPr algn="l" marL="0" indent="0">
              <a:buNone/>
            </a:pPr>
            <a:r>
              <a:rPr lang="pt-BR" sz="1900" b="1" dirty="0">
                <a:solidFill>
                  <a:srgbClr val="FFFFFF"/>
                </a:solidFill>
                <a:latin typeface="Aptos Display"/>
                <a:ea typeface="Aptos Display"/>
                <a:cs typeface="Aptos Display"/>
              </a:rPr>
              <a:t>Governança</a:t>
            </a:r>
          </a:p>
        </p:txBody>
      </p:sp>
      <p:sp>
        <p:nvSpPr>
          <p:cNvPr id="102" name="Tema 102"/>
          <p:cNvSpPr/>
          <p:nvPr/>
        </p:nvSpPr>
        <p:spPr>
          <a:xfrm>
            <a:off x="4340352" y="1783080"/>
            <a:ext cx="3499104" cy="804672"/>
          </a:xfrm>
          <a:prstGeom prst="roundRect">
            <a:avLst>
              <a:gd name="adj" fmla="val 10000"/>
            </a:avLst>
          </a:prstGeom>
          <a:solidFill>
            <a:srgbClr val="FFFFFF"/>
          </a:solidFill>
          <a:ln w="12700">
            <a:solidFill>
              <a:srgbClr val="E7E2DA"/>
            </a:solidFill>
          </a:ln>
        </p:spPr>
        <p:txBody>
          <a:bodyPr wrap="square" lIns="201168" tIns="201168" rIns="201168" bIns="201168" rtlCol="0" anchor="ctr">
            <a:normAutofit/>
          </a:bodyPr>
          <a:lstStyle/>
          <a:p>
            <a:pPr algn="l" marL="0" indent="0">
              <a:buNone/>
            </a:pPr>
            <a:r>
              <a:rPr lang="pt-BR" sz="1900" b="1" dirty="0">
                <a:solidFill>
                  <a:srgbClr val="0A2252"/>
                </a:solidFill>
                <a:latin typeface="Aptos Display"/>
                <a:ea typeface="Aptos Display"/>
                <a:cs typeface="Aptos Display"/>
              </a:rPr>
              <a:t>Produtividade</a:t>
            </a:r>
          </a:p>
        </p:txBody>
      </p:sp>
      <p:sp>
        <p:nvSpPr>
          <p:cNvPr id="103" name="Tema 103"/>
          <p:cNvSpPr/>
          <p:nvPr/>
        </p:nvSpPr>
        <p:spPr>
          <a:xfrm>
            <a:off x="8022336" y="1783080"/>
            <a:ext cx="3499104" cy="804672"/>
          </a:xfrm>
          <a:prstGeom prst="roundRect">
            <a:avLst>
              <a:gd name="adj" fmla="val 10000"/>
            </a:avLst>
          </a:prstGeom>
          <a:solidFill>
            <a:srgbClr val="0A2252"/>
          </a:solidFill>
          <a:ln>
            <a:noFill/>
          </a:ln>
        </p:spPr>
        <p:txBody>
          <a:bodyPr wrap="square" lIns="201168" tIns="201168" rIns="201168" bIns="201168" rtlCol="0" anchor="ctr">
            <a:normAutofit/>
          </a:bodyPr>
          <a:lstStyle/>
          <a:p>
            <a:pPr algn="l" marL="0" indent="0">
              <a:buNone/>
            </a:pPr>
            <a:r>
              <a:rPr lang="pt-BR" sz="1900" b="1" dirty="0">
                <a:solidFill>
                  <a:srgbClr val="FFFFFF"/>
                </a:solidFill>
                <a:latin typeface="Aptos Display"/>
                <a:ea typeface="Aptos Display"/>
                <a:cs typeface="Aptos Display"/>
              </a:rPr>
              <a:t>Acessibilidade</a:t>
            </a:r>
          </a:p>
        </p:txBody>
      </p:sp>
      <p:sp>
        <p:nvSpPr>
          <p:cNvPr id="104" name="Tema 104"/>
          <p:cNvSpPr/>
          <p:nvPr/>
        </p:nvSpPr>
        <p:spPr>
          <a:xfrm>
            <a:off x="658368" y="2743200"/>
            <a:ext cx="3499104" cy="804672"/>
          </a:xfrm>
          <a:prstGeom prst="roundRect">
            <a:avLst>
              <a:gd name="adj" fmla="val 10000"/>
            </a:avLst>
          </a:prstGeom>
          <a:solidFill>
            <a:srgbClr val="FFFFFF"/>
          </a:solidFill>
          <a:ln w="12700">
            <a:solidFill>
              <a:srgbClr val="E7E2DA"/>
            </a:solidFill>
          </a:ln>
        </p:spPr>
        <p:txBody>
          <a:bodyPr wrap="square" lIns="201168" tIns="201168" rIns="201168" bIns="201168" rtlCol="0" anchor="ctr">
            <a:normAutofit/>
          </a:bodyPr>
          <a:lstStyle/>
          <a:p>
            <a:pPr algn="l" marL="0" indent="0">
              <a:buNone/>
            </a:pPr>
            <a:r>
              <a:rPr lang="pt-BR" sz="1900" b="1" dirty="0">
                <a:solidFill>
                  <a:srgbClr val="0A2252"/>
                </a:solidFill>
                <a:latin typeface="Aptos Display"/>
                <a:ea typeface="Aptos Display"/>
                <a:cs typeface="Aptos Display"/>
              </a:rPr>
              <a:t>IA e dados</a:t>
            </a:r>
          </a:p>
        </p:txBody>
      </p:sp>
      <p:sp>
        <p:nvSpPr>
          <p:cNvPr id="105" name="Tema 105"/>
          <p:cNvSpPr/>
          <p:nvPr/>
        </p:nvSpPr>
        <p:spPr>
          <a:xfrm>
            <a:off x="4340352" y="2743200"/>
            <a:ext cx="3499104" cy="804672"/>
          </a:xfrm>
          <a:prstGeom prst="roundRect">
            <a:avLst>
              <a:gd name="adj" fmla="val 10000"/>
            </a:avLst>
          </a:prstGeom>
          <a:solidFill>
            <a:srgbClr val="0A2252"/>
          </a:solidFill>
          <a:ln>
            <a:noFill/>
          </a:ln>
        </p:spPr>
        <p:txBody>
          <a:bodyPr wrap="square" lIns="201168" tIns="201168" rIns="201168" bIns="201168" rtlCol="0" anchor="ctr">
            <a:normAutofit/>
          </a:bodyPr>
          <a:lstStyle/>
          <a:p>
            <a:pPr algn="l" marL="0" indent="0">
              <a:buNone/>
            </a:pPr>
            <a:r>
              <a:rPr lang="pt-BR" sz="1900" b="1" dirty="0">
                <a:solidFill>
                  <a:srgbClr val="FFFFFF"/>
                </a:solidFill>
                <a:latin typeface="Aptos Display"/>
                <a:ea typeface="Aptos Display"/>
                <a:cs typeface="Aptos Display"/>
              </a:rPr>
              <a:t>Educação judicial</a:t>
            </a:r>
          </a:p>
        </p:txBody>
      </p:sp>
      <p:sp>
        <p:nvSpPr>
          <p:cNvPr id="106" name="Tema 106"/>
          <p:cNvSpPr/>
          <p:nvPr/>
        </p:nvSpPr>
        <p:spPr>
          <a:xfrm>
            <a:off x="8022336" y="2743200"/>
            <a:ext cx="3499104" cy="804672"/>
          </a:xfrm>
          <a:prstGeom prst="roundRect">
            <a:avLst>
              <a:gd name="adj" fmla="val 10000"/>
            </a:avLst>
          </a:prstGeom>
          <a:solidFill>
            <a:srgbClr val="FFFFFF"/>
          </a:solidFill>
          <a:ln w="12700">
            <a:solidFill>
              <a:srgbClr val="E7E2DA"/>
            </a:solidFill>
          </a:ln>
        </p:spPr>
        <p:txBody>
          <a:bodyPr wrap="square" lIns="201168" tIns="201168" rIns="201168" bIns="201168" rtlCol="0" anchor="ctr">
            <a:normAutofit/>
          </a:bodyPr>
          <a:lstStyle/>
          <a:p>
            <a:pPr algn="l" marL="0" indent="0">
              <a:buNone/>
            </a:pPr>
            <a:r>
              <a:rPr lang="pt-BR" sz="1900" b="1" dirty="0">
                <a:solidFill>
                  <a:srgbClr val="0A2252"/>
                </a:solidFill>
                <a:latin typeface="Aptos Display"/>
                <a:ea typeface="Aptos Display"/>
                <a:cs typeface="Aptos Display"/>
              </a:rPr>
              <a:t>Experiência do usuário</a:t>
            </a:r>
          </a:p>
        </p:txBody>
      </p:sp>
      <p:sp>
        <p:nvSpPr>
          <p:cNvPr id="107" name="Texto 107"/>
          <p:cNvSpPr txBox="1"/>
          <p:nvPr/>
        </p:nvSpPr>
        <p:spPr>
          <a:xfrm>
            <a:off x="658368" y="3886200"/>
            <a:ext cx="10863072" cy="731520"/>
          </a:xfrm>
          <a:prstGeom prst="rect">
            <a:avLst/>
          </a:prstGeom>
          <a:noFill/>
          <a:ln>
            <a:noFill/>
          </a:ln>
        </p:spPr>
        <p:txBody>
          <a:bodyPr wrap="square" lIns="0" tIns="0" rIns="0" bIns="0" rtlCol="0" anchor="ctr">
            <a:normAutofit/>
          </a:bodyPr>
          <a:lstStyle/>
          <a:p>
            <a:pPr algn="l" marL="0" indent="0">
              <a:lnSpc>
                <a:spcPct val="110000"/>
              </a:lnSpc>
              <a:buNone/>
            </a:pPr>
            <a:r>
              <a:rPr lang="pt-BR" sz="1600" dirty="0">
                <a:solidFill>
                  <a:srgbClr val="26364F"/>
                </a:solidFill>
              </a:rPr>
              <a:t>Muitos temas do Judiciário são problemas de gestão, pessoas, dados, aprendizagem e entrega de serviço.</a:t>
            </a:r>
          </a:p>
        </p:txBody>
      </p:sp>
      <p:sp>
        <p:nvSpPr>
          <p:cNvPr id="108" name="Roteiro 108"/>
          <p:cNvSpPr/>
          <p:nvPr/>
        </p:nvSpPr>
        <p:spPr>
          <a:xfrm>
            <a:off x="7269480" y="5230368"/>
            <a:ext cx="4251960" cy="1005840"/>
          </a:xfrm>
          <a:prstGeom prst="roundRect">
            <a:avLst>
              <a:gd name="adj" fmla="val 8000"/>
            </a:avLst>
          </a:prstGeom>
          <a:solidFill>
            <a:srgbClr val="FFFFFF"/>
          </a:solidFill>
          <a:ln w="12700">
            <a:solidFill>
              <a:srgbClr val="FFD1BE"/>
            </a:solidFill>
          </a:ln>
        </p:spPr>
        <p:txBody>
          <a:bodyPr wrap="square" lIns="91440" tIns="91440" rIns="91440" bIns="91440" rtlCol="0" anchor="ctr">
            <a:normAutofit/>
          </a:bodyPr>
          <a:lstStyle/>
          <a:p>
            <a:pPr algn="l" marL="171450" indent="-171450">
              <a:spcAft>
                <a:spcPts val="150"/>
              </a:spcAft>
              <a:buFont typeface="Arial"/>
              <a:buChar char="•"/>
            </a:pPr>
            <a:r>
              <a:rPr lang="pt-BR" sz="1050" dirty="0">
                <a:solidFill>
                  <a:srgbClr val="26364F"/>
                </a:solidFill>
              </a:rPr>
              <a:t>O Judiciário como objeto de reforma (Sadek, 2004)</a:t>
            </a:r>
          </a:p>
          <a:p>
            <a:pPr algn="l" marL="171450" indent="-171450">
              <a:spcAft>
                <a:spcPts val="150"/>
              </a:spcAft>
              <a:buFont typeface="Arial"/>
              <a:buChar char="•"/>
            </a:pPr>
            <a:r>
              <a:rPr lang="pt-BR" sz="1050" dirty="0">
                <a:solidFill>
                  <a:srgbClr val="26364F"/>
                </a:solidFill>
              </a:rPr>
              <a:t>Desempenho e administração da justiça (Gomes; Guimarães, 2013)</a:t>
            </a:r>
          </a:p>
          <a:p>
            <a:pPr algn="l" marL="171450" indent="-171450">
              <a:spcAft>
                <a:spcPts val="150"/>
              </a:spcAft>
              <a:buFont typeface="Arial"/>
              <a:buChar char="•"/>
            </a:pPr>
            <a:r>
              <a:rPr lang="pt-BR" sz="1050" dirty="0">
                <a:solidFill>
                  <a:srgbClr val="26364F"/>
                </a:solidFill>
              </a:rPr>
              <a:t>Temas de pesquisa para a Administração</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58368" y="896112"/>
            <a:ext cx="9052560" cy="502920"/>
          </a:xfrm>
          <a:prstGeom prst="rect">
            <a:avLst/>
          </a:prstGeom>
          <a:noFill/>
          <a:ln/>
        </p:spPr>
        <p:txBody>
          <a:bodyPr wrap="square" lIns="0" tIns="0" rIns="0" bIns="0" rtlCol="0" anchor="ctr">
            <a:normAutofit/>
          </a:bodyPr>
          <a:lstStyle/>
          <a:p>
            <a:pPr marL="0" indent="0">
              <a:buNone/>
            </a:pPr>
            <a:r>
              <a:rPr lang="pt-BR" sz="2600" b="1" dirty="0">
                <a:solidFill>
                  <a:srgbClr val="0A2252"/>
                </a:solidFill>
                <a:latin typeface="Aptos Display" pitchFamily="34" charset="0"/>
                <a:ea typeface="Aptos Display" pitchFamily="34" charset="-122"/>
                <a:cs typeface="Aptos Display" pitchFamily="34" charset="-120"/>
              </a:rPr>
              <a:t>CADA RESULTADO NO SEU ESTÁGIO DE MATURIDADE</a:t>
            </a:r>
            <a:endParaRPr lang="en-US" sz="2600" dirty="0"/>
          </a:p>
        </p:txBody>
      </p:sp>
      <p:sp>
        <p:nvSpPr>
          <p:cNvPr id="3" name="Shape 1"/>
          <p:cNvSpPr/>
          <p:nvPr/>
        </p:nvSpPr>
        <p:spPr>
          <a:xfrm>
            <a:off x="658368" y="1536192"/>
            <a:ext cx="822960" cy="0"/>
          </a:xfrm>
          <a:prstGeom prst="line">
            <a:avLst/>
          </a:prstGeom>
          <a:noFill/>
          <a:ln w="44450">
            <a:solidFill>
              <a:srgbClr val="FF5A1F"/>
            </a:solidFill>
            <a:prstDash val="solid"/>
          </a:ln>
        </p:spPr>
        <p:txBody>
          <a:bodyPr/>
          <a:lstStyle/>
          <a:p>
            <a:endParaRPr lang="pt-BR"/>
          </a:p>
        </p:txBody>
      </p:sp>
      <p:sp>
        <p:nvSpPr>
          <p:cNvPr id="25" name="Slide Number Placeholder 0"/>
          <p:cNvSpPr>
            <a:spLocks noGrp="1"/>
          </p:cNvSpPr>
          <p:nvPr>
            <p:ph type="sldNum" sz="quarter" idx="4294967295"/>
          </p:nvPr>
        </p:nvSpPr>
        <p:spPr>
          <a:xfrm>
            <a:off x="11631168" y="6473952"/>
            <a:ext cx="420000" cy="164592"/>
          </a:xfrm>
          <a:prstGeom prst="rect">
            <a:avLst/>
          </a:prstGeom>
          <a:extLst>
            <a:ext uri="{C572A759-6A51-4108-AA02-DFA0A04FC94B}">
              <ma14:wrappingTextBoxFlag xmlns:ma14="http://schemas.microsoft.com/office/mac/drawingml/2011/main" xmlns="" val="0"/>
            </a:ext>
          </a:extLst>
        </p:spPr>
        <p:txBody>
          <a:bodyPr/>
          <a:lstStyle>
            <a:lvl1pPr>
              <a:defRPr sz="850">
                <a:solidFill>
                  <a:srgbClr val="7D8797"/>
                </a:solidFill>
              </a:defRPr>
            </a:lvl1pPr>
          </a:lstStyle>
          <a:p>
            <a:pPr algn="r"/>
            <a:fld id="{F7021451-1387-4CA6-816F-3879F97B5CBC}" type="slidenum">
              <a:rPr lang="en-US" b="0"/>
              <a:t>2</a:t>
            </a:fld>
            <a:endParaRPr lang="en-US"/>
          </a:p>
        </p:txBody>
      </p:sp>
      <p:pic>
        <p:nvPicPr>
          <p:cNvPr id="9" name="Imagem 8">
            <a:extLst>
              <a:ext uri="{FF2B5EF4-FFF2-40B4-BE49-F238E27FC236}">
                <a16:creationId xmlns:a16="http://schemas.microsoft.com/office/drawing/2014/main" id="{35A0857D-7EDC-DFF6-3CFE-A70D6D0695B9}"/>
              </a:ext>
            </a:extLst>
          </p:cNvPr>
          <p:cNvPicPr>
            <a:picLocks noChangeAspect="1"/>
          </p:cNvPicPr>
          <p:nvPr/>
        </p:nvPicPr>
        <p:blipFill>
          <a:blip r:embed="rId3"/>
          <a:srcRect l="-577" t="22570" r="577" b="16329"/>
          <a:stretch>
            <a:fillRect/>
          </a:stretch>
        </p:blipFill>
        <p:spPr>
          <a:xfrm>
            <a:off x="199282" y="5178555"/>
            <a:ext cx="2564091" cy="1566665"/>
          </a:xfrm>
          <a:prstGeom prst="rect">
            <a:avLst/>
          </a:prstGeom>
        </p:spPr>
      </p:pic>
      <p:sp>
        <p:nvSpPr>
          <p:cNvPr id="101" name="Estágio 101"/>
          <p:cNvSpPr/>
          <p:nvPr/>
        </p:nvSpPr>
        <p:spPr>
          <a:xfrm>
            <a:off x="658368" y="3200400"/>
            <a:ext cx="2062886" cy="731520"/>
          </a:xfrm>
          <a:prstGeom prst="roundRect">
            <a:avLst>
              <a:gd name="adj" fmla="val 8000"/>
            </a:avLst>
          </a:prstGeom>
          <a:solidFill>
            <a:srgbClr val="EEF2F8"/>
          </a:solidFill>
          <a:ln>
            <a:noFill/>
          </a:ln>
        </p:spPr>
        <p:txBody>
          <a:bodyPr wrap="square" lIns="164592" tIns="164592" rIns="164592" bIns="164592" rtlCol="0" anchor="b">
            <a:normAutofit/>
          </a:bodyPr>
          <a:lstStyle/>
          <a:p>
            <a:pPr algn="l" marL="0" indent="0">
              <a:buNone/>
            </a:pPr>
            <a:r>
              <a:rPr lang="pt-BR" sz="1500" b="1" dirty="0">
                <a:solidFill>
                  <a:srgbClr val="0A2252"/>
                </a:solidFill>
              </a:rPr>
              <a:t>Proposição</a:t>
            </a:r>
          </a:p>
        </p:txBody>
      </p:sp>
      <p:sp>
        <p:nvSpPr>
          <p:cNvPr id="102" name="Estágio 102"/>
          <p:cNvSpPr/>
          <p:nvPr/>
        </p:nvSpPr>
        <p:spPr>
          <a:xfrm>
            <a:off x="2858414" y="2880360"/>
            <a:ext cx="2062886" cy="1051560"/>
          </a:xfrm>
          <a:prstGeom prst="roundRect">
            <a:avLst>
              <a:gd name="adj" fmla="val 8000"/>
            </a:avLst>
          </a:prstGeom>
          <a:solidFill>
            <a:srgbClr val="D3DCEB"/>
          </a:solidFill>
          <a:ln>
            <a:noFill/>
          </a:ln>
        </p:spPr>
        <p:txBody>
          <a:bodyPr wrap="square" lIns="164592" tIns="164592" rIns="164592" bIns="164592" rtlCol="0" anchor="b">
            <a:normAutofit/>
          </a:bodyPr>
          <a:lstStyle/>
          <a:p>
            <a:pPr algn="l" marL="0" indent="0">
              <a:buNone/>
            </a:pPr>
            <a:r>
              <a:rPr lang="pt-BR" sz="1500" b="1" dirty="0">
                <a:solidFill>
                  <a:srgbClr val="0A2252"/>
                </a:solidFill>
              </a:rPr>
              <a:t>Evidência preliminar</a:t>
            </a:r>
          </a:p>
        </p:txBody>
      </p:sp>
      <p:sp>
        <p:nvSpPr>
          <p:cNvPr id="103" name="Estágio 103"/>
          <p:cNvSpPr/>
          <p:nvPr/>
        </p:nvSpPr>
        <p:spPr>
          <a:xfrm>
            <a:off x="5058461" y="2560320"/>
            <a:ext cx="2062886" cy="1371600"/>
          </a:xfrm>
          <a:prstGeom prst="roundRect">
            <a:avLst>
              <a:gd name="adj" fmla="val 8000"/>
            </a:avLst>
          </a:prstGeom>
          <a:solidFill>
            <a:srgbClr val="AFC0DA"/>
          </a:solidFill>
          <a:ln>
            <a:noFill/>
          </a:ln>
        </p:spPr>
        <p:txBody>
          <a:bodyPr wrap="square" lIns="164592" tIns="164592" rIns="164592" bIns="164592" rtlCol="0" anchor="b">
            <a:normAutofit/>
          </a:bodyPr>
          <a:lstStyle/>
          <a:p>
            <a:pPr algn="l" marL="0" indent="0">
              <a:buNone/>
            </a:pPr>
            <a:r>
              <a:rPr lang="pt-BR" sz="1500" b="1" dirty="0">
                <a:solidFill>
                  <a:srgbClr val="0A2252"/>
                </a:solidFill>
              </a:rPr>
              <a:t>Manuscrito</a:t>
            </a:r>
          </a:p>
        </p:txBody>
      </p:sp>
      <p:sp>
        <p:nvSpPr>
          <p:cNvPr id="104" name="Estágio 104"/>
          <p:cNvSpPr/>
          <p:nvPr/>
        </p:nvSpPr>
        <p:spPr>
          <a:xfrm>
            <a:off x="7258507" y="2240280"/>
            <a:ext cx="2062886" cy="1691640"/>
          </a:xfrm>
          <a:prstGeom prst="roundRect">
            <a:avLst>
              <a:gd name="adj" fmla="val 8000"/>
            </a:avLst>
          </a:prstGeom>
          <a:solidFill>
            <a:srgbClr val="2B4580"/>
          </a:solidFill>
          <a:ln>
            <a:noFill/>
          </a:ln>
        </p:spPr>
        <p:txBody>
          <a:bodyPr wrap="square" lIns="164592" tIns="164592" rIns="164592" bIns="164592" rtlCol="0" anchor="b">
            <a:normAutofit/>
          </a:bodyPr>
          <a:lstStyle/>
          <a:p>
            <a:pPr algn="l" marL="0" indent="0">
              <a:buNone/>
            </a:pPr>
            <a:r>
              <a:rPr lang="pt-BR" sz="1500" b="1" dirty="0">
                <a:solidFill>
                  <a:srgbClr val="FFFFFF"/>
                </a:solidFill>
              </a:rPr>
              <a:t>Aceite</a:t>
            </a:r>
          </a:p>
        </p:txBody>
      </p:sp>
      <p:sp>
        <p:nvSpPr>
          <p:cNvPr id="105" name="Estágio 105"/>
          <p:cNvSpPr/>
          <p:nvPr/>
        </p:nvSpPr>
        <p:spPr>
          <a:xfrm>
            <a:off x="9458554" y="1920240"/>
            <a:ext cx="2062886" cy="2011680"/>
          </a:xfrm>
          <a:prstGeom prst="roundRect">
            <a:avLst>
              <a:gd name="adj" fmla="val 8000"/>
            </a:avLst>
          </a:prstGeom>
          <a:solidFill>
            <a:srgbClr val="0A2252"/>
          </a:solidFill>
          <a:ln>
            <a:noFill/>
          </a:ln>
        </p:spPr>
        <p:txBody>
          <a:bodyPr wrap="square" lIns="164592" tIns="164592" rIns="164592" bIns="164592" rtlCol="0" anchor="b">
            <a:normAutofit/>
          </a:bodyPr>
          <a:lstStyle/>
          <a:p>
            <a:pPr algn="l" marL="0" indent="0">
              <a:buNone/>
            </a:pPr>
            <a:r>
              <a:rPr lang="pt-BR" sz="1500" b="1" dirty="0">
                <a:solidFill>
                  <a:srgbClr val="FFFFFF"/>
                </a:solidFill>
              </a:rPr>
              <a:t>Publicação</a:t>
            </a:r>
          </a:p>
        </p:txBody>
      </p:sp>
      <p:sp>
        <p:nvSpPr>
          <p:cNvPr id="106" name="Texto 106"/>
          <p:cNvSpPr txBox="1"/>
          <p:nvPr/>
        </p:nvSpPr>
        <p:spPr>
          <a:xfrm>
            <a:off x="658368" y="4069080"/>
            <a:ext cx="10863072" cy="822960"/>
          </a:xfrm>
          <a:prstGeom prst="rect">
            <a:avLst/>
          </a:prstGeom>
          <a:noFill/>
          <a:ln>
            <a:noFill/>
          </a:ln>
        </p:spPr>
        <p:txBody>
          <a:bodyPr wrap="square" lIns="0" tIns="0" rIns="0" bIns="0" rtlCol="0" anchor="ctr">
            <a:normAutofit/>
          </a:bodyPr>
          <a:lstStyle/>
          <a:p>
            <a:pPr algn="l" marL="0" indent="0">
              <a:lnSpc>
                <a:spcPct val="110000"/>
              </a:lnSpc>
              <a:buNone/>
            </a:pPr>
            <a:r>
              <a:rPr lang="pt-BR" sz="1500" dirty="0">
                <a:solidFill>
                  <a:srgbClr val="26364F"/>
                </a:solidFill>
              </a:rPr>
              <a:t>Hoje o ARENAS é uma formulação teórica fundamentada. O segundo ano abre o teste empírico das proposições e a validação dos instrumentos.</a:t>
            </a:r>
          </a:p>
        </p:txBody>
      </p:sp>
      <p:sp>
        <p:nvSpPr>
          <p:cNvPr id="107" name="Roteiro 107"/>
          <p:cNvSpPr/>
          <p:nvPr/>
        </p:nvSpPr>
        <p:spPr>
          <a:xfrm>
            <a:off x="7269480" y="5230368"/>
            <a:ext cx="4251960" cy="1005840"/>
          </a:xfrm>
          <a:prstGeom prst="roundRect">
            <a:avLst>
              <a:gd name="adj" fmla="val 8000"/>
            </a:avLst>
          </a:prstGeom>
          <a:solidFill>
            <a:srgbClr val="FFFFFF"/>
          </a:solidFill>
          <a:ln w="12700">
            <a:solidFill>
              <a:srgbClr val="FFD1BE"/>
            </a:solidFill>
          </a:ln>
        </p:spPr>
        <p:txBody>
          <a:bodyPr wrap="square" lIns="91440" tIns="91440" rIns="91440" bIns="91440" rtlCol="0" anchor="ctr">
            <a:normAutofit/>
          </a:bodyPr>
          <a:lstStyle/>
          <a:p>
            <a:pPr algn="l" marL="171450" indent="-171450">
              <a:spcAft>
                <a:spcPts val="150"/>
              </a:spcAft>
              <a:buFont typeface="Arial"/>
              <a:buChar char="•"/>
            </a:pPr>
            <a:r>
              <a:rPr lang="pt-BR" sz="1050" dirty="0">
                <a:solidFill>
                  <a:srgbClr val="26364F"/>
                </a:solidFill>
              </a:rPr>
              <a:t>Estágios de maturidade da evidência</a:t>
            </a:r>
          </a:p>
          <a:p>
            <a:pPr algn="l" marL="171450" indent="-171450">
              <a:spcAft>
                <a:spcPts val="150"/>
              </a:spcAft>
              <a:buFont typeface="Arial"/>
              <a:buChar char="•"/>
            </a:pPr>
            <a:r>
              <a:rPr lang="pt-BR" sz="1050" dirty="0">
                <a:solidFill>
                  <a:srgbClr val="26364F"/>
                </a:solidFill>
              </a:rPr>
              <a:t>Proposições falsificáveis e hipóteses rivais</a:t>
            </a:r>
          </a:p>
          <a:p>
            <a:pPr algn="l" marL="171450" indent="-171450">
              <a:spcAft>
                <a:spcPts val="150"/>
              </a:spcAft>
              <a:buFont typeface="Arial"/>
              <a:buChar char="•"/>
            </a:pPr>
            <a:r>
              <a:rPr lang="pt-BR" sz="1050" dirty="0">
                <a:solidFill>
                  <a:srgbClr val="26364F"/>
                </a:solidFill>
              </a:rPr>
              <a:t>Agenda empírica do segundo ano</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58368" y="896112"/>
            <a:ext cx="9052560" cy="502920"/>
          </a:xfrm>
          <a:prstGeom prst="rect">
            <a:avLst/>
          </a:prstGeom>
          <a:noFill/>
          <a:ln/>
        </p:spPr>
        <p:txBody>
          <a:bodyPr wrap="square" lIns="0" tIns="0" rIns="0" bIns="0" rtlCol="0" anchor="ctr">
            <a:normAutofit/>
          </a:bodyPr>
          <a:lstStyle/>
          <a:p>
            <a:pPr marL="0" indent="0">
              <a:buNone/>
            </a:pPr>
            <a:r>
              <a:rPr lang="pt-BR" sz="2600" b="1" dirty="0">
                <a:solidFill>
                  <a:srgbClr val="0A2252"/>
                </a:solidFill>
                <a:latin typeface="Aptos Display" pitchFamily="34" charset="0"/>
                <a:ea typeface="Aptos Display" pitchFamily="34" charset="-122"/>
                <a:cs typeface="Aptos Display" pitchFamily="34" charset="-120"/>
              </a:rPr>
              <a:t>SÍNTESE</a:t>
            </a:r>
            <a:endParaRPr lang="en-US" sz="2600" dirty="0"/>
          </a:p>
        </p:txBody>
      </p:sp>
      <p:sp>
        <p:nvSpPr>
          <p:cNvPr id="3" name="Shape 1"/>
          <p:cNvSpPr/>
          <p:nvPr/>
        </p:nvSpPr>
        <p:spPr>
          <a:xfrm>
            <a:off x="658368" y="1536192"/>
            <a:ext cx="822960" cy="0"/>
          </a:xfrm>
          <a:prstGeom prst="line">
            <a:avLst/>
          </a:prstGeom>
          <a:noFill/>
          <a:ln w="44450">
            <a:solidFill>
              <a:srgbClr val="FF5A1F"/>
            </a:solidFill>
            <a:prstDash val="solid"/>
          </a:ln>
        </p:spPr>
        <p:txBody>
          <a:bodyPr/>
          <a:lstStyle/>
          <a:p>
            <a:endParaRPr lang="pt-BR"/>
          </a:p>
        </p:txBody>
      </p:sp>
      <p:sp>
        <p:nvSpPr>
          <p:cNvPr id="25" name="Slide Number Placeholder 0"/>
          <p:cNvSpPr>
            <a:spLocks noGrp="1"/>
          </p:cNvSpPr>
          <p:nvPr>
            <p:ph type="sldNum" sz="quarter" idx="4294967295"/>
          </p:nvPr>
        </p:nvSpPr>
        <p:spPr>
          <a:xfrm>
            <a:off x="11631168" y="6473952"/>
            <a:ext cx="420000" cy="164592"/>
          </a:xfrm>
          <a:prstGeom prst="rect">
            <a:avLst/>
          </a:prstGeom>
          <a:extLst>
            <a:ext uri="{C572A759-6A51-4108-AA02-DFA0A04FC94B}">
              <ma14:wrappingTextBoxFlag xmlns:ma14="http://schemas.microsoft.com/office/mac/drawingml/2011/main" xmlns="" val="0"/>
            </a:ext>
          </a:extLst>
        </p:spPr>
        <p:txBody>
          <a:bodyPr/>
          <a:lstStyle>
            <a:lvl1pPr>
              <a:defRPr sz="850">
                <a:solidFill>
                  <a:srgbClr val="7D8797"/>
                </a:solidFill>
              </a:defRPr>
            </a:lvl1pPr>
          </a:lstStyle>
          <a:p>
            <a:pPr algn="r"/>
            <a:fld id="{F7021451-1387-4CA6-816F-3879F97B5CBC}" type="slidenum">
              <a:rPr lang="en-US" b="0"/>
              <a:t>2</a:t>
            </a:fld>
            <a:endParaRPr lang="en-US"/>
          </a:p>
        </p:txBody>
      </p:sp>
      <p:pic>
        <p:nvPicPr>
          <p:cNvPr id="9" name="Imagem 8">
            <a:extLst>
              <a:ext uri="{FF2B5EF4-FFF2-40B4-BE49-F238E27FC236}">
                <a16:creationId xmlns:a16="http://schemas.microsoft.com/office/drawing/2014/main" id="{35A0857D-7EDC-DFF6-3CFE-A70D6D0695B9}"/>
              </a:ext>
            </a:extLst>
          </p:cNvPr>
          <p:cNvPicPr>
            <a:picLocks noChangeAspect="1"/>
          </p:cNvPicPr>
          <p:nvPr/>
        </p:nvPicPr>
        <p:blipFill>
          <a:blip r:embed="rId3"/>
          <a:srcRect l="-577" t="22570" r="577" b="16329"/>
          <a:stretch>
            <a:fillRect/>
          </a:stretch>
        </p:blipFill>
        <p:spPr>
          <a:xfrm>
            <a:off x="199282" y="5178555"/>
            <a:ext cx="2564091" cy="1566665"/>
          </a:xfrm>
          <a:prstGeom prst="rect">
            <a:avLst/>
          </a:prstGeom>
        </p:spPr>
      </p:pic>
      <p:sp>
        <p:nvSpPr>
          <p:cNvPr id="101" name="Texto 101"/>
          <p:cNvSpPr txBox="1"/>
          <p:nvPr/>
        </p:nvSpPr>
        <p:spPr>
          <a:xfrm>
            <a:off x="658368" y="1691640"/>
            <a:ext cx="10863072" cy="731520"/>
          </a:xfrm>
          <a:prstGeom prst="rect">
            <a:avLst/>
          </a:prstGeom>
          <a:noFill/>
          <a:ln>
            <a:noFill/>
          </a:ln>
        </p:spPr>
        <p:txBody>
          <a:bodyPr wrap="square" lIns="0" tIns="0" rIns="0" bIns="0" rtlCol="0" anchor="ctr">
            <a:normAutofit/>
          </a:bodyPr>
          <a:lstStyle/>
          <a:p>
            <a:pPr algn="l" marL="0" indent="0">
              <a:buNone/>
            </a:pPr>
            <a:r>
              <a:rPr lang="pt-BR" sz="2200" b="1" dirty="0">
                <a:solidFill>
                  <a:srgbClr val="FF5A1F"/>
                </a:solidFill>
                <a:latin typeface="Aptos Display"/>
                <a:ea typeface="Aptos Display"/>
                <a:cs typeface="Aptos Display"/>
              </a:rPr>
              <a:t>O administrador transforma decisões públicas em capacidade de entrega.</a:t>
            </a:r>
          </a:p>
        </p:txBody>
      </p:sp>
      <p:sp>
        <p:nvSpPr>
          <p:cNvPr id="102" name="Pergunta 102"/>
          <p:cNvSpPr/>
          <p:nvPr/>
        </p:nvSpPr>
        <p:spPr>
          <a:xfrm>
            <a:off x="658368" y="2697480"/>
            <a:ext cx="5317236" cy="932688"/>
          </a:xfrm>
          <a:prstGeom prst="roundRect">
            <a:avLst>
              <a:gd name="adj" fmla="val 8000"/>
            </a:avLst>
          </a:prstGeom>
          <a:solidFill>
            <a:srgbClr val="0A2252"/>
          </a:solidFill>
          <a:ln>
            <a:noFill/>
          </a:ln>
        </p:spPr>
        <p:txBody>
          <a:bodyPr wrap="square" lIns="164592" tIns="164592" rIns="164592" bIns="164592" rtlCol="0" anchor="ctr">
            <a:normAutofit/>
          </a:bodyPr>
          <a:lstStyle/>
          <a:p>
            <a:pPr algn="l" marL="0" indent="0">
              <a:buNone/>
            </a:pPr>
            <a:r>
              <a:rPr lang="pt-BR" sz="2200" b="1" dirty="0">
                <a:solidFill>
                  <a:srgbClr val="FF5A1F"/>
                </a:solidFill>
                <a:latin typeface="Aptos Display"/>
                <a:ea typeface="Aptos Display"/>
                <a:cs typeface="Aptos Display"/>
              </a:rPr>
              <a:t>1   </a:t>
            </a:r>
            <a:r>
              <a:rPr lang="pt-BR" sz="1500" b="1" dirty="0">
                <a:solidFill>
                  <a:srgbClr val="FFFFFF"/>
                </a:solidFill>
              </a:rPr>
              <a:t>Como a política foi traduzida?</a:t>
            </a:r>
          </a:p>
        </p:txBody>
      </p:sp>
      <p:sp>
        <p:nvSpPr>
          <p:cNvPr id="103" name="Pergunta 103"/>
          <p:cNvSpPr/>
          <p:nvPr/>
        </p:nvSpPr>
        <p:spPr>
          <a:xfrm>
            <a:off x="6204204" y="2697480"/>
            <a:ext cx="5317236" cy="932688"/>
          </a:xfrm>
          <a:prstGeom prst="roundRect">
            <a:avLst>
              <a:gd name="adj" fmla="val 8000"/>
            </a:avLst>
          </a:prstGeom>
          <a:solidFill>
            <a:srgbClr val="0A2252"/>
          </a:solidFill>
          <a:ln>
            <a:noFill/>
          </a:ln>
        </p:spPr>
        <p:txBody>
          <a:bodyPr wrap="square" lIns="164592" tIns="164592" rIns="164592" bIns="164592" rtlCol="0" anchor="ctr">
            <a:normAutofit/>
          </a:bodyPr>
          <a:lstStyle/>
          <a:p>
            <a:pPr algn="l" marL="0" indent="0">
              <a:buNone/>
            </a:pPr>
            <a:r>
              <a:rPr lang="pt-BR" sz="2200" b="1" dirty="0">
                <a:solidFill>
                  <a:srgbClr val="FF5A1F"/>
                </a:solidFill>
                <a:latin typeface="Aptos Display"/>
                <a:ea typeface="Aptos Display"/>
                <a:cs typeface="Aptos Display"/>
              </a:rPr>
              <a:t>2   </a:t>
            </a:r>
            <a:r>
              <a:rPr lang="pt-BR" sz="1500" b="1" dirty="0">
                <a:solidFill>
                  <a:srgbClr val="FFFFFF"/>
                </a:solidFill>
              </a:rPr>
              <a:t>Que arena a implementa?</a:t>
            </a:r>
          </a:p>
        </p:txBody>
      </p:sp>
      <p:sp>
        <p:nvSpPr>
          <p:cNvPr id="104" name="Pergunta 104"/>
          <p:cNvSpPr/>
          <p:nvPr/>
        </p:nvSpPr>
        <p:spPr>
          <a:xfrm>
            <a:off x="658368" y="3794760"/>
            <a:ext cx="5317236" cy="932688"/>
          </a:xfrm>
          <a:prstGeom prst="roundRect">
            <a:avLst>
              <a:gd name="adj" fmla="val 8000"/>
            </a:avLst>
          </a:prstGeom>
          <a:solidFill>
            <a:srgbClr val="0A2252"/>
          </a:solidFill>
          <a:ln>
            <a:noFill/>
          </a:ln>
        </p:spPr>
        <p:txBody>
          <a:bodyPr wrap="square" lIns="164592" tIns="164592" rIns="164592" bIns="164592" rtlCol="0" anchor="ctr">
            <a:normAutofit/>
          </a:bodyPr>
          <a:lstStyle/>
          <a:p>
            <a:pPr algn="l" marL="0" indent="0">
              <a:buNone/>
            </a:pPr>
            <a:r>
              <a:rPr lang="pt-BR" sz="2200" b="1" dirty="0">
                <a:solidFill>
                  <a:srgbClr val="FF5A1F"/>
                </a:solidFill>
                <a:latin typeface="Aptos Display"/>
                <a:ea typeface="Aptos Display"/>
                <a:cs typeface="Aptos Display"/>
              </a:rPr>
              <a:t>3   </a:t>
            </a:r>
            <a:r>
              <a:rPr lang="pt-BR" sz="1500" b="1" dirty="0">
                <a:solidFill>
                  <a:srgbClr val="FFFFFF"/>
                </a:solidFill>
              </a:rPr>
              <a:t>Que evidências mostram o funcionamento real?</a:t>
            </a:r>
          </a:p>
        </p:txBody>
      </p:sp>
      <p:sp>
        <p:nvSpPr>
          <p:cNvPr id="105" name="Pergunta 105"/>
          <p:cNvSpPr/>
          <p:nvPr/>
        </p:nvSpPr>
        <p:spPr>
          <a:xfrm>
            <a:off x="6204204" y="3794760"/>
            <a:ext cx="5317236" cy="932688"/>
          </a:xfrm>
          <a:prstGeom prst="roundRect">
            <a:avLst>
              <a:gd name="adj" fmla="val 8000"/>
            </a:avLst>
          </a:prstGeom>
          <a:solidFill>
            <a:srgbClr val="0A2252"/>
          </a:solidFill>
          <a:ln>
            <a:noFill/>
          </a:ln>
        </p:spPr>
        <p:txBody>
          <a:bodyPr wrap="square" lIns="164592" tIns="164592" rIns="164592" bIns="164592" rtlCol="0" anchor="ctr">
            <a:normAutofit/>
          </a:bodyPr>
          <a:lstStyle/>
          <a:p>
            <a:pPr algn="l" marL="0" indent="0">
              <a:buNone/>
            </a:pPr>
            <a:r>
              <a:rPr lang="pt-BR" sz="2200" b="1" dirty="0">
                <a:solidFill>
                  <a:srgbClr val="FF5A1F"/>
                </a:solidFill>
                <a:latin typeface="Aptos Display"/>
                <a:ea typeface="Aptos Display"/>
                <a:cs typeface="Aptos Display"/>
              </a:rPr>
              <a:t>4   </a:t>
            </a:r>
            <a:r>
              <a:rPr lang="pt-BR" sz="1500" b="1" dirty="0">
                <a:solidFill>
                  <a:srgbClr val="FFFFFF"/>
                </a:solidFill>
              </a:rPr>
              <a:t>Como a organização aprende com a experiência?</a:t>
            </a:r>
          </a:p>
        </p:txBody>
      </p:sp>
      <p:sp>
        <p:nvSpPr>
          <p:cNvPr id="106" name="Roteiro 106"/>
          <p:cNvSpPr/>
          <p:nvPr/>
        </p:nvSpPr>
        <p:spPr>
          <a:xfrm>
            <a:off x="7269480" y="5230368"/>
            <a:ext cx="4251960" cy="1005840"/>
          </a:xfrm>
          <a:prstGeom prst="roundRect">
            <a:avLst>
              <a:gd name="adj" fmla="val 8000"/>
            </a:avLst>
          </a:prstGeom>
          <a:solidFill>
            <a:srgbClr val="FFFFFF"/>
          </a:solidFill>
          <a:ln w="12700">
            <a:solidFill>
              <a:srgbClr val="FFD1BE"/>
            </a:solidFill>
          </a:ln>
        </p:spPr>
        <p:txBody>
          <a:bodyPr wrap="square" lIns="91440" tIns="91440" rIns="91440" bIns="91440" rtlCol="0" anchor="ctr">
            <a:normAutofit/>
          </a:bodyPr>
          <a:lstStyle/>
          <a:p>
            <a:pPr algn="l" marL="171450" indent="-171450">
              <a:spcAft>
                <a:spcPts val="150"/>
              </a:spcAft>
              <a:buFont typeface="Arial"/>
              <a:buChar char="•"/>
            </a:pPr>
            <a:r>
              <a:rPr lang="pt-BR" sz="1050" dirty="0">
                <a:solidFill>
                  <a:srgbClr val="26364F"/>
                </a:solidFill>
              </a:rPr>
              <a:t>Retomada da tese</a:t>
            </a:r>
          </a:p>
          <a:p>
            <a:pPr algn="l" marL="171450" indent="-171450">
              <a:spcAft>
                <a:spcPts val="150"/>
              </a:spcAft>
              <a:buFont typeface="Arial"/>
              <a:buChar char="•"/>
            </a:pPr>
            <a:r>
              <a:rPr lang="pt-BR" sz="1050" dirty="0">
                <a:solidFill>
                  <a:srgbClr val="26364F"/>
                </a:solidFill>
              </a:rPr>
              <a:t>Da decisão à execução (Pressman; Wildavsky, 1973)</a:t>
            </a:r>
          </a:p>
          <a:p>
            <a:pPr algn="l" marL="171450" indent="-171450">
              <a:spcAft>
                <a:spcPts val="150"/>
              </a:spcAft>
              <a:buFont typeface="Arial"/>
              <a:buChar char="•"/>
            </a:pPr>
            <a:r>
              <a:rPr lang="pt-BR" sz="1050" dirty="0">
                <a:solidFill>
                  <a:srgbClr val="26364F"/>
                </a:solidFill>
              </a:rPr>
              <a:t>A política feita na linha de frente (Lipsky, 1980)</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58368" y="896112"/>
            <a:ext cx="9052560" cy="502920"/>
          </a:xfrm>
          <a:prstGeom prst="rect">
            <a:avLst/>
          </a:prstGeom>
          <a:noFill/>
          <a:ln/>
        </p:spPr>
        <p:txBody>
          <a:bodyPr wrap="square" lIns="0" tIns="0" rIns="0" bIns="0" rtlCol="0" anchor="ctr">
            <a:normAutofit/>
          </a:bodyPr>
          <a:lstStyle/>
          <a:p>
            <a:pPr marL="0" indent="0">
              <a:buNone/>
            </a:pPr>
            <a:r>
              <a:rPr lang="pt-BR" sz="2600" b="1" dirty="0">
                <a:solidFill>
                  <a:srgbClr val="0A2252"/>
                </a:solidFill>
                <a:latin typeface="Aptos Display" pitchFamily="34" charset="0"/>
                <a:ea typeface="Aptos Display" pitchFamily="34" charset="-122"/>
                <a:cs typeface="Aptos Display" pitchFamily="34" charset="-120"/>
              </a:rPr>
              <a:t>UM CONVITE</a:t>
            </a:r>
            <a:endParaRPr lang="en-US" sz="2600" dirty="0"/>
          </a:p>
        </p:txBody>
      </p:sp>
      <p:sp>
        <p:nvSpPr>
          <p:cNvPr id="3" name="Shape 1"/>
          <p:cNvSpPr/>
          <p:nvPr/>
        </p:nvSpPr>
        <p:spPr>
          <a:xfrm>
            <a:off x="658368" y="1536192"/>
            <a:ext cx="822960" cy="0"/>
          </a:xfrm>
          <a:prstGeom prst="line">
            <a:avLst/>
          </a:prstGeom>
          <a:noFill/>
          <a:ln w="44450">
            <a:solidFill>
              <a:srgbClr val="FF5A1F"/>
            </a:solidFill>
            <a:prstDash val="solid"/>
          </a:ln>
        </p:spPr>
        <p:txBody>
          <a:bodyPr/>
          <a:lstStyle/>
          <a:p>
            <a:endParaRPr lang="pt-BR"/>
          </a:p>
        </p:txBody>
      </p:sp>
      <p:sp>
        <p:nvSpPr>
          <p:cNvPr id="25" name="Slide Number Placeholder 0"/>
          <p:cNvSpPr>
            <a:spLocks noGrp="1"/>
          </p:cNvSpPr>
          <p:nvPr>
            <p:ph type="sldNum" sz="quarter" idx="4294967295"/>
          </p:nvPr>
        </p:nvSpPr>
        <p:spPr>
          <a:xfrm>
            <a:off x="11631168" y="6473952"/>
            <a:ext cx="420000" cy="164592"/>
          </a:xfrm>
          <a:prstGeom prst="rect">
            <a:avLst/>
          </a:prstGeom>
          <a:extLst>
            <a:ext uri="{C572A759-6A51-4108-AA02-DFA0A04FC94B}">
              <ma14:wrappingTextBoxFlag xmlns:ma14="http://schemas.microsoft.com/office/mac/drawingml/2011/main" xmlns="" val="0"/>
            </a:ext>
          </a:extLst>
        </p:spPr>
        <p:txBody>
          <a:bodyPr/>
          <a:lstStyle>
            <a:lvl1pPr>
              <a:defRPr sz="850">
                <a:solidFill>
                  <a:srgbClr val="7D8797"/>
                </a:solidFill>
              </a:defRPr>
            </a:lvl1pPr>
          </a:lstStyle>
          <a:p>
            <a:pPr algn="r"/>
            <a:fld id="{F7021451-1387-4CA6-816F-3879F97B5CBC}" type="slidenum">
              <a:rPr lang="en-US" b="0"/>
              <a:t>2</a:t>
            </a:fld>
            <a:endParaRPr lang="en-US"/>
          </a:p>
        </p:txBody>
      </p:sp>
      <p:pic>
        <p:nvPicPr>
          <p:cNvPr id="9" name="Imagem 8">
            <a:extLst>
              <a:ext uri="{FF2B5EF4-FFF2-40B4-BE49-F238E27FC236}">
                <a16:creationId xmlns:a16="http://schemas.microsoft.com/office/drawing/2014/main" id="{35A0857D-7EDC-DFF6-3CFE-A70D6D0695B9}"/>
              </a:ext>
            </a:extLst>
          </p:cNvPr>
          <p:cNvPicPr>
            <a:picLocks noChangeAspect="1"/>
          </p:cNvPicPr>
          <p:nvPr/>
        </p:nvPicPr>
        <p:blipFill>
          <a:blip r:embed="rId3"/>
          <a:srcRect l="-577" t="22570" r="577" b="16329"/>
          <a:stretch>
            <a:fillRect/>
          </a:stretch>
        </p:blipFill>
        <p:spPr>
          <a:xfrm>
            <a:off x="199282" y="5178555"/>
            <a:ext cx="2564091" cy="1566665"/>
          </a:xfrm>
          <a:prstGeom prst="rect">
            <a:avLst/>
          </a:prstGeom>
        </p:spPr>
      </p:pic>
      <p:sp>
        <p:nvSpPr>
          <p:cNvPr id="101" name="Texto 101"/>
          <p:cNvSpPr txBox="1"/>
          <p:nvPr/>
        </p:nvSpPr>
        <p:spPr>
          <a:xfrm>
            <a:off x="658368" y="1783080"/>
            <a:ext cx="6766560" cy="1737360"/>
          </a:xfrm>
          <a:prstGeom prst="rect">
            <a:avLst/>
          </a:prstGeom>
          <a:noFill/>
          <a:ln>
            <a:noFill/>
          </a:ln>
        </p:spPr>
        <p:txBody>
          <a:bodyPr wrap="square" lIns="0" tIns="0" rIns="0" bIns="0" rtlCol="0" anchor="ctr">
            <a:normAutofit/>
          </a:bodyPr>
          <a:lstStyle/>
          <a:p>
            <a:pPr algn="l" marL="0" indent="0">
              <a:lnSpc>
                <a:spcPct val="100000"/>
              </a:lnSpc>
              <a:buNone/>
            </a:pPr>
            <a:r>
              <a:rPr lang="pt-BR" sz="3400" b="1" dirty="0">
                <a:solidFill>
                  <a:srgbClr val="0A2252"/>
                </a:solidFill>
                <a:latin typeface="Aptos Display"/>
                <a:ea typeface="Aptos Display"/>
                <a:cs typeface="Aptos Display"/>
              </a:rPr>
              <a:t>Que pergunta o seu trabalho já está fazendo?</a:t>
            </a:r>
          </a:p>
        </p:txBody>
      </p:sp>
      <p:sp>
        <p:nvSpPr>
          <p:cNvPr id="102" name="Texto 102"/>
          <p:cNvSpPr txBox="1"/>
          <p:nvPr/>
        </p:nvSpPr>
        <p:spPr>
          <a:xfrm>
            <a:off x="658368" y="3657600"/>
            <a:ext cx="6583680" cy="1097280"/>
          </a:xfrm>
          <a:prstGeom prst="rect">
            <a:avLst/>
          </a:prstGeom>
          <a:noFill/>
          <a:ln>
            <a:noFill/>
          </a:ln>
        </p:spPr>
        <p:txBody>
          <a:bodyPr wrap="square" lIns="0" tIns="0" rIns="0" bIns="0" rtlCol="0" anchor="t">
            <a:normAutofit/>
          </a:bodyPr>
          <a:lstStyle/>
          <a:p>
            <a:pPr algn="l" marL="0" indent="0">
              <a:lnSpc>
                <a:spcPct val="114999"/>
              </a:lnSpc>
              <a:buNone/>
            </a:pPr>
            <a:r>
              <a:rPr lang="pt-BR" sz="1700" dirty="0">
                <a:solidFill>
                  <a:srgbClr val="26364F"/>
                </a:solidFill>
              </a:rPr>
              <a:t>A pesquisa empírica começa na observação atenta da prática. A Administração é um campo privilegiado para isso.</a:t>
            </a:r>
          </a:p>
        </p:txBody>
      </p:sp>
      <p:sp>
        <p:nvSpPr>
          <p:cNvPr id="103" name="Cartão 103"/>
          <p:cNvSpPr/>
          <p:nvPr/>
        </p:nvSpPr>
        <p:spPr>
          <a:xfrm>
            <a:off x="7772400" y="1783080"/>
            <a:ext cx="3749040" cy="2926080"/>
          </a:xfrm>
          <a:prstGeom prst="roundRect">
            <a:avLst>
              <a:gd name="adj" fmla="val 6000"/>
            </a:avLst>
          </a:prstGeom>
          <a:solidFill>
            <a:srgbClr val="FFF3ED"/>
          </a:solidFill>
          <a:ln w="12700">
            <a:solidFill>
              <a:srgbClr val="FFD1BE"/>
            </a:solidFill>
          </a:ln>
        </p:spPr>
        <p:txBody>
          <a:bodyPr wrap="square" lIns="274320" tIns="274320" rIns="274320" bIns="274320" rtlCol="0" anchor="ctr">
            <a:normAutofit/>
          </a:bodyPr>
          <a:lstStyle/>
          <a:p>
            <a:pPr algn="l" marL="0" indent="0">
              <a:spcAft>
                <a:spcPts val="400"/>
              </a:spcAft>
              <a:buNone/>
            </a:pPr>
            <a:r>
              <a:rPr lang="pt-BR" sz="1000" b="1" dirty="0">
                <a:solidFill>
                  <a:srgbClr val="FF5A1F"/>
                </a:solidFill>
              </a:rPr>
              <a:t>CONVITE</a:t>
            </a:r>
          </a:p>
          <a:p>
            <a:pPr algn="l" marL="0" indent="0">
              <a:lnSpc>
                <a:spcPct val="100000"/>
              </a:lnSpc>
              <a:spcAft>
                <a:spcPts val="500"/>
              </a:spcAft>
              <a:buNone/>
            </a:pPr>
            <a:r>
              <a:rPr lang="pt-BR" sz="2000" b="1" dirty="0">
                <a:solidFill>
                  <a:srgbClr val="0A2252"/>
                </a:solidFill>
                <a:latin typeface="Aptos Display"/>
                <a:ea typeface="Aptos Display"/>
                <a:cs typeface="Aptos Display"/>
              </a:rPr>
              <a:t>Problemas reais de gestão podem virar projetos de iniciação científica.</a:t>
            </a:r>
          </a:p>
        </p:txBody>
      </p:sp>
      <p:sp>
        <p:nvSpPr>
          <p:cNvPr id="104" name="Roteiro 104"/>
          <p:cNvSpPr/>
          <p:nvPr/>
        </p:nvSpPr>
        <p:spPr>
          <a:xfrm>
            <a:off x="7269480" y="5230368"/>
            <a:ext cx="4251960" cy="1005840"/>
          </a:xfrm>
          <a:prstGeom prst="roundRect">
            <a:avLst>
              <a:gd name="adj" fmla="val 8000"/>
            </a:avLst>
          </a:prstGeom>
          <a:solidFill>
            <a:srgbClr val="FFFFFF"/>
          </a:solidFill>
          <a:ln w="12700">
            <a:solidFill>
              <a:srgbClr val="FFD1BE"/>
            </a:solidFill>
          </a:ln>
        </p:spPr>
        <p:txBody>
          <a:bodyPr wrap="square" lIns="91440" tIns="91440" rIns="91440" bIns="91440" rtlCol="0" anchor="ctr">
            <a:normAutofit/>
          </a:bodyPr>
          <a:lstStyle/>
          <a:p>
            <a:pPr algn="l" marL="171450" indent="-171450">
              <a:spcAft>
                <a:spcPts val="150"/>
              </a:spcAft>
              <a:buFont typeface="Arial"/>
              <a:buChar char="•"/>
            </a:pPr>
            <a:r>
              <a:rPr lang="pt-BR" sz="1050" dirty="0">
                <a:solidFill>
                  <a:srgbClr val="26364F"/>
                </a:solidFill>
              </a:rPr>
              <a:t>A observação atenta da prática</a:t>
            </a:r>
          </a:p>
          <a:p>
            <a:pPr algn="l" marL="171450" indent="-171450">
              <a:spcAft>
                <a:spcPts val="150"/>
              </a:spcAft>
              <a:buFont typeface="Arial"/>
              <a:buChar char="•"/>
            </a:pPr>
            <a:r>
              <a:rPr lang="pt-BR" sz="1050" dirty="0">
                <a:solidFill>
                  <a:srgbClr val="26364F"/>
                </a:solidFill>
              </a:rPr>
              <a:t>Pesquisa no currículo de Administração</a:t>
            </a:r>
          </a:p>
          <a:p>
            <a:pPr algn="l" marL="171450" indent="-171450">
              <a:spcAft>
                <a:spcPts val="150"/>
              </a:spcAft>
              <a:buFont typeface="Arial"/>
              <a:buChar char="•"/>
            </a:pPr>
            <a:r>
              <a:rPr lang="pt-BR" sz="1050" dirty="0">
                <a:solidFill>
                  <a:srgbClr val="26364F"/>
                </a:solidFill>
              </a:rPr>
              <a:t>Iniciação científica com problemas reais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3">
    <p:bg>
      <p:bgPr>
        <a:solidFill>
          <a:srgbClr val="0A2252"/>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FF5A1F"/>
          </a:solidFill>
          <a:ln w="12700">
            <a:solidFill>
              <a:srgbClr val="FF5A1F"/>
            </a:solidFill>
            <a:prstDash val="solid"/>
          </a:ln>
        </p:spPr>
        <p:txBody>
          <a:bodyPr/>
          <a:lstStyle/>
          <a:p>
            <a:endParaRPr lang="pt-BR"/>
          </a:p>
        </p:txBody>
      </p:sp>
      <p:sp>
        <p:nvSpPr>
          <p:cNvPr id="3" name="Shape 1"/>
          <p:cNvSpPr/>
          <p:nvPr/>
        </p:nvSpPr>
        <p:spPr>
          <a:xfrm rot="1500000">
            <a:off x="-1097280" y="4160520"/>
            <a:ext cx="3749040" cy="3749040"/>
          </a:xfrm>
          <a:prstGeom prst="arc">
            <a:avLst/>
          </a:prstGeom>
          <a:solidFill>
            <a:srgbClr val="0A2252">
              <a:alpha val="0"/>
            </a:srgbClr>
          </a:solidFill>
          <a:ln w="25400">
            <a:solidFill>
              <a:srgbClr val="1A3D72"/>
            </a:solidFill>
            <a:prstDash val="solid"/>
          </a:ln>
        </p:spPr>
        <p:txBody>
          <a:bodyPr/>
          <a:lstStyle/>
          <a:p>
            <a:endParaRPr lang="pt-BR"/>
          </a:p>
        </p:txBody>
      </p:sp>
      <p:sp>
        <p:nvSpPr>
          <p:cNvPr id="4" name="Shape 2"/>
          <p:cNvSpPr/>
          <p:nvPr/>
        </p:nvSpPr>
        <p:spPr>
          <a:xfrm rot="1500000">
            <a:off x="9784080" y="-1371600"/>
            <a:ext cx="4114800" cy="4114800"/>
          </a:xfrm>
          <a:prstGeom prst="arc">
            <a:avLst/>
          </a:prstGeom>
          <a:solidFill>
            <a:srgbClr val="0A2252">
              <a:alpha val="0"/>
            </a:srgbClr>
          </a:solidFill>
          <a:ln w="25400">
            <a:solidFill>
              <a:srgbClr val="1A3D72"/>
            </a:solidFill>
            <a:prstDash val="solid"/>
          </a:ln>
        </p:spPr>
        <p:txBody>
          <a:bodyPr/>
          <a:lstStyle/>
          <a:p>
            <a:endParaRPr lang="pt-BR"/>
          </a:p>
        </p:txBody>
      </p:sp>
      <p:sp>
        <p:nvSpPr>
          <p:cNvPr id="5" name="Text 3"/>
          <p:cNvSpPr/>
          <p:nvPr/>
        </p:nvSpPr>
        <p:spPr>
          <a:xfrm>
            <a:off x="914400" y="1417320"/>
            <a:ext cx="10332720" cy="731520"/>
          </a:xfrm>
          <a:prstGeom prst="rect">
            <a:avLst/>
          </a:prstGeom>
          <a:noFill/>
          <a:ln/>
        </p:spPr>
        <p:txBody>
          <a:bodyPr wrap="square" lIns="0" tIns="0" rIns="0" bIns="0" rtlCol="0" anchor="ctr"/>
          <a:lstStyle/>
          <a:p>
            <a:pPr marL="0" indent="0" algn="ctr">
              <a:buNone/>
            </a:pPr>
            <a:r>
              <a:rPr lang="en-US" sz="3800" b="1" dirty="0">
                <a:solidFill>
                  <a:srgbClr val="FFFFFF"/>
                </a:solidFill>
                <a:latin typeface="Aptos Display" pitchFamily="34" charset="0"/>
                <a:ea typeface="Aptos Display" pitchFamily="34" charset="-122"/>
                <a:cs typeface="Aptos Display" pitchFamily="34" charset="-120"/>
              </a:rPr>
              <a:t>OBRIGADO!</a:t>
            </a:r>
            <a:endParaRPr lang="en-US" sz="3800" dirty="0"/>
          </a:p>
        </p:txBody>
      </p:sp>
      <p:sp>
        <p:nvSpPr>
          <p:cNvPr id="6" name="Text 4"/>
          <p:cNvSpPr/>
          <p:nvPr/>
        </p:nvSpPr>
        <p:spPr>
          <a:xfrm>
            <a:off x="914400" y="2267712"/>
            <a:ext cx="10332720" cy="457200"/>
          </a:xfrm>
          <a:prstGeom prst="rect">
            <a:avLst/>
          </a:prstGeom>
          <a:noFill/>
          <a:ln/>
        </p:spPr>
        <p:txBody>
          <a:bodyPr wrap="square" lIns="0" tIns="0" rIns="0" bIns="0" rtlCol="0" anchor="ctr"/>
          <a:lstStyle/>
          <a:p>
            <a:pPr marL="0" indent="0" algn="ctr">
              <a:buNone/>
            </a:pPr>
            <a:r>
              <a:rPr lang="en-US" sz="2300" b="1" dirty="0">
                <a:solidFill>
                  <a:srgbClr val="FF5A1F"/>
                </a:solidFill>
                <a:latin typeface="Aptos Display" pitchFamily="34" charset="0"/>
                <a:ea typeface="Aptos Display" pitchFamily="34" charset="-122"/>
                <a:cs typeface="Aptos Display" pitchFamily="34" charset="-120"/>
              </a:rPr>
              <a:t>Conhecimento que transforma.</a:t>
            </a:r>
            <a:endParaRPr lang="en-US" sz="2300" dirty="0"/>
          </a:p>
        </p:txBody>
      </p:sp>
      <p:sp>
        <p:nvSpPr>
          <p:cNvPr id="7" name="Text 5"/>
          <p:cNvSpPr/>
          <p:nvPr/>
        </p:nvSpPr>
        <p:spPr>
          <a:xfrm>
            <a:off x="1965960" y="3127248"/>
            <a:ext cx="8229600" cy="347472"/>
          </a:xfrm>
          <a:prstGeom prst="rect">
            <a:avLst/>
          </a:prstGeom>
          <a:noFill/>
          <a:ln/>
        </p:spPr>
        <p:txBody>
          <a:bodyPr wrap="square" lIns="0" tIns="0" rIns="0" bIns="0" rtlCol="0" anchor="ctr"/>
          <a:lstStyle/>
          <a:p>
            <a:pPr marL="0" indent="0" algn="ctr">
              <a:buNone/>
            </a:pPr>
            <a:r>
              <a:rPr lang="en-US" sz="1400" dirty="0">
                <a:solidFill>
                  <a:srgbClr val="E6EAF0"/>
                </a:solidFill>
              </a:rPr>
              <a:t>Igor Caires Machado  •  cairesmachado-svg.github.io/Site_hub</a:t>
            </a:r>
            <a:endParaRPr lang="en-US" sz="1400" dirty="0"/>
          </a:p>
        </p:txBody>
      </p:sp>
      <p:sp>
        <p:nvSpPr>
          <p:cNvPr id="8" name="Shape 6"/>
          <p:cNvSpPr/>
          <p:nvPr/>
        </p:nvSpPr>
        <p:spPr>
          <a:xfrm>
            <a:off x="5321808" y="3886200"/>
            <a:ext cx="1554480" cy="0"/>
          </a:xfrm>
          <a:prstGeom prst="line">
            <a:avLst/>
          </a:prstGeom>
          <a:noFill/>
          <a:ln w="38100">
            <a:solidFill>
              <a:srgbClr val="FF5A1F"/>
            </a:solidFill>
            <a:prstDash val="solid"/>
          </a:ln>
        </p:spPr>
        <p:txBody>
          <a:bodyPr/>
          <a:lstStyle/>
          <a:p>
            <a:endParaRPr lang="pt-BR"/>
          </a:p>
        </p:txBody>
      </p:sp>
      <p:sp>
        <p:nvSpPr>
          <p:cNvPr id="9" name="Text 7"/>
          <p:cNvSpPr/>
          <p:nvPr/>
        </p:nvSpPr>
        <p:spPr>
          <a:xfrm>
            <a:off x="1828800" y="4709160"/>
            <a:ext cx="8531352" cy="365760"/>
          </a:xfrm>
          <a:prstGeom prst="rect">
            <a:avLst/>
          </a:prstGeom>
          <a:noFill/>
          <a:ln/>
        </p:spPr>
        <p:txBody>
          <a:bodyPr wrap="square" lIns="0" tIns="0" rIns="0" bIns="0" rtlCol="0" anchor="ctr"/>
          <a:lstStyle/>
          <a:p>
            <a:pPr marL="0" indent="0" algn="ctr">
              <a:buNone/>
            </a:pPr>
            <a:r>
              <a:rPr lang="en-US" sz="1700" b="1" kern="0" spc="120" dirty="0">
                <a:solidFill>
                  <a:srgbClr val="FFFFFF"/>
                </a:solidFill>
              </a:rPr>
              <a:t>IV CONGRESSO CIENTÍFICO</a:t>
            </a:r>
            <a:endParaRPr lang="en-US" sz="1700" dirty="0"/>
          </a:p>
        </p:txBody>
      </p:sp>
      <p:sp>
        <p:nvSpPr>
          <p:cNvPr id="10" name="Text 8"/>
          <p:cNvSpPr/>
          <p:nvPr/>
        </p:nvSpPr>
        <p:spPr>
          <a:xfrm>
            <a:off x="1828800" y="5193792"/>
            <a:ext cx="8531352" cy="292608"/>
          </a:xfrm>
          <a:prstGeom prst="rect">
            <a:avLst/>
          </a:prstGeom>
          <a:noFill/>
          <a:ln/>
        </p:spPr>
        <p:txBody>
          <a:bodyPr wrap="square" lIns="0" tIns="0" rIns="0" bIns="0" rtlCol="0" anchor="ctr"/>
          <a:lstStyle/>
          <a:p>
            <a:pPr marL="0" indent="0" algn="ctr">
              <a:buNone/>
            </a:pPr>
            <a:r>
              <a:rPr lang="en-US" sz="1100" dirty="0">
                <a:solidFill>
                  <a:srgbClr val="C7D0DE"/>
                </a:solidFill>
              </a:rPr>
              <a:t>ANHANGUERA ASA NORTE  •  06 E 07 DE OUTUBRO DE 2026</a:t>
            </a:r>
            <a:endParaRPr lang="en-US" sz="1100" dirty="0"/>
          </a:p>
        </p:txBody>
      </p:sp>
      <p:sp>
        <p:nvSpPr>
          <p:cNvPr id="11" name="Text 9"/>
          <p:cNvSpPr/>
          <p:nvPr/>
        </p:nvSpPr>
        <p:spPr>
          <a:xfrm>
            <a:off x="1828800" y="5916168"/>
            <a:ext cx="8531352" cy="256032"/>
          </a:xfrm>
          <a:prstGeom prst="rect">
            <a:avLst/>
          </a:prstGeom>
          <a:noFill/>
          <a:ln/>
        </p:spPr>
        <p:txBody>
          <a:bodyPr wrap="square" lIns="0" tIns="0" rIns="0" bIns="0" rtlCol="0" anchor="ctr"/>
          <a:lstStyle/>
          <a:p>
            <a:pPr marL="0" indent="0" algn="ctr">
              <a:buNone/>
            </a:pPr>
            <a:r>
              <a:rPr lang="en-US" sz="1050" dirty="0">
                <a:solidFill>
                  <a:srgbClr val="AEBBD0"/>
                </a:solidFill>
              </a:rPr>
              <a:t>ciência • inovação • compromisso com a sociedade</a:t>
            </a:r>
            <a:endParaRPr lang="en-US" sz="1050" dirty="0"/>
          </a:p>
        </p:txBody>
      </p:sp>
      <p:sp>
        <p:nvSpPr>
          <p:cNvPr id="101" name="Fundo QR 101"/>
          <p:cNvSpPr/>
          <p:nvPr/>
        </p:nvSpPr>
        <p:spPr>
          <a:xfrm>
            <a:off x="9646920" y="4526280"/>
            <a:ext cx="1463040" cy="1463040"/>
          </a:xfrm>
          <a:prstGeom prst="roundRect">
            <a:avLst>
              <a:gd name="adj" fmla="val 8000"/>
            </a:avLst>
          </a:prstGeom>
          <a:solidFill>
            <a:srgbClr val="FFFFFF"/>
          </a:solidFill>
          <a:ln>
            <a:noFill/>
          </a:ln>
        </p:spPr>
      </p:sp>
      <p:pic>
        <p:nvPicPr>
          <p:cNvPr id="102" name="Imagem 102" descr="QR code para o Site Hub de Igor Caires Machado"/>
          <p:cNvPicPr>
            <a:picLocks noChangeAspect="1"/>
          </p:cNvPicPr>
          <p:nvPr/>
        </p:nvPicPr>
        <p:blipFill>
          <a:blip r:embed="rIdM1"/>
          <a:stretch>
            <a:fillRect/>
          </a:stretch>
        </p:blipFill>
        <p:spPr>
          <a:xfrm>
            <a:off x="9738360" y="4617720"/>
            <a:ext cx="1280160" cy="1280160"/>
          </a:xfrm>
          <a:prstGeom prst="rect">
            <a:avLst/>
          </a:prstGeom>
        </p:spPr>
      </p:pic>
      <p:sp>
        <p:nvSpPr>
          <p:cNvPr id="103" name="Texto 103"/>
          <p:cNvSpPr txBox="1"/>
          <p:nvPr/>
        </p:nvSpPr>
        <p:spPr>
          <a:xfrm>
            <a:off x="9326880" y="6035040"/>
            <a:ext cx="2103120" cy="274320"/>
          </a:xfrm>
          <a:prstGeom prst="rect">
            <a:avLst/>
          </a:prstGeom>
          <a:noFill/>
          <a:ln>
            <a:noFill/>
          </a:ln>
        </p:spPr>
        <p:txBody>
          <a:bodyPr wrap="square" lIns="0" tIns="0" rIns="0" bIns="0" rtlCol="0" anchor="t">
            <a:normAutofit/>
          </a:bodyPr>
          <a:lstStyle/>
          <a:p>
            <a:pPr algn="ctr" marL="0" indent="0">
              <a:buNone/>
            </a:pPr>
            <a:r>
              <a:rPr lang="pt-BR" sz="1000" dirty="0">
                <a:solidFill>
                  <a:srgbClr val="D6DEEC"/>
                </a:solidFill>
              </a:rPr>
              <a:t>Materiais e referências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0dc42001-9759-4b38-a906-152fbf37e35a}" enabled="1" method="Privileged" siteId="{a50e7b76-8ea5-492c-bf17-97d652fc3ce9}" contentBits="2" removed="0"/>
</clbl:labelList>
</file>

<file path=docProps/app.xml><?xml version="1.0" encoding="utf-8"?>
<Properties xmlns="http://schemas.openxmlformats.org/officeDocument/2006/extended-properties" xmlns:vt="http://schemas.openxmlformats.org/officeDocument/2006/docPropsVTypes">
  <TotalTime>2</TotalTime>
  <Words>254</Words>
  <Application>Microsoft Office PowerPoint</Application>
  <PresentationFormat>Widescreen</PresentationFormat>
  <Paragraphs>33</Paragraphs>
  <Slides>5</Slides>
  <Notes>5</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5</vt:i4>
      </vt:variant>
    </vt:vector>
  </HeadingPairs>
  <TitlesOfParts>
    <vt:vector size="9" baseType="lpstr">
      <vt:lpstr>Aptos</vt:lpstr>
      <vt:lpstr>Aptos Display</vt:lpstr>
      <vt:lpstr>Arial</vt:lpstr>
      <vt:lpstr>Office Theme</vt:lpstr>
      <vt:lpstr>Apresentação do PowerPoint</vt:lpstr>
      <vt:lpstr>Apresentação do PowerPoint</vt:lpstr>
      <vt:lpstr>Apresentação do PowerPoint</vt:lpstr>
      <vt:lpstr>Apresentação do PowerPoint</vt:lpstr>
      <vt:lpstr>Apresentação do PowerPoint</vt:lpstr>
    </vt:vector>
  </TitlesOfParts>
  <Company>Anhanguera Asa Norte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 papel do administrador na implementação de políticas públicas</dc:title>
  <dc:subject>Modelo de apresentação para palestrantes do IV Congresso Científico</dc:subject>
  <dc:creator>Igor Caires Machado</dc:creator>
  <cp:lastModifiedBy>Igor Caires Machado</cp:lastModifiedBy>
  <cp:revision>3</cp:revision>
  <dcterms:created xsi:type="dcterms:W3CDTF">2026-09-23T20:36:15Z</dcterms:created>
  <dcterms:modified xsi:type="dcterms:W3CDTF">2026-10-02T19:22:13Z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Theme:3</vt:lpwstr>
  </property>
  <property fmtid="{D5CDD505-2E9C-101B-9397-08002B2CF9AE}" pid="3" name="ClassificationContentMarkingFooterText">
    <vt:lpwstr>Público</vt:lpwstr>
  </property>
</Properties>
</file>