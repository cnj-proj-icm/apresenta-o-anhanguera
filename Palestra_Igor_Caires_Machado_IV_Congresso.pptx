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80" r:id="rId3"/>
    <p:sldId id="257" r:id="rId4"/>
    <p:sldId id="262" r:id="rId5"/>
    <p:sldId id="263" r:id="rId6"/>
    <p:sldId id="281" r:id="rId29"/>
    <p:sldId id="282" r:id="rId30"/>
    <p:sldId id="265" r:id="rId7"/>
    <p:sldId id="277" r:id="rId8"/>
    <p:sldId id="269" r:id="rId9"/>
    <p:sldId id="273" r:id="rId10"/>
    <p:sldId id="274" r:id="rId11"/>
    <p:sldId id="275" r:id="rId12"/>
    <p:sldId id="272" r:id="rId13"/>
    <p:sldId id="278" r:id="rId14"/>
    <p:sldId id="276" r:id="rId15"/>
    <p:sldId id="279" r:id="rId16"/>
    <p:sldId id="258" r:id="rId17"/>
    <p:sldId id="264" r:id="rId18"/>
    <p:sldId id="267" r:id="rId19"/>
    <p:sldId id="268" r:id="rId20"/>
    <p:sldId id="270" r:id="rId21"/>
    <p:sldId id="271" r:id="rId22"/>
    <p:sldId id="266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7"/>
    <p:restoredTop sz="72896" autoAdjust="0"/>
  </p:normalViewPr>
  <p:slideViewPr>
    <p:cSldViewPr snapToGrid="0" snapToObjects="1">
      <p:cViewPr>
        <p:scale>
          <a:sx n="75" d="100"/>
          <a:sy n="75" d="100"/>
        </p:scale>
        <p:origin x="1174" y="18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6.xml"/><Relationship Id="rId30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7672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Abertura: Estamos aqui para falar de uma questão muito prática: o que acontece entre uma decisão e o resultado que chega ao cidadão? Não antecipar a estrutura da palestra.</a:t>
            </a:r>
          </a:p>
          <a:p>
            <a:endParaRPr lang="pt-BR"/>
          </a:p>
          <a:p>
            <a:r>
              <a:rPr lang="pt-BR"/>
              <a:t>Referências e notas da versão original:</a:t>
            </a:r>
          </a:p>
          <a:p>
            <a:r>
              <a:rPr lang="pt-BR"/>
              <a:t>Boa noite.</a:t>
            </a:r>
          </a:p>
          <a:p>
            <a:r>
              <a:rPr lang="pt-BR"/>
              <a:t>Primeiramente, obrigado à coordenação do curso de Administração pelo convite e obrigado a todos vocês por estarem aqui.</a:t>
            </a:r>
          </a:p>
          <a:p>
            <a:r>
              <a:rPr lang="pt-BR"/>
              <a:t>Estamos aqui hoje para falar sobre uma questão muito prática, que é o papel do administrador na implementação das políticas públicas.</a:t>
            </a:r>
          </a:p>
          <a:p>
            <a:r>
              <a:rPr lang="pt-BR"/>
              <a:t>Ou seja, como uma decisão pública, que nasce numa norma, num programa, numa política, chega de fato à vida das pessoas?</a:t>
            </a:r>
          </a:p>
          <a:p>
            <a:r>
              <a:rPr lang="pt-BR"/>
              <a:t>E é justamente nesse caminho, entre aquilo que foi decidido e aquilo que acontece na prática, que o trabalho do administrador ganha importância.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Começar perguntando: que problema da vida de vocês depende de uma resposta coletiva? Apresentar a definição em linguagem simples.</a:t>
            </a:r>
          </a:p>
          <a:p>
            <a:endParaRPr/>
          </a:p>
          <a:p>
            <a:r>
              <a:t>Exemplo hipotético: famílias que precisam de vagas em creches. A política envolve a decisão de ampliar o acesso, os recursos, as unidades, as equipes e as regras. A lei ou o anúncio, isoladamente, não garantem o atendimento.</a:t>
            </a:r>
          </a:p>
          <a:p>
            <a:endParaRPr/>
          </a:p>
          <a:p>
            <a:r>
              <a:t>Transição</a:t>
            </a:r>
            <a:r>
              <a:rPr lang="pt-BR"/>
              <a:t> para a trajetória</a:t>
            </a:r>
            <a:r>
              <a:t>: </a:t>
            </a:r>
            <a:r>
              <a:rPr lang="pt-BR"/>
              <a:t>guardem </a:t>
            </a:r>
            <a:r>
              <a:t>o </a:t>
            </a:r>
            <a:r>
              <a:rPr lang="pt-BR"/>
              <a:t>exemplo da creche</a:t>
            </a:r>
            <a:r>
              <a:t>. </a:t>
            </a:r>
            <a:r>
              <a:rPr lang="pt-BR"/>
              <a:t>A pergunta é como uma decisão vira </a:t>
            </a:r>
            <a:r>
              <a:t>atendimento de verdade</a:t>
            </a:r>
            <a:r>
              <a:rPr lang="pt-BR"/>
              <a:t>. Foi a convivência com problemas desse tipo na gestão pública </a:t>
            </a:r>
            <a:r>
              <a:t>que </a:t>
            </a:r>
            <a:r>
              <a:rPr lang="pt-BR"/>
              <a:t>me levou à pesquisa. Antes de voltar ao exemplo, conto rapidamente de onde vem esse olhar</a:t>
            </a:r>
            <a:r>
              <a:t>.</a:t>
            </a:r>
          </a:p>
          <a:p>
            <a:endParaRPr/>
          </a:p>
          <a:p>
            <a:r>
              <a:t>Nota conceitual: esta é uma síntese didática. O referencial do TCU também considera diretrizes, recursos públicos e a escolha de tratar ou não problemas públicos.</a:t>
            </a:r>
          </a:p>
          <a:p>
            <a:endParaRPr/>
          </a:p>
          <a:p>
            <a:r>
              <a:t>[Sources]</a:t>
            </a:r>
          </a:p>
          <a:p>
            <a:r>
              <a:t>TCU. Política pública em dez passos, 2021. https://portal.tcu.gov.br/publicacoes-institucionais/cartilha-manual-ou-tutorial/politica-publica-em-dez-passos</a:t>
            </a:r>
          </a:p>
          <a:p>
            <a:r>
              <a:t>Busca oficial TCU: conjunto de intervenções e diretrizes governamentais dirigidas a problemas públicos. Entity keys web_ddeeaeb3, web_5ba784d5, web_9df4faba.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Até um minuto. Esta apresentação pessoal responde à pergunta: de onde vem meu interesse pela implementação?</a:t>
            </a:r>
          </a:p>
          <a:p>
            <a:endParaRPr lang="pt-BR"/>
          </a:p>
          <a:p>
            <a:r>
              <a:rPr lang="pt-BR"/>
              <a:t>Minha trajetória começou com espaço, passou pela gestão e chegou à pesquisa. A formação</a:t>
            </a:r>
            <a:r>
              <a:rPr dirty="0"/>
              <a:t> em Arquitetura e Urbanismo, </a:t>
            </a:r>
            <a:r>
              <a:rPr lang="pt-BR"/>
              <a:t>na </a:t>
            </a:r>
            <a:r>
              <a:rPr dirty="0"/>
              <a:t>UFBA</a:t>
            </a:r>
            <a:r>
              <a:rPr lang="pt-BR"/>
              <a:t>, trouxe o olhar</a:t>
            </a:r>
            <a:r>
              <a:rPr dirty="0"/>
              <a:t> para </a:t>
            </a:r>
            <a:r>
              <a:rPr lang="pt-BR"/>
              <a:t>os</a:t>
            </a:r>
            <a:r>
              <a:rPr dirty="0"/>
              <a:t> ambientes e </a:t>
            </a:r>
            <a:r>
              <a:rPr lang="pt-BR"/>
              <a:t>seus usos. A atuação </a:t>
            </a:r>
            <a:r>
              <a:rPr dirty="0"/>
              <a:t>no </a:t>
            </a:r>
            <a:r>
              <a:rPr lang="pt-BR"/>
              <a:t>TJBA</a:t>
            </a:r>
            <a:r>
              <a:rPr dirty="0"/>
              <a:t>, </a:t>
            </a:r>
            <a:r>
              <a:rPr lang="pt-BR"/>
              <a:t>no CNJ e na</a:t>
            </a:r>
            <a:r>
              <a:rPr dirty="0"/>
              <a:t> </a:t>
            </a:r>
            <a:r>
              <a:rPr lang="pt-BR"/>
              <a:t>ENAJU aproximou esse olhar dos problemas </a:t>
            </a:r>
            <a:r>
              <a:rPr dirty="0"/>
              <a:t>da </a:t>
            </a:r>
            <a:r>
              <a:rPr lang="pt-BR"/>
              <a:t>gestão</a:t>
            </a:r>
            <a:r>
              <a:rPr dirty="0"/>
              <a:t>. </a:t>
            </a:r>
            <a:r>
              <a:rPr lang="pt-BR"/>
              <a:t>O doutorado</a:t>
            </a:r>
            <a:r>
              <a:rPr dirty="0"/>
              <a:t> </a:t>
            </a:r>
            <a:r>
              <a:rPr lang="pt-BR"/>
              <a:t>na</a:t>
            </a:r>
            <a:r>
              <a:rPr dirty="0"/>
              <a:t> UCES e </a:t>
            </a:r>
            <a:r>
              <a:rPr lang="pt-BR"/>
              <a:t>o pós-doutorado</a:t>
            </a:r>
            <a:r>
              <a:rPr dirty="0"/>
              <a:t> </a:t>
            </a:r>
            <a:r>
              <a:rPr lang="pt-BR"/>
              <a:t>na</a:t>
            </a:r>
            <a:r>
              <a:rPr dirty="0"/>
              <a:t> ENAP</a:t>
            </a:r>
            <a:r>
              <a:rPr lang="pt-BR"/>
              <a:t> deram ferramentas para investigá-los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A </a:t>
            </a:r>
            <a:r>
              <a:rPr lang="pt-BR"/>
              <a:t>pesquisa</a:t>
            </a:r>
            <a:r>
              <a:rPr dirty="0"/>
              <a:t> </a:t>
            </a:r>
            <a:r>
              <a:rPr lang="pt-BR"/>
              <a:t>começou para mim como</a:t>
            </a:r>
            <a:r>
              <a:rPr dirty="0"/>
              <a:t> </a:t>
            </a:r>
            <a:r>
              <a:rPr lang="pt-BR"/>
              <a:t>uma</a:t>
            </a:r>
            <a:r>
              <a:rPr dirty="0"/>
              <a:t> forma de </a:t>
            </a:r>
            <a:r>
              <a:rPr lang="pt-BR"/>
              <a:t>entender</a:t>
            </a:r>
            <a:r>
              <a:rPr dirty="0"/>
              <a:t> </a:t>
            </a:r>
            <a:r>
              <a:rPr lang="pt-BR"/>
              <a:t>por que decisões nem sempre viram resultados na gestão.</a:t>
            </a:r>
          </a:p>
          <a:p>
            <a:endParaRPr lang="pt-BR"/>
          </a:p>
          <a:p>
            <a:r>
              <a:rPr lang="pt-BR"/>
              <a:t>Transição: voltemos à creche. Imagine que as vagas foram anunciadas, o sistema existe e a equipe recebeu treinamento. Mesmo assim, uma família não consegue concluir a matrícula. O que pode estar acontecendo?</a:t>
            </a:r>
          </a:p>
          <a:p>
            <a:endParaRPr lang="pt-BR"/>
          </a:p>
          <a:p>
            <a:r>
              <a:rPr lang="pt-BR"/>
              <a:t>O exemplo da creche é hipotético e não corresponde a uma pesquisa pessoal relatada. Informações biográficas preservadas da apresentação original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Explicar o papel do administrador dentro da organização. A política define direção, mas a execução exige tradução organizacional: orçamento, equipes, contratos, sistemas, processos e informação. O administrador pode formular, traduzir, coordenar, executar, monitorar e aprender. Introduzir a ideia de intermediário com precisão: não é apenas alguém que está no meio, mas um ator que conecta partes da implementação por meio de funções concretas.</a:t>
            </a:r>
          </a:p>
          <a:p>
            <a:endParaRPr lang="pt-BR" dirty="0"/>
          </a:p>
          <a:p>
            <a:r>
              <a:rPr lang="pt-BR" dirty="0"/>
              <a:t/>
            </a:r>
          </a:p>
          <a:p>
            <a:r>
              <a:rPr lang="pt-BR" dirty="0"/>
              <a:t/>
            </a:r>
          </a:p>
          <a:p>
            <a:r>
              <a:rPr lang="pt-BR" dirty="0"/>
              <a:t/>
            </a:r>
          </a:p>
          <a:p>
            <a:r>
              <a:rPr lang="pt-BR" dirty="0"/>
              <a:t/>
            </a:r>
          </a:p>
          <a:p>
            <a:r>
              <a:rPr lang="pt-BR" dirty="0"/>
              <a:t/>
            </a:r>
          </a:p>
          <a:p>
            <a:r>
              <a:rPr lang="pt-BR" dirty="0"/>
              <a:t/>
            </a:r>
          </a:p>
          <a:p>
            <a:r>
              <a:rPr lang="pt-BR" dirty="0"/>
              <a:t/>
            </a:r>
          </a:p>
          <a:p>
            <a:r>
              <a:rPr lang="pt-BR" dirty="0"/>
              <a:t/>
            </a:r>
          </a:p>
          <a:p>
            <a:r>
              <a:rPr lang="pt-BR" dirty="0"/>
              <a:t/>
            </a:r>
          </a:p>
          <a:p>
            <a:r>
              <a:rPr lang="pt-BR" dirty="0"/>
              <a:t/>
            </a:r>
          </a:p>
          <a:p>
            <a:r>
              <a:rPr lang="pt-BR" dirty="0"/>
              <a:t/>
            </a:r>
          </a:p>
          <a:p>
            <a:r>
              <a:rPr lang="pt-BR" dirty="0"/>
              <a:t/>
            </a:r>
          </a:p>
          <a:p>
            <a:r>
              <a:rPr lang="pt-BR" dirty="0"/>
              <a:t/>
            </a:r>
          </a:p>
          <a:p>
            <a:r>
              <a:rPr lang="pt-BR" dirty="0"/>
              <a:t/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Transição: a política chega à organização, mas só se realiza em situações concretas. Pedir que os estudantes observem os elementos do slide: balcão, plataforma, formulário, sala, sistema, fila, equipe, contrato, documento, infraestrutura, atendimento. A implementação não acontece abstratamente dentro de um organograma. Ela acontece quando pessoas, regras, tecnologias, documentos, recursos e espaços se encontram e produzem práticas reais.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Transição: Então, se eu quero entender por que uma política está funcionando de um jeito e não de outro, eu preciso pesquisar. E aí a teoria começa a ter uma função muito prática: ela me ajuda a saber o que observar.</a:t>
            </a:r>
          </a:p>
          <a:p>
            <a:r>
              <a:rPr lang="pt-BR" dirty="0"/>
              <a:t>Quem quiser conhecer toda a construção teórica, o projeto completo está disponível. Aqui eu quero mostrar o que esse trabalho permite fazer na prática. Origem do ARENAS na pesquisa de pós-doutorado do apresentador, com aprofundamento no apoio.</a:t>
            </a:r>
          </a:p>
          <a:p>
            <a:endParaRPr lang="pt-BR" dirty="0"/>
          </a:p>
          <a:p>
            <a:r>
              <a:rPr lang="pt-BR" dirty="0"/>
              <a:t>Referências e notas da versão original:</a:t>
            </a:r>
          </a:p>
          <a:p>
            <a:r>
              <a:rPr dirty="0"/>
              <a:t>1 min 30 s.</a:t>
            </a:r>
          </a:p>
          <a:p>
            <a:r>
              <a:rPr dirty="0"/>
              <a:t>Eu </a:t>
            </a:r>
            <a:r>
              <a:rPr dirty="0" err="1"/>
              <a:t>queria</a:t>
            </a:r>
            <a:r>
              <a:rPr dirty="0"/>
              <a:t> </a:t>
            </a:r>
            <a:r>
              <a:rPr dirty="0" err="1"/>
              <a:t>fazer</a:t>
            </a:r>
            <a:r>
              <a:rPr dirty="0"/>
              <a:t>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observação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rigor, </a:t>
            </a:r>
            <a:r>
              <a:rPr dirty="0" err="1"/>
              <a:t>porque</a:t>
            </a:r>
            <a:r>
              <a:rPr dirty="0"/>
              <a:t> isso é </a:t>
            </a:r>
            <a:r>
              <a:rPr dirty="0" err="1"/>
              <a:t>importante</a:t>
            </a:r>
            <a:r>
              <a:rPr dirty="0"/>
              <a:t> tanto para a </a:t>
            </a:r>
            <a:r>
              <a:rPr dirty="0" err="1"/>
              <a:t>pesquisa</a:t>
            </a:r>
            <a:r>
              <a:rPr dirty="0"/>
              <a:t> </a:t>
            </a:r>
            <a:r>
              <a:rPr dirty="0" err="1"/>
              <a:t>quanto</a:t>
            </a:r>
            <a:r>
              <a:rPr dirty="0"/>
              <a:t> para a </a:t>
            </a:r>
            <a:r>
              <a:rPr dirty="0" err="1"/>
              <a:t>gestão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Nem </a:t>
            </a:r>
            <a:r>
              <a:rPr dirty="0" err="1"/>
              <a:t>todo</a:t>
            </a:r>
            <a:r>
              <a:rPr dirty="0"/>
              <a:t> </a:t>
            </a:r>
            <a:r>
              <a:rPr dirty="0" err="1"/>
              <a:t>resultado</a:t>
            </a:r>
            <a:r>
              <a:rPr dirty="0"/>
              <a:t> </a:t>
            </a:r>
            <a:r>
              <a:rPr dirty="0" err="1"/>
              <a:t>tem</a:t>
            </a:r>
            <a:r>
              <a:rPr dirty="0"/>
              <a:t> o </a:t>
            </a:r>
            <a:r>
              <a:rPr dirty="0" err="1"/>
              <a:t>mesmo</a:t>
            </a:r>
            <a:r>
              <a:rPr dirty="0"/>
              <a:t> </a:t>
            </a:r>
            <a:r>
              <a:rPr dirty="0" err="1"/>
              <a:t>grau</a:t>
            </a:r>
            <a:r>
              <a:rPr dirty="0"/>
              <a:t> de </a:t>
            </a:r>
            <a:r>
              <a:rPr dirty="0" err="1"/>
              <a:t>maturidade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Uma </a:t>
            </a:r>
            <a:r>
              <a:rPr dirty="0" err="1"/>
              <a:t>coisa</a:t>
            </a:r>
            <a:r>
              <a:rPr dirty="0"/>
              <a:t> </a:t>
            </a:r>
            <a:r>
              <a:rPr dirty="0" err="1"/>
              <a:t>pode</a:t>
            </a:r>
            <a:r>
              <a:rPr dirty="0"/>
              <a:t> ser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proposição</a:t>
            </a:r>
            <a:r>
              <a:rPr dirty="0"/>
              <a:t>. </a:t>
            </a:r>
            <a:r>
              <a:rPr dirty="0" err="1"/>
              <a:t>Depois</a:t>
            </a:r>
            <a:r>
              <a:rPr dirty="0"/>
              <a:t> </a:t>
            </a:r>
            <a:r>
              <a:rPr dirty="0" err="1"/>
              <a:t>pode</a:t>
            </a:r>
            <a:r>
              <a:rPr dirty="0"/>
              <a:t> </a:t>
            </a:r>
            <a:r>
              <a:rPr dirty="0" err="1"/>
              <a:t>virar</a:t>
            </a:r>
            <a:r>
              <a:rPr dirty="0"/>
              <a:t> </a:t>
            </a:r>
            <a:r>
              <a:rPr dirty="0" err="1"/>
              <a:t>evidência</a:t>
            </a:r>
            <a:r>
              <a:rPr dirty="0"/>
              <a:t> </a:t>
            </a:r>
            <a:r>
              <a:rPr dirty="0" err="1"/>
              <a:t>preliminar</a:t>
            </a:r>
            <a:r>
              <a:rPr dirty="0"/>
              <a:t>. </a:t>
            </a:r>
            <a:r>
              <a:rPr dirty="0" err="1"/>
              <a:t>Depois</a:t>
            </a:r>
            <a:r>
              <a:rPr dirty="0"/>
              <a:t> um </a:t>
            </a:r>
            <a:r>
              <a:rPr dirty="0" err="1"/>
              <a:t>manuscrito</a:t>
            </a:r>
            <a:r>
              <a:rPr dirty="0"/>
              <a:t>, um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aceito</a:t>
            </a:r>
            <a:r>
              <a:rPr dirty="0"/>
              <a:t> e, </a:t>
            </a:r>
            <a:r>
              <a:rPr dirty="0" err="1"/>
              <a:t>finalmente</a:t>
            </a:r>
            <a:r>
              <a:rPr dirty="0"/>
              <a:t>,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publicação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Declarar</a:t>
            </a:r>
            <a:r>
              <a:rPr dirty="0"/>
              <a:t> em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estágio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resultado</a:t>
            </a:r>
            <a:r>
              <a:rPr dirty="0"/>
              <a:t> é </a:t>
            </a:r>
            <a:r>
              <a:rPr dirty="0" err="1"/>
              <a:t>uma</a:t>
            </a:r>
            <a:r>
              <a:rPr dirty="0"/>
              <a:t> forma de </a:t>
            </a:r>
            <a:r>
              <a:rPr dirty="0" err="1"/>
              <a:t>proteger</a:t>
            </a:r>
            <a:r>
              <a:rPr dirty="0"/>
              <a:t> a </a:t>
            </a:r>
            <a:r>
              <a:rPr dirty="0" err="1"/>
              <a:t>credibilidade</a:t>
            </a:r>
            <a:r>
              <a:rPr dirty="0"/>
              <a:t> da </a:t>
            </a:r>
            <a:r>
              <a:rPr dirty="0" err="1"/>
              <a:t>pesquisa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Hoje</a:t>
            </a:r>
            <a:r>
              <a:rPr dirty="0"/>
              <a:t> o ARENAS é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formulação</a:t>
            </a:r>
            <a:r>
              <a:rPr dirty="0"/>
              <a:t> </a:t>
            </a:r>
            <a:r>
              <a:rPr dirty="0" err="1"/>
              <a:t>teórica</a:t>
            </a:r>
            <a:r>
              <a:rPr dirty="0"/>
              <a:t> </a:t>
            </a:r>
            <a:r>
              <a:rPr dirty="0" err="1"/>
              <a:t>fundamentada</a:t>
            </a:r>
            <a:r>
              <a:rPr dirty="0"/>
              <a:t>. O </a:t>
            </a:r>
            <a:r>
              <a:rPr dirty="0" err="1"/>
              <a:t>próximo</a:t>
            </a:r>
            <a:r>
              <a:rPr dirty="0"/>
              <a:t> passo é o teste </a:t>
            </a:r>
            <a:r>
              <a:rPr dirty="0" err="1"/>
              <a:t>empírico</a:t>
            </a:r>
            <a:r>
              <a:rPr dirty="0"/>
              <a:t> das </a:t>
            </a:r>
            <a:r>
              <a:rPr dirty="0" err="1"/>
              <a:t>proposições</a:t>
            </a:r>
            <a:r>
              <a:rPr dirty="0"/>
              <a:t> e a </a:t>
            </a:r>
            <a:r>
              <a:rPr dirty="0" err="1"/>
              <a:t>validação</a:t>
            </a:r>
            <a:r>
              <a:rPr dirty="0"/>
              <a:t> dos </a:t>
            </a:r>
            <a:r>
              <a:rPr dirty="0" err="1"/>
              <a:t>instrumentos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Na </a:t>
            </a:r>
            <a:r>
              <a:rPr dirty="0" err="1"/>
              <a:t>gestão</a:t>
            </a:r>
            <a:r>
              <a:rPr dirty="0"/>
              <a:t> vale a </a:t>
            </a:r>
            <a:r>
              <a:rPr dirty="0" err="1"/>
              <a:t>mesma</a:t>
            </a:r>
            <a:r>
              <a:rPr dirty="0"/>
              <a:t> </a:t>
            </a:r>
            <a:r>
              <a:rPr dirty="0" err="1"/>
              <a:t>disciplina</a:t>
            </a:r>
            <a:r>
              <a:rPr dirty="0"/>
              <a:t>: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você</a:t>
            </a:r>
            <a:r>
              <a:rPr dirty="0"/>
              <a:t> </a:t>
            </a:r>
            <a:r>
              <a:rPr dirty="0" err="1"/>
              <a:t>apresenta</a:t>
            </a:r>
            <a:r>
              <a:rPr dirty="0"/>
              <a:t> um dado </a:t>
            </a:r>
            <a:r>
              <a:rPr dirty="0" err="1"/>
              <a:t>deixando</a:t>
            </a:r>
            <a:r>
              <a:rPr dirty="0"/>
              <a:t> claro o </a:t>
            </a:r>
            <a:r>
              <a:rPr dirty="0" err="1"/>
              <a:t>grau</a:t>
            </a:r>
            <a:r>
              <a:rPr dirty="0"/>
              <a:t> de </a:t>
            </a:r>
            <a:r>
              <a:rPr dirty="0" err="1"/>
              <a:t>certeza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ele</a:t>
            </a:r>
            <a:r>
              <a:rPr dirty="0"/>
              <a:t> </a:t>
            </a:r>
            <a:r>
              <a:rPr dirty="0" err="1"/>
              <a:t>permite</a:t>
            </a:r>
            <a:r>
              <a:rPr dirty="0"/>
              <a:t>, a </a:t>
            </a:r>
            <a:r>
              <a:rPr dirty="0" err="1"/>
              <a:t>qualidade</a:t>
            </a:r>
            <a:r>
              <a:rPr dirty="0"/>
              <a:t> da </a:t>
            </a:r>
            <a:r>
              <a:rPr dirty="0" err="1"/>
              <a:t>decisão</a:t>
            </a:r>
            <a:r>
              <a:rPr dirty="0"/>
              <a:t> </a:t>
            </a:r>
            <a:r>
              <a:rPr dirty="0" err="1"/>
              <a:t>melhora</a:t>
            </a:r>
            <a:r>
              <a:rPr dirty="0"/>
              <a:t> e a </a:t>
            </a:r>
            <a:r>
              <a:rPr dirty="0" err="1"/>
              <a:t>confiança</a:t>
            </a:r>
            <a:r>
              <a:rPr dirty="0"/>
              <a:t> </a:t>
            </a:r>
            <a:r>
              <a:rPr dirty="0" err="1"/>
              <a:t>também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Exemplo ilustrativo. Primeiro percorrer a experiência do cidadão. Só depois apresentar a definição curta. Uma arena pode atravessar prédios, plataformas e documentos. As cinco perguntas orientam sua delimitação. Referências: Orlikowski (2007), Leonardi (2011).</a:t>
            </a:r>
          </a:p>
          <a:p>
            <a:endParaRPr lang="pt-BR"/>
          </a:p>
          <a:p>
            <a:r>
              <a:rPr lang="pt-BR"/>
              <a:t>Referências e notas da versão original:</a:t>
            </a:r>
          </a:p>
          <a:p>
            <a:r>
              <a:t>1 min 30 s.</a:t>
            </a:r>
          </a:p>
          <a:p>
            <a:r>
              <a:t>Para analisar uma arena, eu organizei cinco grupos de componentes.</a:t>
            </a:r>
          </a:p>
          <a:p>
            <a:endParaRPr/>
          </a:p>
          <a:p>
            <a:r>
              <a:t>Primeiro, os atores: profissionais, cidadãos, gestores, intermediários.</a:t>
            </a:r>
          </a:p>
          <a:p>
            <a:endParaRPr/>
          </a:p>
          <a:p>
            <a:r>
              <a:t>Depois, as prescrições: normas, regras, procedimentos, critérios.</a:t>
            </a:r>
          </a:p>
          <a:p>
            <a:endParaRPr/>
          </a:p>
          <a:p>
            <a:r>
              <a:t>Temos as materialidades: prédio, sala, balcão, mobiliário, documento.</a:t>
            </a:r>
          </a:p>
          <a:p>
            <a:endParaRPr/>
          </a:p>
          <a:p>
            <a:r>
              <a:t>As tecnologias: sistema, plataforma, formulário, sinalização.</a:t>
            </a:r>
          </a:p>
          <a:p>
            <a:endParaRPr/>
          </a:p>
          <a:p>
            <a:r>
              <a:t>E, por fim, as práticas: esperar, circular, atender, decidir, adaptar.</a:t>
            </a:r>
          </a:p>
          <a:p>
            <a:endParaRPr/>
          </a:p>
          <a:p>
            <a:r>
              <a:t>O importante é observar a relação entre essas coisas.</a:t>
            </a:r>
          </a:p>
          <a:p>
            <a:endParaRPr/>
          </a:p>
          <a:p>
            <a:r>
              <a:t>Peguem uma norma de acessibilidade. Ela só ganha existência prática quando encontra uma rampa adequada, um sistema acessível, um servidor preparado e uma rotina de atendimento coerente.</a:t>
            </a:r>
          </a:p>
          <a:p>
            <a:endParaRPr/>
          </a:p>
          <a:p>
            <a:r>
              <a:t>É esse entrelaçamento que constitui a arena.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 ARENAS é uma formulação fundamentada, ainda em desenvolvimento e validação. Nesta aula, testar e avaliar aparecem separados para tornar o ciclo mais didático. Após mapear a arena: como a regra virou prática? Onde aparecem as fricções? Essas fricções chegam a quem pode corrigi-las? As seis lentes apoiam a investigação. Os mecanismos formais ficam no apoio.</a:t>
            </a:r>
          </a:p>
          <a:p>
            <a:endParaRPr lang="pt-BR"/>
          </a:p>
          <a:p>
            <a:r>
              <a:rPr lang="pt-BR"/>
              <a:t>Referências e notas da versão original:</a:t>
            </a:r>
          </a:p>
          <a:p>
            <a:r>
              <a:t>3 min.</a:t>
            </a:r>
          </a:p>
          <a:p>
            <a:r>
              <a:t>Vamos aplicar essa lógica a uma situação bem comum.</a:t>
            </a:r>
          </a:p>
          <a:p>
            <a:endParaRPr/>
          </a:p>
          <a:p>
            <a:r>
              <a:t>Imaginem um órgão que redesenhou o protocolo de atendimento. O novo fluxo foi criado, a meta foi definida, a equipe foi comunicada. Três meses depois, o tempo de atendimento praticamente não mudou.</a:t>
            </a:r>
          </a:p>
          <a:p>
            <a:endParaRPr/>
          </a:p>
          <a:p>
            <a:r>
              <a:t>Onde vocês começariam a investigar?</a:t>
            </a:r>
          </a:p>
          <a:p>
            <a:endParaRPr/>
          </a:p>
          <a:p>
            <a:r>
              <a:t>[Pausa. Ouvir algumas respostas.]</a:t>
            </a:r>
          </a:p>
          <a:p>
            <a:endParaRPr/>
          </a:p>
          <a:p>
            <a:r>
              <a:t>Uma possibilidade é olhar para o arranjo: a distribuição de pessoas e recursos realmente mudou?</a:t>
            </a:r>
          </a:p>
          <a:p>
            <a:endParaRPr/>
          </a:p>
          <a:p>
            <a:r>
              <a:t>Depois, para as rotinas: o trabalho que acontece de verdade seguiu o fluxo que foi desenhado?</a:t>
            </a:r>
          </a:p>
          <a:p>
            <a:endParaRPr/>
          </a:p>
          <a:p>
            <a:r>
              <a:t>Também precisamos olhar para a experiência. A equipe e os usuários entenderam a mudança?</a:t>
            </a:r>
          </a:p>
          <a:p>
            <a:endParaRPr/>
          </a:p>
          <a:p>
            <a:r>
              <a:t>E para a navegabilidade: o percurso ficou realmente mais claro?</a:t>
            </a:r>
          </a:p>
          <a:p>
            <a:endParaRPr/>
          </a:p>
          <a:p>
            <a:r>
              <a:t>Por fim, aprendizagem: as falhas observadas voltaram para quem tem poder de decidir e corrigir?</a:t>
            </a:r>
          </a:p>
          <a:p>
            <a:endParaRPr/>
          </a:p>
          <a:p>
            <a:r>
              <a:t>Essa é uma lógica de gestão baseada em evidências. Antes de alterar a regra de novo, investigue o que aconteceu na execução.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Pausar e recolher hipóteses antes de apresentar respostas. O fluxo foi redesenhado, a meta foi definida e a equipe foi comunicada. Não assumir que o problema é falta de treinamento. Aplicar as seis perguntas. Pedir à turma uma fonte de dados para testar cada hipótese. Caso hipotético para exercício, não resultado empírico do ARENAS.</a:t>
            </a:r>
          </a:p>
          <a:p>
            <a:endParaRPr lang="pt-BR" dirty="0"/>
          </a:p>
          <a:p>
            <a:r>
              <a:rPr lang="pt-BR" dirty="0"/>
              <a:t>Referências e notas da versão original:</a:t>
            </a:r>
          </a:p>
          <a:p>
            <a:r>
              <a:rPr dirty="0"/>
              <a:t>2 min.</a:t>
            </a:r>
          </a:p>
          <a:p>
            <a:r>
              <a:rPr dirty="0"/>
              <a:t>E </a:t>
            </a:r>
            <a:r>
              <a:rPr dirty="0" err="1"/>
              <a:t>aqui</a:t>
            </a:r>
            <a:r>
              <a:rPr dirty="0"/>
              <a:t> </a:t>
            </a:r>
            <a:r>
              <a:rPr dirty="0" err="1"/>
              <a:t>eu</a:t>
            </a:r>
            <a:r>
              <a:rPr dirty="0"/>
              <a:t> </a:t>
            </a:r>
            <a:r>
              <a:rPr dirty="0" err="1"/>
              <a:t>chego</a:t>
            </a:r>
            <a:r>
              <a:rPr dirty="0"/>
              <a:t> a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ideia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considero</a:t>
            </a:r>
            <a:r>
              <a:rPr dirty="0"/>
              <a:t> central para a formação em Administração.</a:t>
            </a:r>
          </a:p>
          <a:p>
            <a:endParaRPr dirty="0"/>
          </a:p>
          <a:p>
            <a:r>
              <a:rPr dirty="0"/>
              <a:t>Pesquisa </a:t>
            </a:r>
            <a:r>
              <a:rPr dirty="0" err="1"/>
              <a:t>empírica</a:t>
            </a:r>
            <a:r>
              <a:rPr dirty="0"/>
              <a:t> é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competência</a:t>
            </a:r>
            <a:r>
              <a:rPr dirty="0"/>
              <a:t> do </a:t>
            </a:r>
            <a:r>
              <a:rPr dirty="0" err="1"/>
              <a:t>administrador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Primeiro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ajuda</a:t>
            </a:r>
            <a:r>
              <a:rPr dirty="0"/>
              <a:t> a formular </a:t>
            </a:r>
            <a:r>
              <a:rPr dirty="0" err="1"/>
              <a:t>melhor</a:t>
            </a:r>
            <a:r>
              <a:rPr dirty="0"/>
              <a:t> o </a:t>
            </a:r>
            <a:r>
              <a:rPr dirty="0" err="1"/>
              <a:t>problema</a:t>
            </a:r>
            <a:r>
              <a:rPr dirty="0"/>
              <a:t>. </a:t>
            </a:r>
            <a:r>
              <a:rPr dirty="0" err="1"/>
              <a:t>Muitas</a:t>
            </a:r>
            <a:r>
              <a:rPr dirty="0"/>
              <a:t> </a:t>
            </a:r>
            <a:r>
              <a:rPr dirty="0" err="1"/>
              <a:t>vezes</a:t>
            </a:r>
            <a:r>
              <a:rPr dirty="0"/>
              <a:t> </a:t>
            </a:r>
            <a:r>
              <a:rPr dirty="0" err="1"/>
              <a:t>aquilo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aparece</a:t>
            </a:r>
            <a:r>
              <a:rPr dirty="0"/>
              <a:t> no </a:t>
            </a:r>
            <a:r>
              <a:rPr dirty="0" err="1"/>
              <a:t>cotidiano</a:t>
            </a:r>
            <a:r>
              <a:rPr dirty="0"/>
              <a:t> é </a:t>
            </a:r>
            <a:r>
              <a:rPr dirty="0" err="1"/>
              <a:t>apenas</a:t>
            </a:r>
            <a:r>
              <a:rPr dirty="0"/>
              <a:t> um </a:t>
            </a:r>
            <a:r>
              <a:rPr dirty="0" err="1"/>
              <a:t>sintoma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Depois</a:t>
            </a:r>
            <a:r>
              <a:rPr dirty="0"/>
              <a:t>, o </a:t>
            </a:r>
            <a:r>
              <a:rPr dirty="0" err="1"/>
              <a:t>método</a:t>
            </a:r>
            <a:r>
              <a:rPr dirty="0"/>
              <a:t> </a:t>
            </a:r>
            <a:r>
              <a:rPr dirty="0" err="1"/>
              <a:t>organiza</a:t>
            </a:r>
            <a:r>
              <a:rPr dirty="0"/>
              <a:t> a </a:t>
            </a:r>
            <a:r>
              <a:rPr dirty="0" err="1"/>
              <a:t>investigação</a:t>
            </a:r>
            <a:r>
              <a:rPr dirty="0"/>
              <a:t>. Ele impede </a:t>
            </a:r>
            <a:r>
              <a:rPr dirty="0" err="1"/>
              <a:t>que</a:t>
            </a:r>
            <a:r>
              <a:rPr dirty="0"/>
              <a:t> a </a:t>
            </a:r>
            <a:r>
              <a:rPr dirty="0" err="1"/>
              <a:t>gente</a:t>
            </a:r>
            <a:r>
              <a:rPr dirty="0"/>
              <a:t> fique </a:t>
            </a:r>
            <a:r>
              <a:rPr dirty="0" err="1"/>
              <a:t>apenas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impressão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A </a:t>
            </a:r>
            <a:r>
              <a:rPr dirty="0" err="1"/>
              <a:t>evidência</a:t>
            </a:r>
            <a:r>
              <a:rPr dirty="0"/>
              <a:t> </a:t>
            </a:r>
            <a:r>
              <a:rPr dirty="0" err="1"/>
              <a:t>ajuda</a:t>
            </a:r>
            <a:r>
              <a:rPr dirty="0"/>
              <a:t> a </a:t>
            </a:r>
            <a:r>
              <a:rPr dirty="0" err="1"/>
              <a:t>sustentar</a:t>
            </a:r>
            <a:r>
              <a:rPr dirty="0"/>
              <a:t>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decisão</a:t>
            </a:r>
            <a:r>
              <a:rPr dirty="0"/>
              <a:t>. E a </a:t>
            </a:r>
            <a:r>
              <a:rPr dirty="0" err="1"/>
              <a:t>comunicação</a:t>
            </a:r>
            <a:r>
              <a:rPr dirty="0"/>
              <a:t> </a:t>
            </a:r>
            <a:r>
              <a:rPr dirty="0" err="1"/>
              <a:t>transforma</a:t>
            </a:r>
            <a:r>
              <a:rPr dirty="0"/>
              <a:t> esse conhecimento em algo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pode</a:t>
            </a:r>
            <a:r>
              <a:rPr dirty="0"/>
              <a:t> circular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organização</a:t>
            </a:r>
            <a:r>
              <a:rPr dirty="0"/>
              <a:t> e </a:t>
            </a:r>
            <a:r>
              <a:rPr dirty="0" err="1"/>
              <a:t>influenciar</a:t>
            </a:r>
            <a:r>
              <a:rPr dirty="0"/>
              <a:t> </a:t>
            </a:r>
            <a:r>
              <a:rPr dirty="0" err="1"/>
              <a:t>escolhas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Simon já </a:t>
            </a:r>
            <a:r>
              <a:rPr dirty="0" err="1"/>
              <a:t>dizia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administrar</a:t>
            </a:r>
            <a:r>
              <a:rPr dirty="0"/>
              <a:t> é </a:t>
            </a:r>
            <a:r>
              <a:rPr dirty="0" err="1"/>
              <a:t>decidir</a:t>
            </a:r>
            <a:r>
              <a:rPr dirty="0"/>
              <a:t>. E, para </a:t>
            </a:r>
            <a:r>
              <a:rPr dirty="0" err="1"/>
              <a:t>mim</a:t>
            </a:r>
            <a:r>
              <a:rPr dirty="0"/>
              <a:t>, </a:t>
            </a:r>
            <a:r>
              <a:rPr dirty="0" err="1"/>
              <a:t>uma</a:t>
            </a:r>
            <a:r>
              <a:rPr dirty="0"/>
              <a:t> das </a:t>
            </a:r>
            <a:r>
              <a:rPr dirty="0" err="1"/>
              <a:t>contribuições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importantes</a:t>
            </a:r>
            <a:r>
              <a:rPr dirty="0"/>
              <a:t> da </a:t>
            </a:r>
            <a:r>
              <a:rPr dirty="0" err="1"/>
              <a:t>pesquisa</a:t>
            </a:r>
            <a:r>
              <a:rPr dirty="0"/>
              <a:t> é </a:t>
            </a:r>
            <a:r>
              <a:rPr dirty="0" err="1"/>
              <a:t>ensinar</a:t>
            </a:r>
            <a:r>
              <a:rPr dirty="0"/>
              <a:t> a </a:t>
            </a:r>
            <a:r>
              <a:rPr dirty="0" err="1"/>
              <a:t>separar</a:t>
            </a:r>
            <a:r>
              <a:rPr dirty="0"/>
              <a:t> </a:t>
            </a:r>
            <a:r>
              <a:rPr dirty="0" err="1"/>
              <a:t>opinião</a:t>
            </a:r>
            <a:r>
              <a:rPr dirty="0"/>
              <a:t>, </a:t>
            </a:r>
            <a:r>
              <a:rPr dirty="0" err="1"/>
              <a:t>hipótese</a:t>
            </a:r>
            <a:r>
              <a:rPr dirty="0"/>
              <a:t> e </a:t>
            </a:r>
            <a:r>
              <a:rPr dirty="0" err="1"/>
              <a:t>evidência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Quando a </a:t>
            </a:r>
            <a:r>
              <a:rPr dirty="0" err="1"/>
              <a:t>experiência</a:t>
            </a:r>
            <a:r>
              <a:rPr dirty="0"/>
              <a:t> profissional </a:t>
            </a:r>
            <a:r>
              <a:rPr dirty="0" err="1"/>
              <a:t>pode</a:t>
            </a:r>
            <a:r>
              <a:rPr dirty="0"/>
              <a:t> ser </a:t>
            </a:r>
            <a:r>
              <a:rPr dirty="0" err="1"/>
              <a:t>descrita</a:t>
            </a:r>
            <a:r>
              <a:rPr dirty="0"/>
              <a:t>, </a:t>
            </a:r>
            <a:r>
              <a:rPr dirty="0" err="1"/>
              <a:t>analisada</a:t>
            </a:r>
            <a:r>
              <a:rPr dirty="0"/>
              <a:t> e </a:t>
            </a:r>
            <a:r>
              <a:rPr dirty="0" err="1"/>
              <a:t>comunicada</a:t>
            </a:r>
            <a:r>
              <a:rPr dirty="0"/>
              <a:t> com </a:t>
            </a:r>
            <a:r>
              <a:rPr dirty="0" err="1"/>
              <a:t>método</a:t>
            </a:r>
            <a:r>
              <a:rPr dirty="0"/>
              <a:t>, </a:t>
            </a:r>
            <a:r>
              <a:rPr dirty="0" err="1"/>
              <a:t>ela</a:t>
            </a:r>
            <a:r>
              <a:rPr dirty="0"/>
              <a:t> </a:t>
            </a:r>
            <a:r>
              <a:rPr dirty="0" err="1"/>
              <a:t>ganha</a:t>
            </a:r>
            <a:r>
              <a:rPr dirty="0"/>
              <a:t> </a:t>
            </a:r>
            <a:r>
              <a:rPr dirty="0" err="1"/>
              <a:t>muito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força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Percorrer a sequência: problema, pergunta, hipótese, dados, análise e decisão. A hipótese de retrabalho é apenas uma explicação possível. Considerar hipóteses rivais, como demanda maior ou capacidade insuficiente. Definir dados e critérios antes de decidir. A pesquisa torna explícito o caminho entre o problema e a proposta de mudança.</a:t>
            </a:r>
          </a:p>
          <a:p>
            <a:endParaRPr lang="pt-BR"/>
          </a:p>
          <a:p>
            <a:r>
              <a:rPr lang="pt-BR"/>
              <a:t>Referências e notas da versão original:</a:t>
            </a:r>
          </a:p>
          <a:p>
            <a:r>
              <a:t>2 min.</a:t>
            </a:r>
          </a:p>
          <a:p>
            <a:r>
              <a:t>Então, como começar uma pesquisa sem esperar aparecer um grande projeto acadêmico?</a:t>
            </a:r>
          </a:p>
          <a:p>
            <a:endParaRPr/>
          </a:p>
          <a:p>
            <a:r>
              <a:t>Comece pelo seu próprio trabalho.</a:t>
            </a:r>
          </a:p>
          <a:p>
            <a:endParaRPr/>
          </a:p>
          <a:p>
            <a:r>
              <a:t>Observe. Que problema se repete no seu estágio, na empresa ou no órgão onde você trabalha?</a:t>
            </a:r>
          </a:p>
          <a:p>
            <a:endParaRPr/>
          </a:p>
          <a:p>
            <a:r>
              <a:t>Depois registre. Anote casos, fluxos, reclamações, improvisos. Coisas pequenas começam a revelar padrões quando são registradas.</a:t>
            </a:r>
          </a:p>
          <a:p>
            <a:endParaRPr/>
          </a:p>
          <a:p>
            <a:r>
              <a:t>Depois tente medir. Quase toda organização produz uma quantidade enorme de dados administrativos que raramente é explorada de forma sistemática.</a:t>
            </a:r>
          </a:p>
          <a:p>
            <a:endParaRPr/>
          </a:p>
          <a:p>
            <a:r>
              <a:t>E escreva. O que você descobriu pode virar um relatório, uma proposta de melhoria, um trabalho de conclusão ou um artigo.</a:t>
            </a:r>
          </a:p>
          <a:p>
            <a:endParaRPr/>
          </a:p>
          <a:p>
            <a:r>
              <a:t>É por isso que eu defendo a pesquisa como parte da formação profissional. Ela melhora a capacidade de decidir e também diferencia quem consegue transformar experiência em conhecimento.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Tratar como pergunta e hipótese, não como achado. Antes/depois isoladamente não demonstra causalidade. Observar mudanças de demanda, equipe e perfil dos usuários. Comparar unidades e definir o que significa complexidade, como tempo, retorno ou necessidade de coordenação. Não há resultados empíricos apresentados neste exemplo.</a:t>
            </a:r>
          </a:p>
          <a:p>
            <a:endParaRPr lang="pt-BR"/>
          </a:p>
          <a:p>
            <a:r>
              <a:rPr lang="pt-BR"/>
              <a:t>Referências e notas da versão original:</a:t>
            </a:r>
          </a:p>
          <a:p>
            <a:r>
              <a:rPr dirty="0"/>
              <a:t>2 min.</a:t>
            </a:r>
          </a:p>
          <a:p>
            <a:r>
              <a:rPr dirty="0"/>
              <a:t>Para </a:t>
            </a:r>
            <a:r>
              <a:rPr lang="pt-BR"/>
              <a:t>levar</a:t>
            </a:r>
            <a:r>
              <a:rPr dirty="0"/>
              <a:t> esse framework para </a:t>
            </a:r>
            <a:r>
              <a:rPr lang="pt-BR"/>
              <a:t>uma</a:t>
            </a:r>
            <a:r>
              <a:rPr dirty="0"/>
              <a:t> </a:t>
            </a:r>
            <a:r>
              <a:rPr lang="pt-BR"/>
              <a:t>aplicação</a:t>
            </a:r>
            <a:r>
              <a:rPr dirty="0"/>
              <a:t> </a:t>
            </a:r>
            <a:r>
              <a:rPr lang="pt-BR"/>
              <a:t>mais</a:t>
            </a:r>
            <a:r>
              <a:rPr dirty="0"/>
              <a:t> </a:t>
            </a:r>
            <a:r>
              <a:rPr lang="pt-BR"/>
              <a:t>prática</a:t>
            </a:r>
            <a:r>
              <a:rPr dirty="0"/>
              <a:t>, </a:t>
            </a:r>
            <a:r>
              <a:rPr lang="pt-BR"/>
              <a:t>eu</a:t>
            </a:r>
            <a:r>
              <a:rPr dirty="0"/>
              <a:t> </a:t>
            </a:r>
            <a:r>
              <a:rPr lang="pt-BR"/>
              <a:t>desenvolvi</a:t>
            </a:r>
            <a:r>
              <a:rPr dirty="0"/>
              <a:t> o </a:t>
            </a:r>
            <a:r>
              <a:rPr lang="pt-BR"/>
              <a:t>Método</a:t>
            </a:r>
            <a:r>
              <a:rPr dirty="0"/>
              <a:t> ARENAS.</a:t>
            </a:r>
          </a:p>
          <a:p>
            <a:endParaRPr dirty="0"/>
          </a:p>
          <a:p>
            <a:r>
              <a:rPr dirty="0"/>
              <a:t>Ele </a:t>
            </a:r>
            <a:r>
              <a:rPr lang="pt-BR"/>
              <a:t>organiza</a:t>
            </a:r>
            <a:r>
              <a:rPr dirty="0"/>
              <a:t> o </a:t>
            </a:r>
            <a:r>
              <a:rPr lang="pt-BR"/>
              <a:t>diagnóstico</a:t>
            </a:r>
            <a:r>
              <a:rPr dirty="0"/>
              <a:t> em seis </a:t>
            </a:r>
            <a:r>
              <a:rPr lang="pt-BR"/>
              <a:t>lentes</a:t>
            </a:r>
            <a:r>
              <a:rPr dirty="0"/>
              <a:t>: </a:t>
            </a:r>
            <a:r>
              <a:rPr lang="pt-BR"/>
              <a:t>arranjo</a:t>
            </a:r>
            <a:r>
              <a:rPr dirty="0"/>
              <a:t> </a:t>
            </a:r>
            <a:r>
              <a:rPr lang="pt-BR"/>
              <a:t>espacial</a:t>
            </a:r>
            <a:r>
              <a:rPr dirty="0"/>
              <a:t>, </a:t>
            </a:r>
            <a:r>
              <a:rPr lang="pt-BR"/>
              <a:t>rotinas</a:t>
            </a:r>
            <a:r>
              <a:rPr dirty="0"/>
              <a:t> de </a:t>
            </a:r>
            <a:r>
              <a:rPr lang="pt-BR"/>
              <a:t>trabalho</a:t>
            </a:r>
            <a:r>
              <a:rPr dirty="0"/>
              <a:t>, </a:t>
            </a:r>
            <a:r>
              <a:rPr lang="pt-BR"/>
              <a:t>experiência</a:t>
            </a:r>
            <a:r>
              <a:rPr dirty="0"/>
              <a:t>, </a:t>
            </a:r>
            <a:r>
              <a:rPr lang="pt-BR"/>
              <a:t>navegabilidade</a:t>
            </a:r>
            <a:r>
              <a:rPr dirty="0"/>
              <a:t>, </a:t>
            </a:r>
            <a:r>
              <a:rPr lang="pt-BR"/>
              <a:t>aprendizagem</a:t>
            </a:r>
            <a:r>
              <a:rPr dirty="0"/>
              <a:t> e sociomaterialidade.</a:t>
            </a:r>
          </a:p>
          <a:p>
            <a:endParaRPr dirty="0"/>
          </a:p>
          <a:p>
            <a:r>
              <a:rPr dirty="0"/>
              <a:t>Essa </a:t>
            </a:r>
            <a:r>
              <a:rPr lang="pt-BR"/>
              <a:t>última</a:t>
            </a:r>
            <a:r>
              <a:rPr dirty="0"/>
              <a:t> lente </a:t>
            </a:r>
            <a:r>
              <a:rPr lang="pt-BR"/>
              <a:t>funciona</a:t>
            </a:r>
            <a:r>
              <a:rPr dirty="0"/>
              <a:t> </a:t>
            </a:r>
            <a:r>
              <a:rPr lang="pt-BR"/>
              <a:t>quase</a:t>
            </a:r>
            <a:r>
              <a:rPr dirty="0"/>
              <a:t> </a:t>
            </a:r>
            <a:r>
              <a:rPr lang="pt-BR"/>
              <a:t>como</a:t>
            </a:r>
            <a:r>
              <a:rPr dirty="0"/>
              <a:t> </a:t>
            </a:r>
            <a:r>
              <a:rPr lang="pt-BR"/>
              <a:t>uma</a:t>
            </a:r>
            <a:r>
              <a:rPr dirty="0"/>
              <a:t> </a:t>
            </a:r>
            <a:r>
              <a:rPr lang="pt-BR"/>
              <a:t>costura</a:t>
            </a:r>
            <a:r>
              <a:rPr dirty="0"/>
              <a:t> entre as </a:t>
            </a:r>
            <a:r>
              <a:rPr lang="pt-BR"/>
              <a:t>demais</a:t>
            </a:r>
            <a:r>
              <a:rPr dirty="0"/>
              <a:t>, </a:t>
            </a:r>
            <a:r>
              <a:rPr lang="pt-BR"/>
              <a:t>porque</a:t>
            </a:r>
            <a:r>
              <a:rPr dirty="0"/>
              <a:t> </a:t>
            </a:r>
            <a:r>
              <a:rPr lang="pt-BR"/>
              <a:t>obriga</a:t>
            </a:r>
            <a:r>
              <a:rPr dirty="0"/>
              <a:t> a </a:t>
            </a:r>
            <a:r>
              <a:rPr lang="pt-BR"/>
              <a:t>olhar</a:t>
            </a:r>
            <a:r>
              <a:rPr dirty="0"/>
              <a:t> para as </a:t>
            </a:r>
            <a:r>
              <a:rPr lang="pt-BR"/>
              <a:t>relações</a:t>
            </a:r>
            <a:r>
              <a:rPr dirty="0"/>
              <a:t> entre </a:t>
            </a:r>
            <a:r>
              <a:rPr lang="pt-BR"/>
              <a:t>pessoas</a:t>
            </a:r>
            <a:r>
              <a:rPr dirty="0"/>
              <a:t>, </a:t>
            </a:r>
            <a:r>
              <a:rPr lang="pt-BR"/>
              <a:t>regras</a:t>
            </a:r>
            <a:r>
              <a:rPr dirty="0"/>
              <a:t>, </a:t>
            </a:r>
            <a:r>
              <a:rPr lang="pt-BR"/>
              <a:t>tecnologias</a:t>
            </a:r>
            <a:r>
              <a:rPr dirty="0"/>
              <a:t> e </a:t>
            </a:r>
            <a:r>
              <a:rPr lang="pt-BR"/>
              <a:t>espaço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O </a:t>
            </a:r>
            <a:r>
              <a:rPr lang="pt-BR"/>
              <a:t>ciclo</a:t>
            </a:r>
            <a:r>
              <a:rPr dirty="0"/>
              <a:t> de </a:t>
            </a:r>
            <a:r>
              <a:rPr lang="pt-BR"/>
              <a:t>aplicação</a:t>
            </a:r>
            <a:r>
              <a:rPr dirty="0"/>
              <a:t> é </a:t>
            </a:r>
            <a:r>
              <a:rPr lang="pt-BR"/>
              <a:t>bastante</a:t>
            </a:r>
            <a:r>
              <a:rPr dirty="0"/>
              <a:t> </a:t>
            </a:r>
            <a:r>
              <a:rPr lang="pt-BR"/>
              <a:t>direto</a:t>
            </a:r>
            <a:r>
              <a:rPr dirty="0"/>
              <a:t>: </a:t>
            </a:r>
            <a:r>
              <a:rPr lang="pt-BR"/>
              <a:t>observar</a:t>
            </a:r>
            <a:r>
              <a:rPr dirty="0"/>
              <a:t>, </a:t>
            </a:r>
            <a:r>
              <a:rPr lang="pt-BR"/>
              <a:t>diagnosticar</a:t>
            </a:r>
            <a:r>
              <a:rPr dirty="0"/>
              <a:t>, </a:t>
            </a:r>
            <a:r>
              <a:rPr lang="pt-BR"/>
              <a:t>redesenhar</a:t>
            </a:r>
            <a:r>
              <a:rPr dirty="0"/>
              <a:t>, </a:t>
            </a:r>
            <a:r>
              <a:rPr lang="pt-BR"/>
              <a:t>testar</a:t>
            </a:r>
            <a:r>
              <a:rPr dirty="0"/>
              <a:t> e </a:t>
            </a:r>
            <a:r>
              <a:rPr lang="pt-BR"/>
              <a:t>avaliar</a:t>
            </a:r>
            <a:r>
              <a:rPr dirty="0"/>
              <a:t>, e </a:t>
            </a:r>
            <a:r>
              <a:rPr lang="pt-BR"/>
              <a:t>aprender</a:t>
            </a:r>
            <a:r>
              <a:rPr dirty="0"/>
              <a:t> com o </a:t>
            </a:r>
            <a:r>
              <a:rPr lang="pt-BR"/>
              <a:t>resultado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Eu </a:t>
            </a:r>
            <a:r>
              <a:rPr lang="pt-BR"/>
              <a:t>já</a:t>
            </a:r>
            <a:r>
              <a:rPr dirty="0"/>
              <a:t> </a:t>
            </a:r>
            <a:r>
              <a:rPr lang="pt-BR"/>
              <a:t>desenvolvi</a:t>
            </a:r>
            <a:r>
              <a:rPr dirty="0"/>
              <a:t> um </a:t>
            </a:r>
            <a:r>
              <a:rPr lang="pt-BR"/>
              <a:t>protótipo</a:t>
            </a:r>
            <a:r>
              <a:rPr dirty="0"/>
              <a:t> com </a:t>
            </a:r>
            <a:r>
              <a:rPr lang="pt-BR"/>
              <a:t>vinte</a:t>
            </a:r>
            <a:r>
              <a:rPr dirty="0"/>
              <a:t> e </a:t>
            </a:r>
            <a:r>
              <a:rPr lang="pt-BR"/>
              <a:t>quatro</a:t>
            </a:r>
            <a:r>
              <a:rPr dirty="0"/>
              <a:t> cartas e um checklist </a:t>
            </a:r>
            <a:r>
              <a:rPr lang="pt-BR"/>
              <a:t>bilíngue</a:t>
            </a:r>
            <a:r>
              <a:rPr dirty="0"/>
              <a:t> para </a:t>
            </a:r>
            <a:r>
              <a:rPr lang="pt-BR"/>
              <a:t>conduzir</a:t>
            </a:r>
            <a:r>
              <a:rPr dirty="0"/>
              <a:t> </a:t>
            </a:r>
            <a:r>
              <a:rPr lang="pt-BR"/>
              <a:t>oficinas</a:t>
            </a:r>
            <a:r>
              <a:rPr dirty="0"/>
              <a:t>.</a:t>
            </a:r>
          </a:p>
          <a:p>
            <a:endParaRPr dirty="0"/>
          </a:p>
          <a:p>
            <a:r>
              <a:rPr lang="pt-BR"/>
              <a:t>Ainda</a:t>
            </a:r>
            <a:r>
              <a:rPr dirty="0"/>
              <a:t> é um </a:t>
            </a:r>
            <a:r>
              <a:rPr lang="pt-BR"/>
              <a:t>protótipo</a:t>
            </a:r>
            <a:r>
              <a:rPr dirty="0"/>
              <a:t>. Eu </a:t>
            </a:r>
            <a:r>
              <a:rPr lang="pt-BR"/>
              <a:t>não</a:t>
            </a:r>
            <a:r>
              <a:rPr dirty="0"/>
              <a:t> </a:t>
            </a:r>
            <a:r>
              <a:rPr lang="pt-BR"/>
              <a:t>testei</a:t>
            </a:r>
            <a:r>
              <a:rPr dirty="0"/>
              <a:t> esse </a:t>
            </a:r>
            <a:r>
              <a:rPr lang="pt-BR"/>
              <a:t>instrumento</a:t>
            </a:r>
            <a:r>
              <a:rPr dirty="0"/>
              <a:t> em </a:t>
            </a:r>
            <a:r>
              <a:rPr lang="pt-BR"/>
              <a:t>oficina</a:t>
            </a:r>
            <a:r>
              <a:rPr dirty="0"/>
              <a:t> </a:t>
            </a:r>
            <a:r>
              <a:rPr lang="pt-BR"/>
              <a:t>até</a:t>
            </a:r>
            <a:r>
              <a:rPr dirty="0"/>
              <a:t> agora. E, inclusive, </a:t>
            </a:r>
            <a:r>
              <a:rPr lang="pt-BR"/>
              <a:t>gostaria</a:t>
            </a:r>
            <a:r>
              <a:rPr dirty="0"/>
              <a:t> de </a:t>
            </a:r>
            <a:r>
              <a:rPr lang="pt-BR"/>
              <a:t>fazer</a:t>
            </a:r>
            <a:r>
              <a:rPr dirty="0"/>
              <a:t> esse </a:t>
            </a:r>
            <a:r>
              <a:rPr lang="pt-BR"/>
              <a:t>tipo</a:t>
            </a:r>
            <a:r>
              <a:rPr dirty="0"/>
              <a:t> de teste com </a:t>
            </a:r>
            <a:r>
              <a:rPr lang="pt-BR"/>
              <a:t>estudantes</a:t>
            </a:r>
            <a:r>
              <a:rPr dirty="0"/>
              <a:t>, </a:t>
            </a:r>
            <a:r>
              <a:rPr lang="pt-BR"/>
              <a:t>porque</a:t>
            </a:r>
            <a:r>
              <a:rPr dirty="0"/>
              <a:t> é </a:t>
            </a:r>
            <a:r>
              <a:rPr lang="pt-BR"/>
              <a:t>uma</a:t>
            </a:r>
            <a:r>
              <a:rPr dirty="0"/>
              <a:t> forma </a:t>
            </a:r>
            <a:r>
              <a:rPr lang="pt-BR"/>
              <a:t>muito</a:t>
            </a:r>
            <a:r>
              <a:rPr dirty="0"/>
              <a:t> boa de </a:t>
            </a:r>
            <a:r>
              <a:rPr lang="pt-BR"/>
              <a:t>aproximar</a:t>
            </a:r>
            <a:r>
              <a:rPr dirty="0"/>
              <a:t> </a:t>
            </a:r>
            <a:r>
              <a:rPr lang="pt-BR"/>
              <a:t>pesquisa</a:t>
            </a:r>
            <a:r>
              <a:rPr dirty="0"/>
              <a:t> e </a:t>
            </a:r>
            <a:r>
              <a:rPr lang="pt-BR"/>
              <a:t>prática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Retomar a pergunta sobre digitalização. Ela é uma hipótese de investigação, não uma conclusão. A conclusão depende da qualidade da evidência e deve reconhecer os limites da comparação. Preservar a distinção entre proposição e validação empírica do ARENAS.</a:t>
            </a:r>
          </a:p>
          <a:p>
            <a:endParaRPr lang="pt-BR"/>
          </a:p>
          <a:p>
            <a:r>
              <a:rPr lang="pt-BR"/>
              <a:t>Referências e notas da versão original:</a:t>
            </a:r>
          </a:p>
          <a:p>
            <a:r>
              <a:t>1 min 30 s.</a:t>
            </a:r>
          </a:p>
          <a:p>
            <a:r>
              <a:t>Para organizar o que vimos, eu deixaria quatro perguntas.</a:t>
            </a:r>
          </a:p>
          <a:p>
            <a:endParaRPr/>
          </a:p>
          <a:p>
            <a:r>
              <a:t>Como essa política foi traduzida quando chegou à organização?</a:t>
            </a:r>
          </a:p>
          <a:p>
            <a:endParaRPr/>
          </a:p>
          <a:p>
            <a:r>
              <a:t>Que arena concreta está fazendo essa política funcionar?</a:t>
            </a:r>
          </a:p>
          <a:p>
            <a:endParaRPr/>
          </a:p>
          <a:p>
            <a:r>
              <a:t>Que evidências mostram o que está acontecendo de verdade?</a:t>
            </a:r>
          </a:p>
          <a:p>
            <a:endParaRPr/>
          </a:p>
          <a:p>
            <a:r>
              <a:t>E como a organização aprende com a experiência e corrige o que precisa ser corrigido?</a:t>
            </a:r>
          </a:p>
          <a:p>
            <a:endParaRPr/>
          </a:p>
          <a:p>
            <a:r>
              <a:t>Essas perguntas voltam ao ponto inicial da palestra.</a:t>
            </a:r>
          </a:p>
          <a:p>
            <a:endParaRPr/>
          </a:p>
          <a:p>
            <a:r>
              <a:t>Entre uma decisão pública e a entrega ao cidadão existe um trabalho de organização. O administrador atua justamente aí. E a pesquisa empírica ajuda a tornar esse funcionamento visível, analisável e melhorável.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Comunique o resultado. O produto pode ser artigo, relatório, dashboard ou proposta de mudança. Usar apenas dados autorizados e respeitar a privacidade das pessoas. O contexto profissional oferece perguntas de pesquisa em organizações públicas e privadas.</a:t>
            </a:r>
          </a:p>
          <a:p>
            <a:endParaRPr lang="pt-BR"/>
          </a:p>
          <a:p>
            <a:r>
              <a:rPr lang="pt-BR"/>
              <a:t>Referências e notas da versão original:</a:t>
            </a:r>
          </a:p>
          <a:p>
            <a:r>
              <a:t>1 min 30 s.</a:t>
            </a:r>
          </a:p>
          <a:p>
            <a:r>
              <a:t>E eu deixo aqui também um campo de pesquisa que, para quem estuda Administração, é muito rico: o sistema de Justiça.</a:t>
            </a:r>
          </a:p>
          <a:p>
            <a:endParaRPr/>
          </a:p>
          <a:p>
            <a:r>
              <a:t>Às vezes ele é visto apenas pelo lado jurídico. Mas o Judiciário também é uma grande organização pública e presta serviços.</a:t>
            </a:r>
          </a:p>
          <a:p>
            <a:endParaRPr/>
          </a:p>
          <a:p>
            <a:r>
              <a:t>Então aparecem problemas de governança, produtividade, acessibilidade, inteligência artificial, dados, educação, gestão de pessoas e experiência do usuário.</a:t>
            </a:r>
          </a:p>
          <a:p>
            <a:endParaRPr/>
          </a:p>
          <a:p>
            <a:r>
              <a:t>Há bastante tempo a literatura já vem tratando o Judiciário como objeto de reforma e de política pública. E existe uma agenda consolidada sobre desempenho e administração da Justiça.</a:t>
            </a:r>
          </a:p>
          <a:p>
            <a:endParaRPr/>
          </a:p>
          <a:p>
            <a:r>
              <a:t>Para quem gosta de gestão, há muita coisa concreta para investigar nesse campo.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Fechamento de abertura de horizonte. A graduação não precisa ser o ponto final do estudo. Muitos problemas de Administração que aparecem no trabalho cotidiano podem virar perguntas de pesquisa: filas, retrabalho, sistemas que não funcionam, processos que demoram, equipes que improvisam. A mensagem é incentivar iniciação científica, pesquisa aplicada, pós-graduação e produção de conhecimento a partir da realidade que os estudantes já conhecem.</a:t>
            </a:r>
          </a:p>
          <a:p>
            <a:r>
              <a:rPr lang="pt-BR"/>
              <a:t/>
            </a:r>
          </a:p>
          <a:p>
            <a:endParaRPr lang="pt-BR"/>
          </a:p>
          <a:p>
            <a:r>
              <a:rPr lang="pt-BR"/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endParaRPr/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Encerramento. Retomar a ideia central: continuem perguntando, estudando e investigando. A Administração também é produção de conhecimento. Apontar para o QR code com materiais, referências e contato. Agradecer à Anhanguera Asa Norte e aos estudantes. Depois deste slide, há slides de apoio ocultos para perguntas e aprofundamento.</a:t>
            </a:r>
          </a:p>
          <a:p>
            <a:endParaRPr lang="pt-BR"/>
          </a:p>
          <a:p>
            <a:r>
              <a:rPr lang="pt-BR"/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endParaRPr/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SLIDE DE APOIO OCULTO. Usar apenas para aprofundamento ou perguntas.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SLIDE DE APOIO OCULTO. Usar apenas para aprofundamento ou perguntas.</a:t>
            </a:r>
          </a:p>
          <a:p>
            <a:endParaRPr lang="pt-BR" dirty="0"/>
          </a:p>
          <a:p>
            <a:r>
              <a:rPr lang="pt-BR" dirty="0"/>
              <a:t>Referências e notas da versão original:</a:t>
            </a:r>
          </a:p>
          <a:p>
            <a:r>
              <a:rPr dirty="0"/>
              <a:t>1 min.</a:t>
            </a:r>
          </a:p>
          <a:p>
            <a:r>
              <a:rPr dirty="0"/>
              <a:t>Esse slide </a:t>
            </a:r>
            <a:r>
              <a:rPr dirty="0" err="1"/>
              <a:t>mostra</a:t>
            </a:r>
            <a:r>
              <a:rPr dirty="0"/>
              <a:t> de </a:t>
            </a:r>
            <a:r>
              <a:rPr dirty="0" err="1"/>
              <a:t>onde</a:t>
            </a:r>
            <a:r>
              <a:rPr dirty="0"/>
              <a:t> </a:t>
            </a:r>
            <a:r>
              <a:rPr dirty="0" err="1"/>
              <a:t>vem</a:t>
            </a:r>
            <a:r>
              <a:rPr dirty="0"/>
              <a:t> a </a:t>
            </a:r>
            <a:r>
              <a:rPr dirty="0" err="1"/>
              <a:t>pesquisa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estou</a:t>
            </a:r>
            <a:r>
              <a:rPr dirty="0"/>
              <a:t> </a:t>
            </a:r>
            <a:r>
              <a:rPr dirty="0" err="1"/>
              <a:t>desenvolvendo</a:t>
            </a:r>
            <a:r>
              <a:rPr dirty="0"/>
              <a:t> </a:t>
            </a:r>
            <a:r>
              <a:rPr dirty="0" err="1"/>
              <a:t>hoje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ENAP.</a:t>
            </a:r>
          </a:p>
          <a:p>
            <a:endParaRPr dirty="0"/>
          </a:p>
          <a:p>
            <a:r>
              <a:rPr dirty="0"/>
              <a:t>Ela </a:t>
            </a:r>
            <a:r>
              <a:rPr dirty="0" err="1"/>
              <a:t>começou</a:t>
            </a:r>
            <a:r>
              <a:rPr dirty="0"/>
              <a:t> com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questão</a:t>
            </a:r>
            <a:r>
              <a:rPr dirty="0"/>
              <a:t> </a:t>
            </a:r>
            <a:r>
              <a:rPr dirty="0" err="1"/>
              <a:t>muito</a:t>
            </a:r>
            <a:r>
              <a:rPr dirty="0"/>
              <a:t> </a:t>
            </a:r>
            <a:r>
              <a:rPr dirty="0" err="1"/>
              <a:t>ligada</a:t>
            </a:r>
            <a:r>
              <a:rPr dirty="0"/>
              <a:t> à </a:t>
            </a:r>
            <a:r>
              <a:rPr dirty="0" err="1"/>
              <a:t>arquitetura</a:t>
            </a:r>
            <a:r>
              <a:rPr dirty="0"/>
              <a:t> </a:t>
            </a:r>
            <a:r>
              <a:rPr dirty="0" err="1"/>
              <a:t>judiciária</a:t>
            </a:r>
            <a:r>
              <a:rPr dirty="0"/>
              <a:t> e com a </a:t>
            </a:r>
            <a:r>
              <a:rPr dirty="0" err="1"/>
              <a:t>escala</a:t>
            </a:r>
            <a:r>
              <a:rPr dirty="0"/>
              <a:t> ARQJUD,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eu</a:t>
            </a:r>
            <a:r>
              <a:rPr dirty="0"/>
              <a:t> </a:t>
            </a:r>
            <a:r>
              <a:rPr dirty="0" err="1"/>
              <a:t>desenvolvi</a:t>
            </a:r>
            <a:r>
              <a:rPr dirty="0"/>
              <a:t> no doutorado.</a:t>
            </a:r>
          </a:p>
          <a:p>
            <a:endParaRPr dirty="0"/>
          </a:p>
          <a:p>
            <a:r>
              <a:rPr dirty="0"/>
              <a:t>Só </a:t>
            </a:r>
            <a:r>
              <a:rPr dirty="0" err="1"/>
              <a:t>que</a:t>
            </a:r>
            <a:r>
              <a:rPr dirty="0"/>
              <a:t>, </a:t>
            </a:r>
            <a:r>
              <a:rPr dirty="0" err="1"/>
              <a:t>conforme</a:t>
            </a:r>
            <a:r>
              <a:rPr dirty="0"/>
              <a:t> </a:t>
            </a:r>
            <a:r>
              <a:rPr dirty="0" err="1"/>
              <a:t>eu</a:t>
            </a:r>
            <a:r>
              <a:rPr dirty="0"/>
              <a:t> </a:t>
            </a:r>
            <a:r>
              <a:rPr dirty="0" err="1"/>
              <a:t>fui</a:t>
            </a:r>
            <a:r>
              <a:rPr dirty="0"/>
              <a:t> </a:t>
            </a:r>
            <a:r>
              <a:rPr dirty="0" err="1"/>
              <a:t>aprofundando</a:t>
            </a:r>
            <a:r>
              <a:rPr dirty="0"/>
              <a:t> o </a:t>
            </a:r>
            <a:r>
              <a:rPr dirty="0" err="1"/>
              <a:t>problema</a:t>
            </a:r>
            <a:r>
              <a:rPr dirty="0"/>
              <a:t>, a </a:t>
            </a:r>
            <a:r>
              <a:rPr dirty="0" err="1"/>
              <a:t>pergunta</a:t>
            </a:r>
            <a:r>
              <a:rPr dirty="0"/>
              <a:t> </a:t>
            </a:r>
            <a:r>
              <a:rPr dirty="0" err="1"/>
              <a:t>ficou</a:t>
            </a:r>
            <a:r>
              <a:rPr dirty="0"/>
              <a:t> </a:t>
            </a:r>
            <a:r>
              <a:rPr dirty="0" err="1"/>
              <a:t>maior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O </a:t>
            </a:r>
            <a:r>
              <a:rPr dirty="0" err="1"/>
              <a:t>espaço</a:t>
            </a:r>
            <a:r>
              <a:rPr dirty="0"/>
              <a:t> </a:t>
            </a:r>
            <a:r>
              <a:rPr dirty="0" err="1"/>
              <a:t>físico</a:t>
            </a:r>
            <a:r>
              <a:rPr dirty="0"/>
              <a:t> </a:t>
            </a:r>
            <a:r>
              <a:rPr dirty="0" err="1"/>
              <a:t>sozinho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explica</a:t>
            </a:r>
            <a:r>
              <a:rPr dirty="0"/>
              <a:t> a </a:t>
            </a:r>
            <a:r>
              <a:rPr dirty="0" err="1"/>
              <a:t>implementação</a:t>
            </a:r>
            <a:r>
              <a:rPr dirty="0"/>
              <a:t>. </a:t>
            </a:r>
            <a:r>
              <a:rPr dirty="0" err="1"/>
              <a:t>Então</a:t>
            </a:r>
            <a:r>
              <a:rPr dirty="0"/>
              <a:t> </a:t>
            </a:r>
            <a:r>
              <a:rPr dirty="0" err="1"/>
              <a:t>comecei</a:t>
            </a:r>
            <a:r>
              <a:rPr dirty="0"/>
              <a:t> a </a:t>
            </a:r>
            <a:r>
              <a:rPr dirty="0" err="1"/>
              <a:t>perguntar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espaços</a:t>
            </a:r>
            <a:r>
              <a:rPr dirty="0"/>
              <a:t>, </a:t>
            </a:r>
            <a:r>
              <a:rPr dirty="0" err="1"/>
              <a:t>tecnologias</a:t>
            </a:r>
            <a:r>
              <a:rPr dirty="0"/>
              <a:t>, </a:t>
            </a:r>
            <a:r>
              <a:rPr dirty="0" err="1"/>
              <a:t>normas</a:t>
            </a:r>
            <a:r>
              <a:rPr dirty="0"/>
              <a:t> e </a:t>
            </a:r>
            <a:r>
              <a:rPr dirty="0" err="1"/>
              <a:t>pessoas</a:t>
            </a:r>
            <a:r>
              <a:rPr dirty="0"/>
              <a:t> </a:t>
            </a:r>
            <a:r>
              <a:rPr dirty="0" err="1"/>
              <a:t>participam</a:t>
            </a:r>
            <a:r>
              <a:rPr dirty="0"/>
              <a:t> </a:t>
            </a:r>
            <a:r>
              <a:rPr dirty="0" err="1"/>
              <a:t>juntos</a:t>
            </a:r>
            <a:r>
              <a:rPr dirty="0"/>
              <a:t> </a:t>
            </a:r>
            <a:r>
              <a:rPr dirty="0" err="1"/>
              <a:t>desse</a:t>
            </a:r>
            <a:r>
              <a:rPr dirty="0"/>
              <a:t> </a:t>
            </a:r>
            <a:r>
              <a:rPr dirty="0" err="1"/>
              <a:t>processo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A </a:t>
            </a:r>
            <a:r>
              <a:rPr dirty="0" err="1"/>
              <a:t>proposta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nasce</a:t>
            </a:r>
            <a:r>
              <a:rPr dirty="0"/>
              <a:t> </a:t>
            </a:r>
            <a:r>
              <a:rPr dirty="0" err="1"/>
              <a:t>daí</a:t>
            </a:r>
            <a:r>
              <a:rPr dirty="0"/>
              <a:t> é o framework ARENAS,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depois</a:t>
            </a:r>
            <a:r>
              <a:rPr dirty="0"/>
              <a:t> </a:t>
            </a:r>
            <a:r>
              <a:rPr dirty="0" err="1"/>
              <a:t>ganhou</a:t>
            </a:r>
            <a:r>
              <a:rPr dirty="0"/>
              <a:t>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ampliação</a:t>
            </a:r>
            <a:r>
              <a:rPr dirty="0"/>
              <a:t> a </a:t>
            </a:r>
            <a:r>
              <a:rPr dirty="0" err="1"/>
              <a:t>partir</a:t>
            </a:r>
            <a:r>
              <a:rPr dirty="0"/>
              <a:t> da </a:t>
            </a:r>
            <a:r>
              <a:rPr dirty="0" err="1"/>
              <a:t>literatura</a:t>
            </a:r>
            <a:r>
              <a:rPr dirty="0"/>
              <a:t> de </a:t>
            </a:r>
            <a:r>
              <a:rPr dirty="0" err="1"/>
              <a:t>governança</a:t>
            </a:r>
            <a:r>
              <a:rPr dirty="0"/>
              <a:t> </a:t>
            </a:r>
            <a:r>
              <a:rPr dirty="0" err="1"/>
              <a:t>regulatória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Esse é o </a:t>
            </a:r>
            <a:r>
              <a:rPr dirty="0" err="1"/>
              <a:t>ponto</a:t>
            </a:r>
            <a:r>
              <a:rPr dirty="0"/>
              <a:t> da </a:t>
            </a:r>
            <a:r>
              <a:rPr dirty="0" err="1"/>
              <a:t>pesquisa</a:t>
            </a:r>
            <a:r>
              <a:rPr dirty="0"/>
              <a:t> em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eu</a:t>
            </a:r>
            <a:r>
              <a:rPr dirty="0"/>
              <a:t> </a:t>
            </a:r>
            <a:r>
              <a:rPr dirty="0" err="1"/>
              <a:t>estou</a:t>
            </a:r>
            <a:r>
              <a:rPr dirty="0"/>
              <a:t> agora.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SLIDE DE APOIO OCULTO. Usar apenas para aprofundamento ou perguntas.</a:t>
            </a:r>
          </a:p>
          <a:p>
            <a:endParaRPr lang="pt-BR"/>
          </a:p>
          <a:p>
            <a:r>
              <a:rPr lang="pt-BR"/>
              <a:t>Referências e notas da versão original:</a:t>
            </a:r>
          </a:p>
          <a:p>
            <a:r>
              <a:t>2 min.</a:t>
            </a:r>
          </a:p>
          <a:p>
            <a:r>
              <a:t>O conceito central é o de arena sociomaterial de implementação.</a:t>
            </a:r>
          </a:p>
          <a:p>
            <a:endParaRPr/>
          </a:p>
          <a:p>
            <a:r>
              <a:t>O nome parece grande, mas a ideia é relativamente simples.</a:t>
            </a:r>
          </a:p>
          <a:p>
            <a:endParaRPr/>
          </a:p>
          <a:p>
            <a:r>
              <a:t>Uma arena é a configuração concreta em que atores, normas, espaços, artefatos, tecnologias e infraestruturas se encontram e fazem uma política funcionar.</a:t>
            </a:r>
          </a:p>
          <a:p>
            <a:endParaRPr/>
          </a:p>
          <a:p>
            <a:r>
              <a:t>Um prédio pode ter várias arenas. Pensem num fórum: uma vara de família e um juizado especial funcionam no mesmo edifício, mas operam políticas, práticas e relações diferentes.</a:t>
            </a:r>
          </a:p>
          <a:p>
            <a:endParaRPr/>
          </a:p>
          <a:p>
            <a:r>
              <a:t>E o contrário também pode acontecer. Uma única arena pode atravessar vários lugares. Um benefício pode começar num aplicativo e terminar num atendimento presencial. Para o cidadão, aquilo faz parte do mesmo percurso.</a:t>
            </a:r>
          </a:p>
          <a:p>
            <a:endParaRPr/>
          </a:p>
          <a:p>
            <a:r>
              <a:t>É essa configuração que eu quero observar. A base teórica vem principalmente dos estudos de sociomaterialidade, com Orlikowski e Leonardi.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SLIDE DE APOIO OCULTO. Usar apenas para aprofundamento ou perguntas.</a:t>
            </a:r>
          </a:p>
          <a:p>
            <a:endParaRPr lang="pt-BR"/>
          </a:p>
          <a:p>
            <a:r>
              <a:rPr lang="pt-BR"/>
              <a:t>Referências e notas da versão original:</a:t>
            </a:r>
          </a:p>
          <a:p>
            <a:r>
              <a:rPr lang="pt-BR"/>
              <a:t>Apoio: cinco componentes convertidos em perguntas para mapear uma arena. Complementa o exemplo apresentado na sequência principal.</a:t>
            </a:r>
          </a:p>
          <a:p>
            <a:endParaRPr lang="pt-BR"/>
          </a:p>
          <a:p>
            <a:r>
              <a:rPr lang="pt-BR"/>
              <a:t>Referências e notas da versão original:</a:t>
            </a:r>
          </a:p>
          <a:p>
            <a:r>
              <a:t>2 min 30 s.</a:t>
            </a:r>
          </a:p>
          <a:p>
            <a:r>
              <a:t>A partir daí, eu proponho cinco mecanismos para observar como esses lugares participam da implementação.</a:t>
            </a:r>
          </a:p>
          <a:p>
            <a:endParaRPr/>
          </a:p>
          <a:p>
            <a:r>
              <a:t>O primeiro é a instrumentação. Como uma norma vira um arranjo concreto? Uma resolução de acessibilidade, por exemplo, pode virar rampa e sinalização tátil. Ou pode ficar só no papel.</a:t>
            </a:r>
          </a:p>
          <a:p>
            <a:endParaRPr/>
          </a:p>
          <a:p>
            <a:r>
              <a:t>O segundo é a mediação do trabalho. Como o arranjo interfere no trabalho cotidiano? Às vezes um arquivo em outro andar produz deslocamento, atraso e até improvisação no corredor.</a:t>
            </a:r>
          </a:p>
          <a:p>
            <a:endParaRPr/>
          </a:p>
          <a:p>
            <a:r>
              <a:t>O terceiro é a mediação da experiência. Como o lugar interfere na forma como a pessoa percebe o atendimento? Uma bancada muito elevada numa sala de audiência, por exemplo, pode reforçar distância institucional.</a:t>
            </a:r>
          </a:p>
          <a:p>
            <a:endParaRPr/>
          </a:p>
          <a:p>
            <a:r>
              <a:t>O quarto é a legibilidade. Quem chega entende aquele ambiente? Sabe para onde ir? Consegue encontrar o serviço?</a:t>
            </a:r>
          </a:p>
          <a:p>
            <a:endParaRPr/>
          </a:p>
          <a:p>
            <a:r>
              <a:t>E o quinto é a aprendizagem. Os problemas que aparecem todos os dias chegam a quem tem capacidade de mudar o sistema?</a:t>
            </a:r>
          </a:p>
          <a:p>
            <a:endParaRPr/>
          </a:p>
          <a:p>
            <a:r>
              <a:t>Esses mecanismos ajudam a transformar observações do cotidiano em perguntas que podem ser testadas.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SLIDE DE APOIO OCULTO. Usar apenas para aprofundamento ou perguntas.</a:t>
            </a:r>
          </a:p>
          <a:p>
            <a:endParaRPr lang="pt-BR"/>
          </a:p>
          <a:p>
            <a:r>
              <a:rPr lang="pt-BR"/>
              <a:t>Referências e notas da versão original:</a:t>
            </a:r>
          </a:p>
          <a:p>
            <a:r>
              <a:t>2 min.</a:t>
            </a:r>
          </a:p>
          <a:p>
            <a:r>
              <a:t>Um dos achados que eu considero particularmente interessante para a gestão está ligado à digitalização.</a:t>
            </a:r>
          </a:p>
          <a:p>
            <a:endParaRPr/>
          </a:p>
          <a:p>
            <a:r>
              <a:t>Quando as transações mais rotineiras migram para o digital, naturalmente menos pessoas precisam ir ao prédio.</a:t>
            </a:r>
          </a:p>
          <a:p>
            <a:endParaRPr/>
          </a:p>
          <a:p>
            <a:r>
              <a:t>Só que quem continua precisando do atendimento presencial tende a trazer situações mais complexas. São casos que exigem mais orientação, mais coordenação, às vezes mais proteção e uma infraestrutura diferente.</a:t>
            </a:r>
          </a:p>
          <a:p>
            <a:endParaRPr/>
          </a:p>
          <a:p>
            <a:r>
              <a:t>Isso muda a forma de olhar para o valor de um prédio público.</a:t>
            </a:r>
          </a:p>
          <a:p>
            <a:endParaRPr/>
          </a:p>
          <a:p>
            <a:r>
              <a:t>Se eu avaliar apenas ocupação média, posso concluir rapidamente que aquela unidade perdeu importância. Mas talvez o tipo de atendimento que permaneceu ali tenha ficado mais complexo.</a:t>
            </a:r>
          </a:p>
          <a:p>
            <a:endParaRPr/>
          </a:p>
          <a:p>
            <a:r>
              <a:t>Por enquanto, isso é uma proposição a testar. O desenho empírico já está pensado: observar redes que digitalizaram em etapas e comparar a complexidade dos atendimentos antes e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SLIDE DE APOIO OCULTO. Usar apenas para aprofundamento ou perguntas.</a:t>
            </a:r>
          </a:p>
          <a:p>
            <a:endParaRPr lang="pt-BR"/>
          </a:p>
          <a:p>
            <a:r>
              <a:rPr lang="pt-BR"/>
              <a:t>Referências e notas da versão original:</a:t>
            </a:r>
          </a:p>
          <a:p>
            <a:r>
              <a:rPr lang="pt-BR"/>
              <a:t>Apoio para aprofundar a pergunta: onde está o problema? Pedir exemplos que conectem os seis elementos. Conteúdo deliberadamente textual, com os blocos nativos da apresentação.</a:t>
            </a:r>
          </a:p>
          <a:p>
            <a:endParaRPr lang="pt-BR"/>
          </a:p>
          <a:p>
            <a:r>
              <a:rPr lang="pt-BR"/>
              <a:t>Referências e notas da versão original:</a:t>
            </a:r>
          </a:p>
          <a:p>
            <a:r>
              <a:rPr dirty="0"/>
              <a:t>2 min.</a:t>
            </a:r>
          </a:p>
          <a:p>
            <a:r>
              <a:rPr dirty="0"/>
              <a:t>No </a:t>
            </a:r>
            <a:r>
              <a:rPr lang="pt-BR"/>
              <a:t>pós-doutorado</a:t>
            </a:r>
            <a:r>
              <a:rPr dirty="0"/>
              <a:t>, </a:t>
            </a:r>
            <a:r>
              <a:rPr lang="pt-BR"/>
              <a:t>uma</a:t>
            </a:r>
            <a:r>
              <a:rPr dirty="0"/>
              <a:t> das </a:t>
            </a:r>
            <a:r>
              <a:rPr lang="pt-BR"/>
              <a:t>primeiras</a:t>
            </a:r>
            <a:r>
              <a:rPr dirty="0"/>
              <a:t> </a:t>
            </a:r>
            <a:r>
              <a:rPr lang="pt-BR"/>
              <a:t>perguntas</a:t>
            </a:r>
            <a:r>
              <a:rPr dirty="0"/>
              <a:t> </a:t>
            </a:r>
            <a:r>
              <a:rPr lang="pt-BR"/>
              <a:t>foi</a:t>
            </a:r>
            <a:r>
              <a:rPr dirty="0"/>
              <a:t>: o </a:t>
            </a:r>
            <a:r>
              <a:rPr lang="pt-BR"/>
              <a:t>que</a:t>
            </a:r>
            <a:r>
              <a:rPr dirty="0"/>
              <a:t> a </a:t>
            </a:r>
            <a:r>
              <a:rPr lang="pt-BR"/>
              <a:t>literatura</a:t>
            </a:r>
            <a:r>
              <a:rPr dirty="0"/>
              <a:t> </a:t>
            </a:r>
            <a:r>
              <a:rPr lang="pt-BR"/>
              <a:t>já</a:t>
            </a:r>
            <a:r>
              <a:rPr dirty="0"/>
              <a:t> sabe </a:t>
            </a:r>
            <a:r>
              <a:rPr lang="pt-BR"/>
              <a:t>sobre</a:t>
            </a:r>
            <a:r>
              <a:rPr dirty="0"/>
              <a:t> </a:t>
            </a:r>
            <a:r>
              <a:rPr lang="pt-BR"/>
              <a:t>isso</a:t>
            </a:r>
            <a:r>
              <a:rPr dirty="0"/>
              <a:t>?</a:t>
            </a:r>
          </a:p>
          <a:p>
            <a:endParaRPr dirty="0"/>
          </a:p>
          <a:p>
            <a:r>
              <a:rPr dirty="0"/>
              <a:t>Eu </a:t>
            </a:r>
            <a:r>
              <a:rPr lang="pt-BR"/>
              <a:t>organizei</a:t>
            </a:r>
            <a:r>
              <a:rPr dirty="0"/>
              <a:t> </a:t>
            </a:r>
            <a:r>
              <a:rPr lang="pt-BR"/>
              <a:t>quatro</a:t>
            </a:r>
            <a:r>
              <a:rPr dirty="0"/>
              <a:t> </a:t>
            </a:r>
            <a:r>
              <a:rPr lang="pt-BR"/>
              <a:t>frentes</a:t>
            </a:r>
            <a:r>
              <a:rPr dirty="0"/>
              <a:t> de </a:t>
            </a:r>
            <a:r>
              <a:rPr lang="pt-BR"/>
              <a:t>revisão</a:t>
            </a:r>
            <a:r>
              <a:rPr dirty="0"/>
              <a:t> </a:t>
            </a:r>
            <a:r>
              <a:rPr lang="pt-BR"/>
              <a:t>bibliográfica</a:t>
            </a:r>
            <a:r>
              <a:rPr dirty="0"/>
              <a:t> e documental, </a:t>
            </a:r>
            <a:r>
              <a:rPr lang="pt-BR"/>
              <a:t>seguindo</a:t>
            </a:r>
            <a:r>
              <a:rPr dirty="0"/>
              <a:t> </a:t>
            </a:r>
            <a:r>
              <a:rPr lang="pt-BR"/>
              <a:t>protocolo</a:t>
            </a:r>
            <a:r>
              <a:rPr dirty="0"/>
              <a:t> de </a:t>
            </a:r>
            <a:r>
              <a:rPr lang="pt-BR"/>
              <a:t>revisão</a:t>
            </a:r>
            <a:r>
              <a:rPr dirty="0"/>
              <a:t> de </a:t>
            </a:r>
            <a:r>
              <a:rPr lang="pt-BR"/>
              <a:t>escopo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O </a:t>
            </a:r>
            <a:r>
              <a:rPr lang="pt-BR"/>
              <a:t>que</a:t>
            </a:r>
            <a:r>
              <a:rPr dirty="0"/>
              <a:t> </a:t>
            </a:r>
            <a:r>
              <a:rPr lang="pt-BR"/>
              <a:t>aparece</a:t>
            </a:r>
            <a:r>
              <a:rPr dirty="0"/>
              <a:t>, </a:t>
            </a:r>
            <a:r>
              <a:rPr lang="pt-BR"/>
              <a:t>até</a:t>
            </a:r>
            <a:r>
              <a:rPr dirty="0"/>
              <a:t> </a:t>
            </a:r>
            <a:r>
              <a:rPr lang="pt-BR"/>
              <a:t>aqui</a:t>
            </a:r>
            <a:r>
              <a:rPr dirty="0"/>
              <a:t>, é </a:t>
            </a:r>
            <a:r>
              <a:rPr lang="pt-BR"/>
              <a:t>uma</a:t>
            </a:r>
            <a:r>
              <a:rPr dirty="0"/>
              <a:t> </a:t>
            </a:r>
            <a:r>
              <a:rPr lang="pt-BR"/>
              <a:t>literatura</a:t>
            </a:r>
            <a:r>
              <a:rPr dirty="0"/>
              <a:t> </a:t>
            </a:r>
            <a:r>
              <a:rPr lang="pt-BR"/>
              <a:t>bastante</a:t>
            </a:r>
            <a:r>
              <a:rPr dirty="0"/>
              <a:t> </a:t>
            </a:r>
            <a:r>
              <a:rPr lang="pt-BR"/>
              <a:t>fragmentada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Na </a:t>
            </a:r>
            <a:r>
              <a:rPr lang="pt-BR"/>
              <a:t>política</a:t>
            </a:r>
            <a:r>
              <a:rPr dirty="0"/>
              <a:t> </a:t>
            </a:r>
            <a:r>
              <a:rPr lang="pt-BR"/>
              <a:t>judiciária</a:t>
            </a:r>
            <a:r>
              <a:rPr dirty="0"/>
              <a:t>, </a:t>
            </a:r>
            <a:r>
              <a:rPr lang="pt-BR"/>
              <a:t>por</a:t>
            </a:r>
            <a:r>
              <a:rPr dirty="0"/>
              <a:t> </a:t>
            </a:r>
            <a:r>
              <a:rPr lang="pt-BR"/>
              <a:t>exemplo</a:t>
            </a:r>
            <a:r>
              <a:rPr dirty="0"/>
              <a:t>, </a:t>
            </a:r>
            <a:r>
              <a:rPr lang="pt-BR"/>
              <a:t>termos</a:t>
            </a:r>
            <a:r>
              <a:rPr dirty="0"/>
              <a:t> </a:t>
            </a:r>
            <a:r>
              <a:rPr lang="pt-BR"/>
              <a:t>ligados</a:t>
            </a:r>
            <a:r>
              <a:rPr dirty="0"/>
              <a:t> à </a:t>
            </a:r>
            <a:r>
              <a:rPr lang="pt-BR"/>
              <a:t>infraestrutura</a:t>
            </a:r>
            <a:r>
              <a:rPr dirty="0"/>
              <a:t> </a:t>
            </a:r>
            <a:r>
              <a:rPr lang="pt-BR"/>
              <a:t>física</a:t>
            </a:r>
            <a:r>
              <a:rPr dirty="0"/>
              <a:t> </a:t>
            </a:r>
            <a:r>
              <a:rPr lang="pt-BR"/>
              <a:t>quase</a:t>
            </a:r>
            <a:r>
              <a:rPr dirty="0"/>
              <a:t> </a:t>
            </a:r>
            <a:r>
              <a:rPr lang="pt-BR"/>
              <a:t>não</a:t>
            </a:r>
            <a:r>
              <a:rPr dirty="0"/>
              <a:t> </a:t>
            </a:r>
            <a:r>
              <a:rPr lang="pt-BR"/>
              <a:t>aparecem</a:t>
            </a:r>
            <a:r>
              <a:rPr dirty="0"/>
              <a:t> </a:t>
            </a:r>
            <a:r>
              <a:rPr lang="pt-BR"/>
              <a:t>nos</a:t>
            </a:r>
            <a:r>
              <a:rPr dirty="0"/>
              <a:t> </a:t>
            </a:r>
            <a:r>
              <a:rPr lang="pt-BR"/>
              <a:t>núcleos</a:t>
            </a:r>
            <a:r>
              <a:rPr dirty="0"/>
              <a:t> </a:t>
            </a:r>
            <a:r>
              <a:rPr lang="pt-BR"/>
              <a:t>temáticos</a:t>
            </a:r>
            <a:r>
              <a:rPr dirty="0"/>
              <a:t> </a:t>
            </a:r>
            <a:r>
              <a:rPr lang="pt-BR"/>
              <a:t>principais</a:t>
            </a:r>
            <a:r>
              <a:rPr dirty="0"/>
              <a:t>. Esse é um </a:t>
            </a:r>
            <a:r>
              <a:rPr lang="pt-BR"/>
              <a:t>resultado</a:t>
            </a:r>
            <a:r>
              <a:rPr dirty="0"/>
              <a:t> </a:t>
            </a:r>
            <a:r>
              <a:rPr lang="pt-BR"/>
              <a:t>que</a:t>
            </a:r>
            <a:r>
              <a:rPr dirty="0"/>
              <a:t> </a:t>
            </a:r>
            <a:r>
              <a:rPr lang="pt-BR"/>
              <a:t>já</a:t>
            </a:r>
            <a:r>
              <a:rPr dirty="0"/>
              <a:t> </a:t>
            </a:r>
            <a:r>
              <a:rPr lang="pt-BR"/>
              <a:t>conseguimos</a:t>
            </a:r>
            <a:r>
              <a:rPr dirty="0"/>
              <a:t> </a:t>
            </a:r>
            <a:r>
              <a:rPr lang="pt-BR"/>
              <a:t>reproduzir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Na </a:t>
            </a:r>
            <a:r>
              <a:rPr lang="pt-BR"/>
              <a:t>literatura</a:t>
            </a:r>
            <a:r>
              <a:rPr dirty="0"/>
              <a:t> de </a:t>
            </a:r>
            <a:r>
              <a:rPr lang="pt-BR"/>
              <a:t>implementação</a:t>
            </a:r>
            <a:r>
              <a:rPr dirty="0"/>
              <a:t>, </a:t>
            </a:r>
            <a:r>
              <a:rPr lang="pt-BR"/>
              <a:t>há</a:t>
            </a:r>
            <a:r>
              <a:rPr dirty="0"/>
              <a:t> </a:t>
            </a:r>
            <a:r>
              <a:rPr lang="pt-BR"/>
              <a:t>poucos</a:t>
            </a:r>
            <a:r>
              <a:rPr dirty="0"/>
              <a:t> </a:t>
            </a:r>
            <a:r>
              <a:rPr lang="pt-BR"/>
              <a:t>trabalhos</a:t>
            </a:r>
            <a:r>
              <a:rPr dirty="0"/>
              <a:t> </a:t>
            </a:r>
            <a:r>
              <a:rPr lang="pt-BR"/>
              <a:t>tratando</a:t>
            </a:r>
            <a:r>
              <a:rPr dirty="0"/>
              <a:t> o </a:t>
            </a:r>
            <a:r>
              <a:rPr lang="pt-BR"/>
              <a:t>espaço</a:t>
            </a:r>
            <a:r>
              <a:rPr dirty="0"/>
              <a:t> </a:t>
            </a:r>
            <a:r>
              <a:rPr lang="pt-BR"/>
              <a:t>como</a:t>
            </a:r>
            <a:r>
              <a:rPr dirty="0"/>
              <a:t> </a:t>
            </a:r>
            <a:r>
              <a:rPr lang="pt-BR"/>
              <a:t>variável</a:t>
            </a:r>
            <a:r>
              <a:rPr dirty="0"/>
              <a:t> </a:t>
            </a:r>
            <a:r>
              <a:rPr lang="pt-BR"/>
              <a:t>ativa</a:t>
            </a:r>
            <a:r>
              <a:rPr dirty="0"/>
              <a:t>. Nas </a:t>
            </a:r>
            <a:r>
              <a:rPr lang="pt-BR"/>
              <a:t>evidências</a:t>
            </a:r>
            <a:r>
              <a:rPr dirty="0"/>
              <a:t> </a:t>
            </a:r>
            <a:r>
              <a:rPr lang="pt-BR"/>
              <a:t>empíricas</a:t>
            </a:r>
            <a:r>
              <a:rPr dirty="0"/>
              <a:t>, </a:t>
            </a:r>
            <a:r>
              <a:rPr lang="pt-BR"/>
              <a:t>existe</a:t>
            </a:r>
            <a:r>
              <a:rPr dirty="0"/>
              <a:t> </a:t>
            </a:r>
            <a:r>
              <a:rPr lang="pt-BR"/>
              <a:t>mais</a:t>
            </a:r>
            <a:r>
              <a:rPr dirty="0"/>
              <a:t> </a:t>
            </a:r>
            <a:r>
              <a:rPr lang="pt-BR"/>
              <a:t>densidade</a:t>
            </a:r>
            <a:r>
              <a:rPr dirty="0"/>
              <a:t> </a:t>
            </a:r>
            <a:r>
              <a:rPr lang="pt-BR"/>
              <a:t>sobre</a:t>
            </a:r>
            <a:r>
              <a:rPr dirty="0"/>
              <a:t> o </a:t>
            </a:r>
            <a:r>
              <a:rPr lang="pt-BR"/>
              <a:t>trabalho</a:t>
            </a:r>
            <a:r>
              <a:rPr dirty="0"/>
              <a:t> dos </a:t>
            </a:r>
            <a:r>
              <a:rPr lang="pt-BR"/>
              <a:t>servidores</a:t>
            </a:r>
            <a:r>
              <a:rPr dirty="0"/>
              <a:t> e </a:t>
            </a:r>
            <a:r>
              <a:rPr lang="pt-BR"/>
              <a:t>menos</a:t>
            </a:r>
            <a:r>
              <a:rPr dirty="0"/>
              <a:t> </a:t>
            </a:r>
            <a:r>
              <a:rPr lang="pt-BR"/>
              <a:t>conhecimento</a:t>
            </a:r>
            <a:r>
              <a:rPr dirty="0"/>
              <a:t> </a:t>
            </a:r>
            <a:r>
              <a:rPr lang="pt-BR"/>
              <a:t>acumulado</a:t>
            </a:r>
            <a:r>
              <a:rPr dirty="0"/>
              <a:t> </a:t>
            </a:r>
            <a:r>
              <a:rPr lang="pt-BR"/>
              <a:t>sobre</a:t>
            </a:r>
            <a:r>
              <a:rPr dirty="0"/>
              <a:t> </a:t>
            </a:r>
            <a:r>
              <a:rPr lang="pt-BR"/>
              <a:t>outras</a:t>
            </a:r>
            <a:r>
              <a:rPr dirty="0"/>
              <a:t> </a:t>
            </a:r>
            <a:r>
              <a:rPr lang="pt-BR"/>
              <a:t>dimensões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Aqui </a:t>
            </a:r>
            <a:r>
              <a:rPr lang="pt-BR"/>
              <a:t>eu</a:t>
            </a:r>
            <a:r>
              <a:rPr dirty="0"/>
              <a:t> </a:t>
            </a:r>
            <a:r>
              <a:rPr lang="pt-BR"/>
              <a:t>faço</a:t>
            </a:r>
            <a:r>
              <a:rPr dirty="0"/>
              <a:t> </a:t>
            </a:r>
            <a:r>
              <a:rPr lang="pt-BR"/>
              <a:t>uma</a:t>
            </a:r>
            <a:r>
              <a:rPr dirty="0"/>
              <a:t> </a:t>
            </a:r>
            <a:r>
              <a:rPr lang="pt-BR"/>
              <a:t>ressalva</a:t>
            </a:r>
            <a:r>
              <a:rPr dirty="0"/>
              <a:t> </a:t>
            </a:r>
            <a:r>
              <a:rPr lang="pt-BR"/>
              <a:t>importante</a:t>
            </a:r>
            <a:r>
              <a:rPr dirty="0"/>
              <a:t>: </a:t>
            </a:r>
            <a:r>
              <a:rPr lang="pt-BR"/>
              <a:t>três</a:t>
            </a:r>
            <a:r>
              <a:rPr dirty="0"/>
              <a:t> </a:t>
            </a:r>
            <a:r>
              <a:rPr lang="pt-BR"/>
              <a:t>desses</a:t>
            </a:r>
            <a:r>
              <a:rPr dirty="0"/>
              <a:t> </a:t>
            </a:r>
            <a:r>
              <a:rPr lang="pt-BR"/>
              <a:t>resultados</a:t>
            </a:r>
            <a:r>
              <a:rPr dirty="0"/>
              <a:t> </a:t>
            </a:r>
            <a:r>
              <a:rPr lang="pt-BR"/>
              <a:t>ainda</a:t>
            </a:r>
            <a:r>
              <a:rPr dirty="0"/>
              <a:t> </a:t>
            </a:r>
            <a:r>
              <a:rPr lang="pt-BR"/>
              <a:t>são</a:t>
            </a:r>
            <a:r>
              <a:rPr dirty="0"/>
              <a:t> </a:t>
            </a:r>
            <a:r>
              <a:rPr lang="pt-BR"/>
              <a:t>preliminares</a:t>
            </a:r>
            <a:r>
              <a:rPr dirty="0"/>
              <a:t>. Eles </a:t>
            </a:r>
            <a:r>
              <a:rPr lang="pt-BR"/>
              <a:t>apontam</a:t>
            </a:r>
            <a:r>
              <a:rPr dirty="0"/>
              <a:t> um </a:t>
            </a:r>
            <a:r>
              <a:rPr lang="pt-BR"/>
              <a:t>padrão</a:t>
            </a:r>
            <a:r>
              <a:rPr dirty="0"/>
              <a:t>, mas a </a:t>
            </a:r>
            <a:r>
              <a:rPr lang="pt-BR"/>
              <a:t>medida</a:t>
            </a:r>
            <a:r>
              <a:rPr dirty="0"/>
              <a:t> </a:t>
            </a:r>
            <a:r>
              <a:rPr lang="pt-BR"/>
              <a:t>exata</a:t>
            </a:r>
            <a:r>
              <a:rPr dirty="0"/>
              <a:t> </a:t>
            </a:r>
            <a:r>
              <a:rPr lang="pt-BR"/>
              <a:t>ainda</a:t>
            </a:r>
            <a:r>
              <a:rPr dirty="0"/>
              <a:t> </a:t>
            </a:r>
            <a:r>
              <a:rPr lang="pt-BR"/>
              <a:t>depende</a:t>
            </a:r>
            <a:r>
              <a:rPr dirty="0"/>
              <a:t> das </a:t>
            </a:r>
            <a:r>
              <a:rPr lang="pt-BR"/>
              <a:t>etapas</a:t>
            </a:r>
            <a:r>
              <a:rPr dirty="0"/>
              <a:t> de </a:t>
            </a:r>
            <a:r>
              <a:rPr lang="pt-BR"/>
              <a:t>triagem</a:t>
            </a:r>
            <a:r>
              <a:rPr dirty="0"/>
              <a:t> </a:t>
            </a:r>
            <a:r>
              <a:rPr lang="pt-BR"/>
              <a:t>que</a:t>
            </a:r>
            <a:r>
              <a:rPr dirty="0"/>
              <a:t> </a:t>
            </a:r>
            <a:r>
              <a:rPr lang="pt-BR"/>
              <a:t>estão</a:t>
            </a:r>
            <a:r>
              <a:rPr dirty="0"/>
              <a:t> em </a:t>
            </a:r>
            <a:r>
              <a:rPr lang="pt-BR"/>
              <a:t>andamento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566928" y="256032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50">
                <a:solidFill>
                  <a:srgbClr val="0A22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IV CONGRESSO CIENTÍFICO  |  ANHANGUERA ASA NORTE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9738360" y="256032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873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e 07 de outubro de 2026</a:t>
            </a:r>
            <a:endParaRPr lang="en-US" sz="900"/>
          </a:p>
        </p:txBody>
      </p:sp>
      <p:sp>
        <p:nvSpPr>
          <p:cNvPr id="5" name="Shape 3"/>
          <p:cNvSpPr/>
          <p:nvPr/>
        </p:nvSpPr>
        <p:spPr>
          <a:xfrm>
            <a:off x="566928" y="621792"/>
            <a:ext cx="11045952" cy="0"/>
          </a:xfrm>
          <a:prstGeom prst="line">
            <a:avLst/>
          </a:prstGeom>
          <a:noFill/>
          <a:ln w="12700">
            <a:solidFill>
              <a:srgbClr val="E7E2D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566928" y="64922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FF5A1F"/>
                </a:solidFill>
              </a:rPr>
              <a:t>Conhecimento que transforma</a:t>
            </a:r>
            <a:endParaRPr lang="en-US" sz="850"/>
          </a:p>
        </p:txBody>
      </p:sp>
      <p:sp>
        <p:nvSpPr>
          <p:cNvPr id="7" name="Text 5"/>
          <p:cNvSpPr/>
          <p:nvPr/>
        </p:nvSpPr>
        <p:spPr>
          <a:xfrm>
            <a:off x="8001000" y="6492240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>
                <a:solidFill>
                  <a:srgbClr val="7D8797"/>
                </a:solidFill>
              </a:rPr>
              <a:t>IV Congresso Científico • Anhanguera Asa Norte</a:t>
            </a:r>
            <a:endParaRPr lang="en-US" sz="850"/>
          </a:p>
        </p:txBody>
      </p:sp>
      <p:sp>
        <p:nvSpPr>
          <p:cNvPr id="8" name="Shape 6"/>
          <p:cNvSpPr/>
          <p:nvPr/>
        </p:nvSpPr>
        <p:spPr>
          <a:xfrm>
            <a:off x="566928" y="6345936"/>
            <a:ext cx="11045952" cy="0"/>
          </a:xfrm>
          <a:prstGeom prst="line">
            <a:avLst/>
          </a:prstGeom>
          <a:noFill/>
          <a:ln w="12700">
            <a:solidFill>
              <a:srgbClr val="E7E2D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73952"/>
            <a:ext cx="164592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D8797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73952"/>
            <a:ext cx="164592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D8797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3CC41D57-8196-B888-4883-FCEB715D50D7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4413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Público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4.jpe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 rot="900000">
            <a:off x="8915400" y="-960120"/>
            <a:ext cx="4297680" cy="4297680"/>
          </a:xfrm>
          <a:prstGeom prst="arc">
            <a:avLst/>
          </a:prstGeom>
          <a:solidFill>
            <a:srgbClr val="FBFAF7">
              <a:alpha val="0"/>
            </a:srgbClr>
          </a:solidFill>
          <a:ln w="25400">
            <a:solidFill>
              <a:srgbClr val="FFE1D4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 rot="900000">
            <a:off x="9464040" y="-502920"/>
            <a:ext cx="3749040" cy="3749040"/>
          </a:xfrm>
          <a:prstGeom prst="arc">
            <a:avLst/>
          </a:prstGeom>
          <a:solidFill>
            <a:srgbClr val="FBFAF7">
              <a:alpha val="0"/>
            </a:srgbClr>
          </a:solidFill>
          <a:ln w="15240">
            <a:solidFill>
              <a:srgbClr val="FFD0B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749808" y="1005840"/>
            <a:ext cx="4937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A225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 PAPEL DO ADMINISTRADOR NA IMPLEMENTAÇÃO DE POLÍTICAS PÚBLICAS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749808" y="2788920"/>
            <a:ext cx="1078992" cy="0"/>
          </a:xfrm>
          <a:prstGeom prst="line">
            <a:avLst/>
          </a:prstGeom>
          <a:noFill/>
          <a:ln w="5080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749808" y="30175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5A1F"/>
                </a:solidFill>
              </a:rPr>
              <a:t>Igor Caires Machado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49808" y="33832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Analista Judiciário (CNJ) • Pós-doutorado (ENAP)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49808" y="596188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7085"/>
                </a:solidFill>
              </a:rPr>
              <a:t>07 de outubro de 2026  •  Curso de Administração  •  Brasília – DF</a:t>
            </a:r>
            <a:endParaRPr lang="en-US" sz="1100" dirty="0"/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7B4BD31A-3ADF-4A4F-E277-0140655BB4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0101" y="349797"/>
            <a:ext cx="5612091" cy="5612091"/>
          </a:xfrm>
          <a:prstGeom prst="rect">
            <a:avLst/>
          </a:prstGeom>
        </p:spPr>
      </p:pic>
      <p:sp>
        <p:nvSpPr>
          <p:cNvPr id="101" name="Texto 101"/>
          <p:cNvSpPr txBox="1"/>
          <p:nvPr/>
        </p:nvSpPr>
        <p:spPr>
          <a:xfrm>
            <a:off x="749808" y="3730752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pt-BR" sz="1400" i="1" dirty="0">
                <a:solidFill>
                  <a:srgbClr val="667085"/>
                </a:solidFill>
              </a:rPr>
              <a:t>Da decisão pública à capacidade de entrega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04672"/>
            <a:ext cx="10863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pt-BR" sz="2600" b="1">
                <a:solidFill>
                  <a:srgbClr val="0A225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 QUE É UMA POLÍTICA PÚBLICA?</a:t>
            </a:r>
          </a:p>
        </p:txBody>
      </p:sp>
      <p:sp>
        <p:nvSpPr>
          <p:cNvPr id="3" name="Shape 1"/>
          <p:cNvSpPr/>
          <p:nvPr/>
        </p:nvSpPr>
        <p:spPr>
          <a:xfrm>
            <a:off x="658368" y="1536192"/>
            <a:ext cx="822960" cy="0"/>
          </a:xfrm>
          <a:prstGeom prst="line">
            <a:avLst/>
          </a:prstGeom>
          <a:noFill/>
          <a:ln w="4445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35A0857D-7EDC-DFF6-3CFE-A70D6D0695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77" t="22570" r="577" b="16329"/>
          <a:stretch>
            <a:fillRect/>
          </a:stretch>
        </p:blipFill>
        <p:spPr>
          <a:xfrm>
            <a:off x="199282" y="5178555"/>
            <a:ext cx="2564091" cy="1566665"/>
          </a:xfrm>
          <a:prstGeom prst="rect">
            <a:avLst/>
          </a:prstGeom>
        </p:spPr>
      </p:pic>
      <p:sp>
        <p:nvSpPr>
          <p:cNvPr id="101" name="Definição 101"/>
          <p:cNvSpPr/>
          <p:nvPr/>
        </p:nvSpPr>
        <p:spPr>
          <a:xfrm>
            <a:off x="658368" y="1783080"/>
            <a:ext cx="10863072" cy="1234440"/>
          </a:xfrm>
          <a:prstGeom prst="roundRect">
            <a:avLst>
              <a:gd name="adj" fmla="val 5000"/>
            </a:avLst>
          </a:prstGeom>
          <a:solidFill>
            <a:srgbClr val="FFF3ED"/>
          </a:solidFill>
          <a:ln w="12700">
            <a:solidFill>
              <a:srgbClr val="FFD1BE"/>
            </a:solidFill>
          </a:ln>
        </p:spPr>
        <p:txBody>
          <a:bodyPr wrap="square" lIns="320040" tIns="320040" rIns="320040" bIns="320040" rtlCol="0" anchor="ctr">
            <a:normAutofit fontScale="77500" lnSpcReduction="20000"/>
          </a:bodyPr>
          <a:lstStyle/>
          <a:p>
            <a:pPr marL="0" indent="0" algn="l">
              <a:lnSpc>
                <a:spcPct val="114999"/>
              </a:lnSpc>
              <a:buNone/>
            </a:pPr>
            <a:r>
              <a:rPr lang="pt-BR" sz="2300" dirty="0">
                <a:solidFill>
                  <a:srgbClr val="0A2252"/>
                </a:solidFill>
              </a:rPr>
              <a:t>Política pública é um conjunto articulado de decisões, diretrizes e ações voltadas ao enfrentamento de um problema público, sob responsabilidade ou coordenação do poder público.</a:t>
            </a:r>
          </a:p>
        </p:txBody>
      </p:sp>
      <p:sp>
        <p:nvSpPr>
          <p:cNvPr id="102" name="Texto 102"/>
          <p:cNvSpPr txBox="1"/>
          <p:nvPr/>
        </p:nvSpPr>
        <p:spPr>
          <a:xfrm>
            <a:off x="658368" y="3291840"/>
            <a:ext cx="10863072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pt-BR" sz="2300" b="1" dirty="0">
                <a:solidFill>
                  <a:srgbClr val="26364F"/>
                </a:solidFill>
              </a:rPr>
              <a:t>Exemplo ilustrativo: ampliar o acesso à educação infantil</a:t>
            </a:r>
          </a:p>
        </p:txBody>
      </p:sp>
      <p:sp>
        <p:nvSpPr>
          <p:cNvPr id="103" name="Roteiro 103"/>
          <p:cNvSpPr/>
          <p:nvPr/>
        </p:nvSpPr>
        <p:spPr>
          <a:xfrm>
            <a:off x="7269480" y="5230368"/>
            <a:ext cx="425196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D1BE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050" dirty="0" err="1">
                <a:solidFill>
                  <a:srgbClr val="26364F"/>
                </a:solidFill>
              </a:rPr>
              <a:t>Secchi</a:t>
            </a:r>
            <a:r>
              <a:rPr lang="pt-BR" sz="1050" dirty="0">
                <a:solidFill>
                  <a:srgbClr val="26364F"/>
                </a:solidFill>
              </a:rPr>
              <a:t> (2013/2014); Rua (2014); Tribunal de Contas da União (2020), Referencial de Controle de Políticas Públicas.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4160520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0A2252"/>
                </a:solidFill>
                <a:latin typeface="Aptos Display"/>
              </a:rPr>
              <a:t>Problema público</a:t>
            </a:r>
          </a:p>
          <a:p>
            <a:r>
              <a:rPr sz="1700" b="0">
                <a:solidFill>
                  <a:srgbClr val="0A2252"/>
                </a:solidFill>
                <a:latin typeface="Aptos Display"/>
              </a:rPr>
              <a:t>Famílias sem acesso a creches.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315968" y="4160520"/>
            <a:ext cx="3657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0A2252"/>
                </a:solidFill>
                <a:latin typeface="Aptos Display"/>
              </a:rPr>
              <a:t>Resposta organizada</a:t>
            </a:r>
          </a:p>
          <a:p>
            <a:r>
              <a:rPr sz="1700" b="0">
                <a:solidFill>
                  <a:srgbClr val="0A2252"/>
                </a:solidFill>
                <a:latin typeface="Aptos Display"/>
              </a:rPr>
              <a:t>Vagas, equipes e regras de acesso.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321040" y="4160520"/>
            <a:ext cx="31546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700" b="0" dirty="0" err="1">
                <a:solidFill>
                  <a:srgbClr val="0A2252"/>
                </a:solidFill>
                <a:latin typeface="Aptos Display"/>
              </a:rPr>
              <a:t>Resultado</a:t>
            </a:r>
            <a:r>
              <a:rPr sz="1700" b="0" dirty="0">
                <a:solidFill>
                  <a:srgbClr val="0A2252"/>
                </a:solidFill>
                <a:latin typeface="Aptos Display"/>
              </a:rPr>
              <a:t> </a:t>
            </a:r>
            <a:r>
              <a:rPr sz="1700" b="0" dirty="0" err="1">
                <a:solidFill>
                  <a:srgbClr val="0A2252"/>
                </a:solidFill>
                <a:latin typeface="Aptos Display"/>
              </a:rPr>
              <a:t>esperado</a:t>
            </a:r>
            <a:endParaRPr sz="1700" b="0" dirty="0">
              <a:solidFill>
                <a:srgbClr val="0A2252"/>
              </a:solidFill>
              <a:latin typeface="Aptos Display"/>
            </a:endParaRPr>
          </a:p>
          <a:p>
            <a:r>
              <a:rPr sz="1700" b="0" dirty="0" err="1">
                <a:solidFill>
                  <a:srgbClr val="0A2252"/>
                </a:solidFill>
                <a:latin typeface="Aptos Display"/>
              </a:rPr>
              <a:t>Crianças</a:t>
            </a:r>
            <a:r>
              <a:rPr sz="1700" b="0" dirty="0">
                <a:solidFill>
                  <a:srgbClr val="0A2252"/>
                </a:solidFill>
                <a:latin typeface="Aptos Display"/>
              </a:rPr>
              <a:t> com </a:t>
            </a:r>
            <a:r>
              <a:rPr sz="1700" b="0" dirty="0" err="1">
                <a:solidFill>
                  <a:srgbClr val="0A2252"/>
                </a:solidFill>
                <a:latin typeface="Aptos Display"/>
              </a:rPr>
              <a:t>atendimento</a:t>
            </a:r>
            <a:r>
              <a:rPr sz="1700" b="0" dirty="0">
                <a:solidFill>
                  <a:srgbClr val="0A2252"/>
                </a:solidFill>
                <a:latin typeface="Aptos Display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04672"/>
            <a:ext cx="10863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pt-BR" sz="2600" b="1" dirty="0">
                <a:solidFill>
                  <a:srgbClr val="0A225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TRAJETÓRIA: PROJETO, GESTÃO E PESQUISA</a:t>
            </a:r>
          </a:p>
        </p:txBody>
      </p:sp>
      <p:sp>
        <p:nvSpPr>
          <p:cNvPr id="3" name="Shape 1"/>
          <p:cNvSpPr/>
          <p:nvPr/>
        </p:nvSpPr>
        <p:spPr>
          <a:xfrm>
            <a:off x="658368" y="1536192"/>
            <a:ext cx="822960" cy="0"/>
          </a:xfrm>
          <a:prstGeom prst="line">
            <a:avLst/>
          </a:prstGeom>
          <a:noFill/>
          <a:ln w="4445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35A0857D-7EDC-DFF6-3CFE-A70D6D0695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77" t="22570" r="577" b="16329"/>
          <a:stretch>
            <a:fillRect/>
          </a:stretch>
        </p:blipFill>
        <p:spPr>
          <a:xfrm>
            <a:off x="199282" y="5178555"/>
            <a:ext cx="2564091" cy="1566665"/>
          </a:xfrm>
          <a:prstGeom prst="rect">
            <a:avLst/>
          </a:prstGeom>
        </p:spPr>
      </p:pic>
      <p:sp>
        <p:nvSpPr>
          <p:cNvPr id="101" name="Cartão 101"/>
          <p:cNvSpPr/>
          <p:nvPr/>
        </p:nvSpPr>
        <p:spPr>
          <a:xfrm>
            <a:off x="658368" y="1965960"/>
            <a:ext cx="347472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2DA"/>
            </a:solidFill>
          </a:ln>
          <a:effectLst>
            <a:outerShdw blurRad="76200" dist="19050" dir="5400000" algn="t" rotWithShape="0">
              <a:srgbClr val="0A2252">
                <a:alpha val="12000"/>
              </a:srgbClr>
            </a:outerShdw>
          </a:effectLst>
        </p:spPr>
        <p:txBody>
          <a:bodyPr wrap="square" lIns="201168" tIns="201168" rIns="201168" bIns="201168" rtlCol="0" anchor="ctr">
            <a:normAutofit/>
          </a:bodyPr>
          <a:lstStyle/>
          <a:p>
            <a:pPr marL="0" indent="0" algn="l">
              <a:lnSpc>
                <a:spcPct val="100000"/>
              </a:lnSpc>
              <a:spcAft>
                <a:spcPts val="500"/>
              </a:spcAft>
              <a:buNone/>
            </a:pPr>
            <a:r>
              <a:rPr lang="pt-BR" sz="2100" b="1">
                <a:solidFill>
                  <a:srgbClr val="FF5A1F"/>
                </a:solidFill>
                <a:latin typeface="Aptos Display"/>
                <a:ea typeface="Aptos Display"/>
                <a:cs typeface="Aptos Display"/>
              </a:rPr>
              <a:t>Espaço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pt-BR" sz="2100">
                <a:solidFill>
                  <a:srgbClr val="26364F"/>
                </a:solidFill>
              </a:rPr>
              <a:t>Arquitetura e Urbanismo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pt-BR" sz="2100">
                <a:solidFill>
                  <a:srgbClr val="26364F"/>
                </a:solidFill>
              </a:rPr>
              <a:t>UFBA</a:t>
            </a:r>
          </a:p>
        </p:txBody>
      </p:sp>
      <p:sp>
        <p:nvSpPr>
          <p:cNvPr id="102" name="Cartão 102"/>
          <p:cNvSpPr/>
          <p:nvPr/>
        </p:nvSpPr>
        <p:spPr>
          <a:xfrm>
            <a:off x="4352544" y="1965960"/>
            <a:ext cx="347472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2DA"/>
            </a:solidFill>
          </a:ln>
          <a:effectLst>
            <a:outerShdw blurRad="76200" dist="19050" dir="5400000" algn="t" rotWithShape="0">
              <a:srgbClr val="0A2252">
                <a:alpha val="12000"/>
              </a:srgbClr>
            </a:outerShdw>
          </a:effectLst>
        </p:spPr>
        <p:txBody>
          <a:bodyPr wrap="square" lIns="201168" tIns="201168" rIns="201168" bIns="201168" rtlCol="0" anchor="ctr">
            <a:normAutofit/>
          </a:bodyPr>
          <a:lstStyle/>
          <a:p>
            <a:pPr marL="0" indent="0" algn="l">
              <a:lnSpc>
                <a:spcPct val="100000"/>
              </a:lnSpc>
              <a:spcAft>
                <a:spcPts val="500"/>
              </a:spcAft>
              <a:buNone/>
            </a:pPr>
            <a:r>
              <a:rPr lang="pt-BR" sz="2100" b="1">
                <a:solidFill>
                  <a:srgbClr val="FF5A1F"/>
                </a:solidFill>
                <a:latin typeface="Aptos Display"/>
                <a:ea typeface="Aptos Display"/>
                <a:cs typeface="Aptos Display"/>
              </a:rPr>
              <a:t>Gestão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pt-BR" sz="2100">
                <a:solidFill>
                  <a:srgbClr val="26364F"/>
                </a:solidFill>
              </a:rPr>
              <a:t>TJBA, CNJ e ENAJU</a:t>
            </a:r>
          </a:p>
        </p:txBody>
      </p:sp>
      <p:sp>
        <p:nvSpPr>
          <p:cNvPr id="103" name="Cartão 103"/>
          <p:cNvSpPr/>
          <p:nvPr/>
        </p:nvSpPr>
        <p:spPr>
          <a:xfrm>
            <a:off x="8046720" y="1965960"/>
            <a:ext cx="347472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2DA"/>
            </a:solidFill>
          </a:ln>
          <a:effectLst>
            <a:outerShdw blurRad="76200" dist="19050" dir="5400000" algn="t" rotWithShape="0">
              <a:srgbClr val="0A2252">
                <a:alpha val="12000"/>
              </a:srgbClr>
            </a:outerShdw>
          </a:effectLst>
        </p:spPr>
        <p:txBody>
          <a:bodyPr wrap="square" lIns="201168" tIns="201168" rIns="201168" bIns="201168" rtlCol="0" anchor="ctr">
            <a:normAutofit/>
          </a:bodyPr>
          <a:lstStyle/>
          <a:p>
            <a:pPr marL="0" indent="0" algn="l">
              <a:lnSpc>
                <a:spcPct val="100000"/>
              </a:lnSpc>
              <a:spcAft>
                <a:spcPts val="500"/>
              </a:spcAft>
              <a:buNone/>
            </a:pPr>
            <a:r>
              <a:rPr lang="pt-BR" sz="2100" b="1">
                <a:solidFill>
                  <a:srgbClr val="FF5A1F"/>
                </a:solidFill>
                <a:latin typeface="Aptos Display"/>
                <a:ea typeface="Aptos Display"/>
                <a:cs typeface="Aptos Display"/>
              </a:rPr>
              <a:t>Pesquisa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pt-BR" sz="2100">
                <a:solidFill>
                  <a:srgbClr val="26364F"/>
                </a:solidFill>
              </a:rPr>
              <a:t>Doutorado na UCES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pt-BR" sz="2100">
                <a:solidFill>
                  <a:srgbClr val="26364F"/>
                </a:solidFill>
              </a:rPr>
              <a:t>Pós-doutorado na ENAP</a:t>
            </a:r>
          </a:p>
        </p:txBody>
      </p:sp>
      <p:sp>
        <p:nvSpPr>
          <p:cNvPr id="104" name="TextBox 103"/>
          <p:cNvSpPr txBox="1">
            <a:spLocks/>
          </p:cNvSpPr>
          <p:nvPr/>
        </p:nvSpPr>
        <p:spPr>
          <a:xfrm>
            <a:off x="658368" y="4297680"/>
            <a:ext cx="10698480" cy="7976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pt-BR" sz="2300" b="1">
                <a:solidFill>
                  <a:srgbClr val="0A2252"/>
                </a:solidFill>
                <a:latin typeface="Aptos Display"/>
              </a:rPr>
              <a:t>A pesquisa começou como uma forma de entender</a:t>
            </a:r>
          </a:p>
          <a:p>
            <a:pPr>
              <a:spcAft>
                <a:spcPts val="700"/>
              </a:spcAft>
            </a:pPr>
            <a:r>
              <a:rPr lang="pt-BR" sz="2300" b="1">
                <a:solidFill>
                  <a:srgbClr val="0A2252"/>
                </a:solidFill>
                <a:latin typeface="Aptos Display"/>
              </a:rPr>
              <a:t>por que decisões nem sempre viram resultados na gestão.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35A0857D-7EDC-DFF6-3CFE-A70D6D0695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77" t="22570" r="577" b="16329"/>
          <a:stretch>
            <a:fillRect/>
          </a:stretch>
        </p:blipFill>
        <p:spPr>
          <a:xfrm>
            <a:off x="199282" y="5178555"/>
            <a:ext cx="2564091" cy="156666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804672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A2252"/>
                </a:solidFill>
                <a:latin typeface="Aptos Display"/>
              </a:rPr>
              <a:t>DA POLÍTICA PÚBLICA À ORGANIZAÇÃO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536192"/>
            <a:ext cx="822960" cy="32004"/>
          </a:xfrm>
          <a:prstGeom prst="rect">
            <a:avLst/>
          </a:prstGeom>
          <a:solidFill>
            <a:srgbClr val="FF5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8368" y="1783080"/>
            <a:ext cx="10863072" cy="758952"/>
          </a:xfrm>
          <a:prstGeom prst="roundRect">
            <a:avLst/>
          </a:prstGeom>
          <a:solidFill>
            <a:srgbClr val="FFF3ED"/>
          </a:solidFill>
          <a:ln w="9525">
            <a:solidFill>
              <a:srgbClr val="FF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700" b="0">
                <a:solidFill>
                  <a:srgbClr val="0A2252"/>
                </a:solidFill>
                <a:latin typeface="Aptos"/>
              </a:rPr>
              <a:t>Uma política pública organiza objetivos, instrumentos e responsabilidades</a:t>
            </a:r>
          </a:p>
          <a:p>
            <a:pPr algn="l"/>
            <a:r>
              <a:rPr sz="1700" b="0">
                <a:solidFill>
                  <a:srgbClr val="0A2252"/>
                </a:solidFill>
                <a:latin typeface="Aptos"/>
              </a:rPr>
              <a:t>para enfrentar um problema público.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468880"/>
            <a:ext cx="274320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50" b="1">
                <a:solidFill>
                  <a:srgbClr val="3B4A5F"/>
                </a:solidFill>
                <a:latin typeface="Aptos"/>
              </a:rPr>
              <a:t>NAS ORGANIZAÇÕES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816352"/>
            <a:ext cx="1719072" cy="502920"/>
          </a:xfrm>
          <a:prstGeom prst="roundRect">
            <a:avLst/>
          </a:prstGeom>
          <a:solidFill>
            <a:srgbClr val="FFF3ED"/>
          </a:solidFill>
          <a:ln w="9525">
            <a:solidFill>
              <a:srgbClr val="FF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/>
          <a:lstStyle/>
          <a:p>
            <a:pPr algn="ctr"/>
            <a:r>
              <a:rPr sz="1150" b="1">
                <a:solidFill>
                  <a:srgbClr val="0A2252"/>
                </a:solidFill>
                <a:latin typeface="Aptos"/>
              </a:rPr>
              <a:t>Objetivo estratégico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86584" y="2889504"/>
            <a:ext cx="91439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800" b="1">
                <a:solidFill>
                  <a:srgbClr val="FF5A1F"/>
                </a:solidFill>
                <a:latin typeface="Aptos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87168" y="2816352"/>
            <a:ext cx="1719072" cy="502920"/>
          </a:xfrm>
          <a:prstGeom prst="roundRect">
            <a:avLst/>
          </a:prstGeom>
          <a:solidFill>
            <a:srgbClr val="0A2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/>
          <a:lstStyle/>
          <a:p>
            <a:pPr algn="ctr"/>
            <a:r>
              <a:rPr sz="1150" b="1">
                <a:solidFill>
                  <a:srgbClr val="FFFFFF"/>
                </a:solidFill>
                <a:latin typeface="Aptos"/>
              </a:rPr>
              <a:t>projeto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15383" y="2889504"/>
            <a:ext cx="91439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800" b="1">
                <a:solidFill>
                  <a:srgbClr val="FF5A1F"/>
                </a:solidFill>
                <a:latin typeface="Aptos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2816352"/>
            <a:ext cx="1719072" cy="502920"/>
          </a:xfrm>
          <a:prstGeom prst="roundRect">
            <a:avLst/>
          </a:prstGeom>
          <a:solidFill>
            <a:srgbClr val="FFF3ED"/>
          </a:solidFill>
          <a:ln w="9525">
            <a:solidFill>
              <a:srgbClr val="FF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/>
          <a:lstStyle/>
          <a:p>
            <a:pPr algn="ctr"/>
            <a:r>
              <a:rPr sz="1150" b="1">
                <a:solidFill>
                  <a:srgbClr val="0A2252"/>
                </a:solidFill>
                <a:latin typeface="Aptos"/>
              </a:rPr>
              <a:t>equipe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44183" y="2889504"/>
            <a:ext cx="91439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800" b="1">
                <a:solidFill>
                  <a:srgbClr val="FF5A1F"/>
                </a:solidFill>
                <a:latin typeface="Aptos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4768" y="2816352"/>
            <a:ext cx="1719072" cy="502920"/>
          </a:xfrm>
          <a:prstGeom prst="roundRect">
            <a:avLst/>
          </a:prstGeom>
          <a:solidFill>
            <a:srgbClr val="FFF3ED"/>
          </a:solidFill>
          <a:ln w="9525">
            <a:solidFill>
              <a:srgbClr val="FF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/>
          <a:lstStyle/>
          <a:p>
            <a:pPr algn="ctr"/>
            <a:r>
              <a:rPr sz="1150" b="1">
                <a:solidFill>
                  <a:srgbClr val="0A2252"/>
                </a:solidFill>
                <a:latin typeface="Aptos"/>
              </a:rPr>
              <a:t>recursos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72983" y="2889504"/>
            <a:ext cx="91439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800" b="1">
                <a:solidFill>
                  <a:srgbClr val="FF5A1F"/>
                </a:solidFill>
                <a:latin typeface="Aptos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2816352"/>
            <a:ext cx="1719072" cy="502920"/>
          </a:xfrm>
          <a:prstGeom prst="roundRect">
            <a:avLst/>
          </a:prstGeom>
          <a:solidFill>
            <a:srgbClr val="0A2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/>
          <a:lstStyle/>
          <a:p>
            <a:pPr algn="ctr"/>
            <a:r>
              <a:rPr sz="1150" b="1">
                <a:solidFill>
                  <a:srgbClr val="FFFFFF"/>
                </a:solidFill>
                <a:latin typeface="Aptos"/>
              </a:rPr>
              <a:t>execução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01784" y="2889504"/>
            <a:ext cx="91439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800" b="1">
                <a:solidFill>
                  <a:srgbClr val="FF5A1F"/>
                </a:solidFill>
                <a:latin typeface="Aptos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02368" y="2816352"/>
            <a:ext cx="1719072" cy="502920"/>
          </a:xfrm>
          <a:prstGeom prst="roundRect">
            <a:avLst/>
          </a:prstGeom>
          <a:solidFill>
            <a:srgbClr val="FFF3ED"/>
          </a:solidFill>
          <a:ln w="9525">
            <a:solidFill>
              <a:srgbClr val="FF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/>
          <a:lstStyle/>
          <a:p>
            <a:pPr algn="ctr"/>
            <a:r>
              <a:rPr sz="1150" b="1">
                <a:solidFill>
                  <a:srgbClr val="0A2252"/>
                </a:solidFill>
                <a:latin typeface="Aptos"/>
              </a:rPr>
              <a:t>entrega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94176"/>
            <a:ext cx="274320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50" b="1">
                <a:solidFill>
                  <a:srgbClr val="3B4A5F"/>
                </a:solidFill>
                <a:latin typeface="Aptos"/>
              </a:rPr>
              <a:t>NAS POLÍTICAS PÚBLICAS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041648"/>
            <a:ext cx="1719072" cy="502920"/>
          </a:xfrm>
          <a:prstGeom prst="roundRect">
            <a:avLst/>
          </a:prstGeom>
          <a:solidFill>
            <a:srgbClr val="FFF3ED"/>
          </a:solidFill>
          <a:ln w="9525">
            <a:solidFill>
              <a:srgbClr val="FF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/>
          <a:lstStyle/>
          <a:p>
            <a:pPr algn="ctr"/>
            <a:r>
              <a:rPr sz="1150" b="1">
                <a:solidFill>
                  <a:srgbClr val="0A2252"/>
                </a:solidFill>
                <a:latin typeface="Aptos"/>
              </a:rPr>
              <a:t>Problema público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86584" y="4114800"/>
            <a:ext cx="91439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800" b="1">
                <a:solidFill>
                  <a:srgbClr val="FF5A1F"/>
                </a:solidFill>
                <a:latin typeface="Aptos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87168" y="4041648"/>
            <a:ext cx="1719072" cy="502920"/>
          </a:xfrm>
          <a:prstGeom prst="roundRect">
            <a:avLst/>
          </a:prstGeom>
          <a:solidFill>
            <a:srgbClr val="0A2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/>
          <a:lstStyle/>
          <a:p>
            <a:pPr algn="ctr"/>
            <a:r>
              <a:rPr sz="1150" b="1">
                <a:solidFill>
                  <a:srgbClr val="FFFFFF"/>
                </a:solidFill>
                <a:latin typeface="Aptos"/>
              </a:rPr>
              <a:t>política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15383" y="4114800"/>
            <a:ext cx="91439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800" b="1">
                <a:solidFill>
                  <a:srgbClr val="FF5A1F"/>
                </a:solidFill>
                <a:latin typeface="Aptos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15968" y="4041648"/>
            <a:ext cx="1719072" cy="502920"/>
          </a:xfrm>
          <a:prstGeom prst="roundRect">
            <a:avLst/>
          </a:prstGeom>
          <a:solidFill>
            <a:srgbClr val="FFF3ED"/>
          </a:solidFill>
          <a:ln w="9525">
            <a:solidFill>
              <a:srgbClr val="FF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/>
          <a:lstStyle/>
          <a:p>
            <a:pPr algn="ctr"/>
            <a:r>
              <a:rPr sz="1150" b="1">
                <a:solidFill>
                  <a:srgbClr val="0A2252"/>
                </a:solidFill>
                <a:latin typeface="Aptos"/>
              </a:rPr>
              <a:t>organizações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44183" y="4114800"/>
            <a:ext cx="91439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800" b="1">
                <a:solidFill>
                  <a:srgbClr val="FF5A1F"/>
                </a:solidFill>
                <a:latin typeface="Aptos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44768" y="4041648"/>
            <a:ext cx="1719072" cy="502920"/>
          </a:xfrm>
          <a:prstGeom prst="roundRect">
            <a:avLst/>
          </a:prstGeom>
          <a:solidFill>
            <a:srgbClr val="FFF3ED"/>
          </a:solidFill>
          <a:ln w="9525">
            <a:solidFill>
              <a:srgbClr val="FF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/>
          <a:lstStyle/>
          <a:p>
            <a:pPr algn="ctr"/>
            <a:r>
              <a:rPr sz="1150" b="1">
                <a:solidFill>
                  <a:srgbClr val="0A2252"/>
                </a:solidFill>
                <a:latin typeface="Aptos"/>
              </a:rPr>
              <a:t>equipes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2983" y="4114800"/>
            <a:ext cx="91439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800" b="1">
                <a:solidFill>
                  <a:srgbClr val="FF5A1F"/>
                </a:solidFill>
                <a:latin typeface="Aptos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73568" y="4041648"/>
            <a:ext cx="1719072" cy="502920"/>
          </a:xfrm>
          <a:prstGeom prst="roundRect">
            <a:avLst/>
          </a:prstGeom>
          <a:solidFill>
            <a:srgbClr val="0A2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/>
          <a:lstStyle/>
          <a:p>
            <a:pPr algn="ctr"/>
            <a:r>
              <a:rPr sz="1150" b="1">
                <a:solidFill>
                  <a:srgbClr val="FFFFFF"/>
                </a:solidFill>
                <a:latin typeface="Aptos"/>
              </a:rPr>
              <a:t>implementação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01784" y="4114800"/>
            <a:ext cx="91439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800" b="1">
                <a:solidFill>
                  <a:srgbClr val="FF5A1F"/>
                </a:solidFill>
                <a:latin typeface="Aptos"/>
              </a:rPr>
              <a:t>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02368" y="4041648"/>
            <a:ext cx="1719072" cy="502920"/>
          </a:xfrm>
          <a:prstGeom prst="roundRect">
            <a:avLst/>
          </a:prstGeom>
          <a:solidFill>
            <a:srgbClr val="FFF3ED"/>
          </a:solidFill>
          <a:ln w="9525">
            <a:solidFill>
              <a:srgbClr val="FF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/>
          <a:lstStyle/>
          <a:p>
            <a:pPr algn="ctr"/>
            <a:r>
              <a:rPr sz="1150" b="1">
                <a:solidFill>
                  <a:srgbClr val="0A2252"/>
                </a:solidFill>
                <a:latin typeface="Aptos"/>
              </a:rPr>
              <a:t>resultado público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43200" y="5102352"/>
            <a:ext cx="5074920" cy="621792"/>
          </a:xfrm>
          <a:prstGeom prst="roundRect">
            <a:avLst/>
          </a:prstGeom>
          <a:solidFill>
            <a:srgbClr val="0A2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Objetivos precisam ser convertidos em ação organizada.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79792" y="5321808"/>
            <a:ext cx="3822191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2296" rIns="82296" tIns="36576" bIns="36576"/>
          <a:lstStyle/>
          <a:p>
            <a:pPr algn="l"/>
            <a:r>
              <a:rPr sz="570" b="0">
                <a:solidFill>
                  <a:srgbClr val="0A2252"/>
                </a:solidFill>
                <a:latin typeface="Aptos"/>
              </a:rPr>
              <a:t>Pressman &amp; Wildavsky (1973); Hill &amp; Hupe (2022)</a:t>
            </a:r>
          </a:p>
          <a:p>
            <a:pPr algn="l"/>
            <a:r>
              <a:rPr sz="570" b="0">
                <a:solidFill>
                  <a:srgbClr val="0A2252"/>
                </a:solidFill>
                <a:latin typeface="Aptos"/>
              </a:rPr>
              <a:t>Secchi; TCU, Referencial de Controle de Políticas Públicas (2020)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35A0857D-7EDC-DFF6-3CFE-A70D6D0695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77" t="22570" r="577" b="16329"/>
          <a:stretch>
            <a:fillRect/>
          </a:stretch>
        </p:blipFill>
        <p:spPr>
          <a:xfrm>
            <a:off x="199282" y="5178555"/>
            <a:ext cx="2564091" cy="156666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804672"/>
            <a:ext cx="108630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A2252"/>
                </a:solidFill>
                <a:latin typeface="Aptos Display"/>
              </a:rPr>
              <a:t>ONDE ENTRA O ADMINISTRADOR?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536192"/>
            <a:ext cx="822960" cy="32004"/>
          </a:xfrm>
          <a:prstGeom prst="rect">
            <a:avLst/>
          </a:prstGeom>
          <a:solidFill>
            <a:srgbClr val="FF5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7639" y="1737360"/>
            <a:ext cx="4160520" cy="475488"/>
          </a:xfrm>
          <a:prstGeom prst="roundRect">
            <a:avLst/>
          </a:prstGeom>
          <a:solidFill>
            <a:srgbClr val="FFF3ED"/>
          </a:solidFill>
          <a:ln w="9525">
            <a:solidFill>
              <a:srgbClr val="FF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/>
            <a:r>
              <a:rPr sz="1300" b="1">
                <a:solidFill>
                  <a:srgbClr val="0A2252"/>
                </a:solidFill>
                <a:latin typeface="Aptos"/>
              </a:rPr>
              <a:t>POLÍTICA PÚBLICA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59" y="2231136"/>
            <a:ext cx="41148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700" b="1">
                <a:solidFill>
                  <a:srgbClr val="FF5A1F"/>
                </a:solidFill>
                <a:latin typeface="Aptos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2514600"/>
            <a:ext cx="4160520" cy="713232"/>
          </a:xfrm>
          <a:prstGeom prst="roundRect">
            <a:avLst/>
          </a:prstGeom>
          <a:solidFill>
            <a:srgbClr val="0A2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ADMINISTRADOR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intermediação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59" y="3246120"/>
            <a:ext cx="41148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700" b="1">
                <a:solidFill>
                  <a:srgbClr val="FF5A1F"/>
                </a:solidFill>
                <a:latin typeface="Aptos"/>
              </a:rPr>
              <a:t>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7639" y="3547872"/>
            <a:ext cx="4160520" cy="475488"/>
          </a:xfrm>
          <a:prstGeom prst="roundRect">
            <a:avLst/>
          </a:prstGeom>
          <a:solidFill>
            <a:srgbClr val="FFF3ED"/>
          </a:solidFill>
          <a:ln w="9525">
            <a:solidFill>
              <a:srgbClr val="FF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/>
            <a:r>
              <a:rPr sz="1300" b="1">
                <a:solidFill>
                  <a:srgbClr val="0A2252"/>
                </a:solidFill>
                <a:latin typeface="Aptos"/>
              </a:rPr>
              <a:t>ORGANIZAÇÃO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59" y="4041648"/>
            <a:ext cx="41148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700" b="1">
                <a:solidFill>
                  <a:srgbClr val="FF5A1F"/>
                </a:solidFill>
                <a:latin typeface="Aptos"/>
              </a:rP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51760" y="4315968"/>
            <a:ext cx="681228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/>
            <a:r>
              <a:rPr sz="1100" b="1">
                <a:solidFill>
                  <a:srgbClr val="0A2252"/>
                </a:solidFill>
                <a:latin typeface="Aptos"/>
              </a:rPr>
              <a:t>EQUIPES • PROCESSOS • RECURSOS • TECNOLOGIA • CONTRATOS • INFORMAÇÃO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4782312"/>
            <a:ext cx="41148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700" b="1">
                <a:solidFill>
                  <a:srgbClr val="FF5A1F"/>
                </a:solidFill>
                <a:latin typeface="Aptos"/>
              </a:rPr>
              <a:t>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77639" y="4983480"/>
            <a:ext cx="4160520" cy="457200"/>
          </a:xfrm>
          <a:prstGeom prst="roundRect">
            <a:avLst/>
          </a:prstGeom>
          <a:solidFill>
            <a:srgbClr val="FFF3ED"/>
          </a:solidFill>
          <a:ln w="9525">
            <a:solidFill>
              <a:srgbClr val="FF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/>
            <a:r>
              <a:rPr sz="1300" b="1">
                <a:solidFill>
                  <a:srgbClr val="0A2252"/>
                </a:solidFill>
                <a:latin typeface="Aptos"/>
              </a:rPr>
              <a:t>SERVIÇOS E RESULTADOS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1965960"/>
            <a:ext cx="1828800" cy="411480"/>
          </a:xfrm>
          <a:prstGeom prst="round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/>
            <a:r>
              <a:rPr sz="1200" b="1">
                <a:solidFill>
                  <a:srgbClr val="0A2252"/>
                </a:solidFill>
                <a:latin typeface="Aptos"/>
              </a:rPr>
              <a:t>formular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743200"/>
            <a:ext cx="1828800" cy="411480"/>
          </a:xfrm>
          <a:prstGeom prst="round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/>
            <a:r>
              <a:rPr sz="1200" b="1">
                <a:solidFill>
                  <a:srgbClr val="0A2252"/>
                </a:solidFill>
                <a:latin typeface="Aptos"/>
              </a:rPr>
              <a:t>traduzir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520440"/>
            <a:ext cx="1828800" cy="411480"/>
          </a:xfrm>
          <a:prstGeom prst="round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/>
            <a:r>
              <a:rPr sz="1200" b="1">
                <a:solidFill>
                  <a:srgbClr val="0A2252"/>
                </a:solidFill>
                <a:latin typeface="Aptos"/>
              </a:rPr>
              <a:t>coordenar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19488" y="1965960"/>
            <a:ext cx="1828800" cy="411480"/>
          </a:xfrm>
          <a:prstGeom prst="round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/>
            <a:r>
              <a:rPr sz="1200" b="1">
                <a:solidFill>
                  <a:srgbClr val="0A2252"/>
                </a:solidFill>
                <a:latin typeface="Aptos"/>
              </a:rPr>
              <a:t>executar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19488" y="2743200"/>
            <a:ext cx="1828800" cy="411480"/>
          </a:xfrm>
          <a:prstGeom prst="round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/>
            <a:r>
              <a:rPr sz="1200" b="1">
                <a:solidFill>
                  <a:srgbClr val="0A2252"/>
                </a:solidFill>
                <a:latin typeface="Aptos"/>
              </a:rPr>
              <a:t>monitorar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19488" y="3520440"/>
            <a:ext cx="1828800" cy="411480"/>
          </a:xfrm>
          <a:prstGeom prst="round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/>
            <a:r>
              <a:rPr sz="1200" b="1">
                <a:solidFill>
                  <a:srgbClr val="0A2252"/>
                </a:solidFill>
                <a:latin typeface="Aptos"/>
              </a:rPr>
              <a:t>aprender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0" y="5513832"/>
            <a:ext cx="4160520" cy="475488"/>
          </a:xfrm>
          <a:prstGeom prst="roundRect">
            <a:avLst/>
          </a:prstGeom>
          <a:solidFill>
            <a:srgbClr val="0A2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/>
            <a:r>
              <a:rPr sz="1150" b="1">
                <a:solidFill>
                  <a:srgbClr val="FFFFFF"/>
                </a:solidFill>
                <a:latin typeface="Aptos"/>
              </a:rPr>
              <a:t>Intermediário: ator que conecta partes da implementação.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79792" y="5321808"/>
            <a:ext cx="3822191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2296" rIns="82296" tIns="36576" bIns="36576"/>
          <a:lstStyle/>
          <a:p>
            <a:pPr algn="l"/>
            <a:r>
              <a:rPr sz="570" b="0">
                <a:solidFill>
                  <a:srgbClr val="0A2252"/>
                </a:solidFill>
                <a:latin typeface="Aptos"/>
              </a:rPr>
              <a:t>Lipsky (1980); Abbott, Levi-Faur &amp; Snidal (2017); Hill &amp; Hupe (2022)</a:t>
            </a:r>
          </a:p>
          <a:p>
            <a:pPr algn="l"/>
            <a:r>
              <a:rPr sz="570" b="0">
                <a:solidFill>
                  <a:srgbClr val="0A2252"/>
                </a:solidFill>
                <a:latin typeface="Aptos"/>
              </a:rPr>
              <a:t>Intermediação como função exercida na implementação.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82" y="5178555"/>
            <a:ext cx="2564091" cy="156666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804672"/>
            <a:ext cx="10863072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092454"/>
                </a:solidFill>
                <a:latin typeface="Aptos"/>
              </a:rPr>
              <a:t>O ADMINISTRADOR COMO INTERMEDIÁRIO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36192"/>
            <a:ext cx="822960" cy="32004"/>
          </a:xfrm>
          <a:prstGeom prst="rect">
            <a:avLst/>
          </a:prstGeom>
          <a:solidFill>
            <a:srgbClr val="FF4E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760000"/>
            <a:ext cx="10860000" cy="500000"/>
          </a:xfrm>
          <a:prstGeom prst="roundRect">
            <a:avLst/>
          </a:prstGeom>
          <a:solidFill>
            <a:srgbClr val="FFF2EE"/>
          </a:solidFill>
          <a:ln w="12700">
            <a:solidFill>
              <a:srgbClr val="FF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>
                <a:solidFill>
                  <a:srgbClr val="092454"/>
                </a:solidFill>
                <a:latin typeface="Aptos"/>
              </a:rPr>
              <a:t>Na governança regulatória, o intermediário é definido pela função que exerce na relação.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2460000"/>
            <a:ext cx="102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656F80"/>
                </a:solidFill>
                <a:latin typeface="Aptos"/>
              </a:rPr>
              <a:t>GOVERNANÇA REGULATÓRIA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0000" y="2820000"/>
            <a:ext cx="2360000" cy="4800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92454"/>
                </a:solidFill>
                <a:latin typeface="Aptos"/>
              </a:rPr>
              <a:t>REGULADOR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60000" y="2920000"/>
            <a:ext cx="360000" cy="2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4E23"/>
                </a:solidFill>
                <a:latin typeface="Apto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0000" y="2820000"/>
            <a:ext cx="2600000" cy="480000"/>
          </a:xfrm>
          <a:prstGeom prst="roundRect">
            <a:avLst/>
          </a:prstGeom>
          <a:solidFill>
            <a:srgbClr val="092454"/>
          </a:solidFill>
          <a:ln w="12700">
            <a:solidFill>
              <a:srgbClr val="092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INTERMEDIÁRIO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0000" y="2920000"/>
            <a:ext cx="360000" cy="2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4E23"/>
                </a:solidFill>
                <a:latin typeface="Apto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20000" y="2820000"/>
            <a:ext cx="2360000" cy="4800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92454"/>
                </a:solidFill>
                <a:latin typeface="Aptos"/>
              </a:rPr>
              <a:t>DESTINATÁRIO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0" y="3620000"/>
            <a:ext cx="102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656F80"/>
                </a:solidFill>
                <a:latin typeface="Aptos"/>
              </a:rPr>
              <a:t>ADMINISTRAÇÃO PÚBLICA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0000" y="3980000"/>
            <a:ext cx="2360000" cy="4800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92454"/>
                </a:solidFill>
                <a:latin typeface="Aptos"/>
              </a:rPr>
              <a:t>POLÍTICA PÚBLICA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0000" y="4080000"/>
            <a:ext cx="360000" cy="2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4E23"/>
                </a:solidFill>
                <a:latin typeface="Apto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0000" y="3980000"/>
            <a:ext cx="2600000" cy="480000"/>
          </a:xfrm>
          <a:prstGeom prst="roundRect">
            <a:avLst/>
          </a:prstGeom>
          <a:solidFill>
            <a:srgbClr val="092454"/>
          </a:solidFill>
          <a:ln w="12700">
            <a:solidFill>
              <a:srgbClr val="092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ADMINISTRADOR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80000" y="4080000"/>
            <a:ext cx="360000" cy="2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4E23"/>
                </a:solidFill>
                <a:latin typeface="Apto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20000" y="3980000"/>
            <a:ext cx="2360000" cy="4800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92454"/>
                </a:solidFill>
                <a:latin typeface="Aptos"/>
              </a:rPr>
              <a:t>ORGANIZAÇÃO E CIDADÃO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00000" y="5050000"/>
            <a:ext cx="6900000" cy="560000"/>
          </a:xfrm>
          <a:prstGeom prst="roundRect">
            <a:avLst/>
          </a:prstGeom>
          <a:solidFill>
            <a:srgbClr val="092454"/>
          </a:solidFill>
          <a:ln w="12700">
            <a:solidFill>
              <a:srgbClr val="092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50" b="1">
                <a:solidFill>
                  <a:srgbClr val="FFFFFF"/>
                </a:solidFill>
                <a:latin typeface="Aptos"/>
              </a:rPr>
              <a:t>A função é conectar objetivos, capacidades e ação organizada.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0000" y="4650000"/>
            <a:ext cx="9000000" cy="31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92454"/>
                </a:solidFill>
                <a:latin typeface="Aptos"/>
              </a:rPr>
              <a:t>Funções intermediárias: traduzir • coordenar • informar • monitorar • construir capacidades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00000" y="5860000"/>
            <a:ext cx="5750000" cy="450000"/>
          </a:xfrm>
          <a:prstGeom prst="roundRect">
            <a:avLst/>
          </a:prstGeom>
          <a:solidFill>
            <a:srgbClr val="FFF2EE"/>
          </a:solidFill>
          <a:ln w="12700">
            <a:solidFill>
              <a:srgbClr val="FF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092454"/>
                </a:solidFill>
                <a:latin typeface="Aptos"/>
              </a:rPr>
              <a:t>Evolução da pesquisa: arquitetura judiciária → implementação → governança regulatória → ARENAS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50000" y="5860000"/>
            <a:ext cx="2180000" cy="56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750" b="0">
                <a:solidFill>
                  <a:srgbClr val="092454"/>
                </a:solidFill>
                <a:latin typeface="Aptos"/>
              </a:rPr>
              <a:t>Abbott, Levi-Faur &amp; Snidal (2017); Levi-Faur (2011); Hill &amp; Hupe (2022)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35A0857D-7EDC-DFF6-3CFE-A70D6D0695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77" t="22570" r="577" b="16329"/>
          <a:stretch>
            <a:fillRect/>
          </a:stretch>
        </p:blipFill>
        <p:spPr>
          <a:xfrm>
            <a:off x="199282" y="5178555"/>
            <a:ext cx="2564091" cy="156666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804672"/>
            <a:ext cx="108630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A2252"/>
                </a:solidFill>
                <a:latin typeface="Aptos Display"/>
              </a:rPr>
              <a:t>ONDE A IMPLEMENTAÇÃO REALMENTE ACONTECE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536192"/>
            <a:ext cx="822960" cy="32004"/>
          </a:xfrm>
          <a:prstGeom prst="rect">
            <a:avLst/>
          </a:prstGeom>
          <a:solidFill>
            <a:srgbClr val="FF5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8368" y="1783080"/>
            <a:ext cx="5029200" cy="822960"/>
          </a:xfrm>
          <a:prstGeom prst="roundRect">
            <a:avLst/>
          </a:prstGeom>
          <a:solidFill>
            <a:srgbClr val="FFF3ED"/>
          </a:solidFill>
          <a:ln w="9525">
            <a:solidFill>
              <a:srgbClr val="FF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l"/>
            <a:r>
              <a:rPr sz="1600" b="0">
                <a:solidFill>
                  <a:srgbClr val="0A2252"/>
                </a:solidFill>
                <a:latin typeface="Aptos"/>
              </a:rPr>
              <a:t>A política chega à organização.</a:t>
            </a:r>
          </a:p>
          <a:p>
            <a:pPr algn="l"/>
            <a:r>
              <a:rPr sz="1600" b="0">
                <a:solidFill>
                  <a:srgbClr val="0A2252"/>
                </a:solidFill>
                <a:latin typeface="Aptos"/>
              </a:rPr>
              <a:t>Mas é em situações concretas que ela se realiza.</a:t>
            </a:r>
          </a:p>
        </p:txBody>
      </p:sp>
      <p:pic>
        <p:nvPicPr>
          <p:cNvPr id="13" name="Picture 12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6752" y="1783080"/>
            <a:ext cx="5504688" cy="309067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58368" y="2907792"/>
            <a:ext cx="1444752" cy="347472"/>
          </a:xfrm>
          <a:prstGeom prst="round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36576" bIns="36576"/>
          <a:lstStyle/>
          <a:p>
            <a:pPr algn="ctr"/>
            <a:r>
              <a:rPr sz="880" b="1">
                <a:solidFill>
                  <a:srgbClr val="0A2252"/>
                </a:solidFill>
                <a:latin typeface="Aptos"/>
              </a:rPr>
              <a:t>balcão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04288" y="2907792"/>
            <a:ext cx="1444752" cy="347472"/>
          </a:xfrm>
          <a:prstGeom prst="round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36576" bIns="36576"/>
          <a:lstStyle/>
          <a:p>
            <a:pPr algn="ctr"/>
            <a:r>
              <a:rPr sz="880" b="1">
                <a:solidFill>
                  <a:srgbClr val="0A2252"/>
                </a:solidFill>
                <a:latin typeface="Aptos"/>
              </a:rPr>
              <a:t>plataforma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50208" y="2907792"/>
            <a:ext cx="1444752" cy="347472"/>
          </a:xfrm>
          <a:prstGeom prst="round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36576" bIns="36576"/>
          <a:lstStyle/>
          <a:p>
            <a:pPr algn="ctr"/>
            <a:r>
              <a:rPr sz="880" b="1">
                <a:solidFill>
                  <a:srgbClr val="0A2252"/>
                </a:solidFill>
                <a:latin typeface="Aptos"/>
              </a:rPr>
              <a:t>formulário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410712"/>
            <a:ext cx="1444752" cy="347472"/>
          </a:xfrm>
          <a:prstGeom prst="round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36576" bIns="36576"/>
          <a:lstStyle/>
          <a:p>
            <a:pPr algn="ctr"/>
            <a:r>
              <a:rPr sz="880" b="1">
                <a:solidFill>
                  <a:srgbClr val="0A2252"/>
                </a:solidFill>
                <a:latin typeface="Aptos"/>
              </a:rPr>
              <a:t>sala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04288" y="3410712"/>
            <a:ext cx="1444752" cy="347472"/>
          </a:xfrm>
          <a:prstGeom prst="round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36576" bIns="36576"/>
          <a:lstStyle/>
          <a:p>
            <a:pPr algn="ctr"/>
            <a:r>
              <a:rPr sz="880" b="1">
                <a:solidFill>
                  <a:srgbClr val="0A2252"/>
                </a:solidFill>
                <a:latin typeface="Aptos"/>
              </a:rPr>
              <a:t>sistema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50208" y="3410712"/>
            <a:ext cx="1444752" cy="347472"/>
          </a:xfrm>
          <a:prstGeom prst="round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36576" bIns="36576"/>
          <a:lstStyle/>
          <a:p>
            <a:pPr algn="ctr"/>
            <a:r>
              <a:rPr sz="880" b="1">
                <a:solidFill>
                  <a:srgbClr val="0A2252"/>
                </a:solidFill>
                <a:latin typeface="Aptos"/>
              </a:rPr>
              <a:t>fila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913632"/>
            <a:ext cx="1444752" cy="347472"/>
          </a:xfrm>
          <a:prstGeom prst="round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36576" bIns="36576"/>
          <a:lstStyle/>
          <a:p>
            <a:pPr algn="ctr"/>
            <a:r>
              <a:rPr sz="880" b="1">
                <a:solidFill>
                  <a:srgbClr val="0A2252"/>
                </a:solidFill>
                <a:latin typeface="Aptos"/>
              </a:rPr>
              <a:t>equipe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04288" y="3913632"/>
            <a:ext cx="1444752" cy="347472"/>
          </a:xfrm>
          <a:prstGeom prst="round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36576" bIns="36576"/>
          <a:lstStyle/>
          <a:p>
            <a:pPr algn="ctr"/>
            <a:r>
              <a:rPr sz="880" b="1">
                <a:solidFill>
                  <a:srgbClr val="0A2252"/>
                </a:solidFill>
                <a:latin typeface="Aptos"/>
              </a:rPr>
              <a:t>contrato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50208" y="3913632"/>
            <a:ext cx="1444752" cy="347472"/>
          </a:xfrm>
          <a:prstGeom prst="round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36576" bIns="36576"/>
          <a:lstStyle/>
          <a:p>
            <a:pPr algn="ctr"/>
            <a:r>
              <a:rPr sz="880" b="1">
                <a:solidFill>
                  <a:srgbClr val="0A2252"/>
                </a:solidFill>
                <a:latin typeface="Aptos"/>
              </a:rPr>
              <a:t>documento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416552"/>
            <a:ext cx="1444752" cy="347472"/>
          </a:xfrm>
          <a:prstGeom prst="round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36576" bIns="36576"/>
          <a:lstStyle/>
          <a:p>
            <a:pPr algn="ctr"/>
            <a:r>
              <a:rPr sz="880" b="1">
                <a:solidFill>
                  <a:srgbClr val="0A2252"/>
                </a:solidFill>
                <a:latin typeface="Aptos"/>
              </a:rPr>
              <a:t>infraestrutura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04288" y="4416552"/>
            <a:ext cx="1444752" cy="347472"/>
          </a:xfrm>
          <a:prstGeom prst="round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36576" bIns="36576"/>
          <a:lstStyle/>
          <a:p>
            <a:pPr algn="ctr"/>
            <a:r>
              <a:rPr sz="880" b="1">
                <a:solidFill>
                  <a:srgbClr val="0A2252"/>
                </a:solidFill>
                <a:latin typeface="Aptos"/>
              </a:rPr>
              <a:t>atendimento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50208" y="4416552"/>
            <a:ext cx="1444752" cy="347472"/>
          </a:xfrm>
          <a:prstGeom prst="round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36576" bIns="36576"/>
          <a:lstStyle/>
          <a:p>
            <a:pPr algn="ctr"/>
            <a:r>
              <a:rPr sz="880" b="1">
                <a:solidFill>
                  <a:srgbClr val="0A2252"/>
                </a:solidFill>
                <a:latin typeface="Aptos"/>
              </a:rPr>
              <a:t>recursos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919472"/>
            <a:ext cx="4956048" cy="4297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36576" bIns="36576"/>
          <a:lstStyle/>
          <a:p>
            <a:pPr algn="ctr"/>
            <a:r>
              <a:rPr sz="919" b="1">
                <a:solidFill>
                  <a:srgbClr val="0A2252"/>
                </a:solidFill>
                <a:latin typeface="Aptos"/>
              </a:rPr>
              <a:t>pessoas + regras + tecnologias + documentos + recursos + espaços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71800" y="5559552"/>
            <a:ext cx="3977639" cy="429768"/>
          </a:xfrm>
          <a:prstGeom prst="roundRect">
            <a:avLst/>
          </a:prstGeom>
          <a:solidFill>
            <a:srgbClr val="0A2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36576" bIns="36576"/>
          <a:lstStyle/>
          <a:p>
            <a:pPr algn="ctr"/>
            <a:r>
              <a:rPr sz="1150" b="1">
                <a:solidFill>
                  <a:srgbClr val="FFFFFF"/>
                </a:solidFill>
                <a:latin typeface="Aptos"/>
              </a:rPr>
              <a:t>O que acontece quando esses elementos se encontram?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79792" y="5321808"/>
            <a:ext cx="3822191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2296" rIns="82296" tIns="36576" bIns="36576"/>
          <a:lstStyle/>
          <a:p>
            <a:pPr algn="l"/>
            <a:r>
              <a:rPr sz="570" b="0">
                <a:solidFill>
                  <a:srgbClr val="0A2252"/>
                </a:solidFill>
                <a:latin typeface="Aptos"/>
              </a:rPr>
              <a:t>Lipsky (1980); Lascoumes &amp; Le Galès (2007)</a:t>
            </a:r>
          </a:p>
          <a:p>
            <a:pPr algn="l"/>
            <a:r>
              <a:rPr sz="570" b="0">
                <a:solidFill>
                  <a:srgbClr val="0A2252"/>
                </a:solidFill>
                <a:latin typeface="Aptos"/>
              </a:rPr>
              <a:t>Bitner (1992); Herd &amp; Moynihan (2019)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04672"/>
            <a:ext cx="10863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pt-BR" sz="2600" b="1" dirty="0">
                <a:solidFill>
                  <a:srgbClr val="0A225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PARA INVESTIGAR, É PRECISO DE TEORIA</a:t>
            </a:r>
          </a:p>
        </p:txBody>
      </p:sp>
      <p:sp>
        <p:nvSpPr>
          <p:cNvPr id="3" name="Shape 1"/>
          <p:cNvSpPr/>
          <p:nvPr/>
        </p:nvSpPr>
        <p:spPr>
          <a:xfrm>
            <a:off x="658368" y="1536192"/>
            <a:ext cx="822960" cy="0"/>
          </a:xfrm>
          <a:prstGeom prst="line">
            <a:avLst/>
          </a:prstGeom>
          <a:noFill/>
          <a:ln w="4445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35A0857D-7EDC-DFF6-3CFE-A70D6D0695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77" t="22570" r="577" b="16329"/>
          <a:stretch>
            <a:fillRect/>
          </a:stretch>
        </p:blipFill>
        <p:spPr>
          <a:xfrm>
            <a:off x="199282" y="5178555"/>
            <a:ext cx="2564091" cy="1566665"/>
          </a:xfrm>
          <a:prstGeom prst="rect">
            <a:avLst/>
          </a:prstGeom>
        </p:spPr>
      </p:pic>
      <p:sp>
        <p:nvSpPr>
          <p:cNvPr id="101" name="Tema 101"/>
          <p:cNvSpPr/>
          <p:nvPr/>
        </p:nvSpPr>
        <p:spPr>
          <a:xfrm>
            <a:off x="658368" y="1874519"/>
            <a:ext cx="3502152" cy="1188720"/>
          </a:xfrm>
          <a:prstGeom prst="roundRect">
            <a:avLst>
              <a:gd name="adj" fmla="val 10000"/>
            </a:avLst>
          </a:prstGeom>
          <a:solidFill>
            <a:srgbClr val="0A2252"/>
          </a:solidFill>
          <a:ln>
            <a:noFill/>
          </a:ln>
        </p:spPr>
        <p:txBody>
          <a:bodyPr wrap="square" lIns="201168" tIns="201168" rIns="201168" bIns="201168" rtlCol="0" anchor="ctr">
            <a:normAutofit fontScale="92500"/>
          </a:bodyPr>
          <a:lstStyle/>
          <a:p>
            <a:pPr marL="0" indent="0" algn="l">
              <a:buNone/>
            </a:pPr>
            <a:r>
              <a:rPr lang="pt-BR" sz="21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Enxergar variáveis</a:t>
            </a:r>
          </a:p>
          <a:p>
            <a:pPr marL="0" indent="0" algn="l">
              <a:buNone/>
            </a:pPr>
            <a:r>
              <a:rPr lang="pt-BR" sz="21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que o senso comum não vê</a:t>
            </a:r>
          </a:p>
        </p:txBody>
      </p:sp>
      <p:sp>
        <p:nvSpPr>
          <p:cNvPr id="102" name="Tema 102"/>
          <p:cNvSpPr/>
          <p:nvPr/>
        </p:nvSpPr>
        <p:spPr>
          <a:xfrm>
            <a:off x="4334255" y="1874519"/>
            <a:ext cx="350215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2DA"/>
            </a:solidFill>
          </a:ln>
        </p:spPr>
        <p:txBody>
          <a:bodyPr wrap="square" lIns="201168" tIns="201168" rIns="201168" bIns="201168" rtlCol="0" anchor="ctr">
            <a:normAutofit/>
          </a:bodyPr>
          <a:lstStyle/>
          <a:p>
            <a:pPr marL="0" indent="0" algn="l">
              <a:buNone/>
            </a:pPr>
            <a:r>
              <a:rPr lang="pt-BR" sz="2100" b="1">
                <a:solidFill>
                  <a:srgbClr val="0A2252"/>
                </a:solidFill>
                <a:latin typeface="Aptos Display"/>
                <a:ea typeface="Aptos Display"/>
                <a:cs typeface="Aptos Display"/>
              </a:rPr>
              <a:t>Formular</a:t>
            </a:r>
          </a:p>
          <a:p>
            <a:pPr marL="0" indent="0" algn="l">
              <a:buNone/>
            </a:pPr>
            <a:r>
              <a:rPr lang="pt-BR" sz="2100" b="1">
                <a:solidFill>
                  <a:srgbClr val="0A2252"/>
                </a:solidFill>
                <a:latin typeface="Aptos Display"/>
                <a:ea typeface="Aptos Display"/>
                <a:cs typeface="Aptos Display"/>
              </a:rPr>
              <a:t>boas perguntas</a:t>
            </a:r>
          </a:p>
        </p:txBody>
      </p:sp>
      <p:sp>
        <p:nvSpPr>
          <p:cNvPr id="103" name="Tema 103"/>
          <p:cNvSpPr/>
          <p:nvPr/>
        </p:nvSpPr>
        <p:spPr>
          <a:xfrm>
            <a:off x="8010144" y="1874519"/>
            <a:ext cx="3502152" cy="1188720"/>
          </a:xfrm>
          <a:prstGeom prst="roundRect">
            <a:avLst>
              <a:gd name="adj" fmla="val 10000"/>
            </a:avLst>
          </a:prstGeom>
          <a:solidFill>
            <a:srgbClr val="0A2252"/>
          </a:solidFill>
          <a:ln>
            <a:noFill/>
          </a:ln>
        </p:spPr>
        <p:txBody>
          <a:bodyPr wrap="square" lIns="201168" tIns="201168" rIns="201168" bIns="201168" rtlCol="0" anchor="ctr">
            <a:normAutofit/>
          </a:bodyPr>
          <a:lstStyle/>
          <a:p>
            <a:pPr marL="0" indent="0" algn="l">
              <a:buNone/>
            </a:pPr>
            <a:r>
              <a:rPr lang="pt-BR" sz="21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Interpretar</a:t>
            </a:r>
          </a:p>
          <a:p>
            <a:pPr marL="0" indent="0" algn="l">
              <a:buNone/>
            </a:pPr>
            <a:r>
              <a:rPr lang="pt-BR" sz="21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as evidências</a:t>
            </a:r>
          </a:p>
        </p:txBody>
      </p:sp>
      <p:sp>
        <p:nvSpPr>
          <p:cNvPr id="107" name="Texto 107"/>
          <p:cNvSpPr txBox="1"/>
          <p:nvPr/>
        </p:nvSpPr>
        <p:spPr>
          <a:xfrm>
            <a:off x="658368" y="3502152"/>
            <a:ext cx="10863072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pt-BR" sz="2500" b="1">
                <a:solidFill>
                  <a:srgbClr val="26364F"/>
                </a:solidFill>
              </a:rPr>
              <a:t>Foi assim que surgiu o Método ARENAS</a:t>
            </a:r>
          </a:p>
        </p:txBody>
      </p:sp>
      <p:sp>
        <p:nvSpPr>
          <p:cNvPr id="108" name="TextBox 107"/>
          <p:cNvSpPr txBox="1">
            <a:spLocks/>
          </p:cNvSpPr>
          <p:nvPr/>
        </p:nvSpPr>
        <p:spPr>
          <a:xfrm>
            <a:off x="658368" y="4206240"/>
            <a:ext cx="1086307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pt-BR" sz="2400" b="1">
                <a:solidFill>
                  <a:srgbClr val="FF5A1F"/>
                </a:solidFill>
                <a:latin typeface="Aptos Display"/>
              </a:rPr>
              <a:t>Problema prático   ›   Teoria   ›   Pesquisa   ›   Método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04672"/>
            <a:ext cx="10863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pt-BR" sz="2600" b="1" dirty="0">
                <a:solidFill>
                  <a:srgbClr val="0A225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CIDADÃO - BENEFÍCIO</a:t>
            </a:r>
          </a:p>
        </p:txBody>
      </p:sp>
      <p:sp>
        <p:nvSpPr>
          <p:cNvPr id="3" name="Shape 1"/>
          <p:cNvSpPr/>
          <p:nvPr/>
        </p:nvSpPr>
        <p:spPr>
          <a:xfrm>
            <a:off x="658368" y="1536192"/>
            <a:ext cx="822960" cy="0"/>
          </a:xfrm>
          <a:prstGeom prst="line">
            <a:avLst/>
          </a:prstGeom>
          <a:noFill/>
          <a:ln w="4445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35A0857D-7EDC-DFF6-3CFE-A70D6D0695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77" t="22570" r="577" b="16329"/>
          <a:stretch>
            <a:fillRect/>
          </a:stretch>
        </p:blipFill>
        <p:spPr>
          <a:xfrm>
            <a:off x="199282" y="5178555"/>
            <a:ext cx="2564091" cy="1566665"/>
          </a:xfrm>
          <a:prstGeom prst="rect">
            <a:avLst/>
          </a:prstGeom>
        </p:spPr>
      </p:pic>
      <p:sp>
        <p:nvSpPr>
          <p:cNvPr id="101" name="Definição 101"/>
          <p:cNvSpPr/>
          <p:nvPr/>
        </p:nvSpPr>
        <p:spPr>
          <a:xfrm>
            <a:off x="658368" y="1783080"/>
            <a:ext cx="10863072" cy="1234440"/>
          </a:xfrm>
          <a:prstGeom prst="roundRect">
            <a:avLst>
              <a:gd name="adj" fmla="val 5000"/>
            </a:avLst>
          </a:prstGeom>
          <a:solidFill>
            <a:srgbClr val="FFF3ED"/>
          </a:solidFill>
          <a:ln w="12700">
            <a:solidFill>
              <a:srgbClr val="FFD1BE"/>
            </a:solidFill>
          </a:ln>
        </p:spPr>
        <p:txBody>
          <a:bodyPr wrap="square" lIns="320040" tIns="320040" rIns="320040" bIns="320040" rtlCol="0" anchor="ctr">
            <a:normAutofit fontScale="77500" lnSpcReduction="20000"/>
          </a:bodyPr>
          <a:lstStyle/>
          <a:p>
            <a:pPr marL="0" indent="0" algn="l">
              <a:lnSpc>
                <a:spcPct val="114999"/>
              </a:lnSpc>
              <a:buNone/>
            </a:pPr>
            <a:r>
              <a:rPr lang="pt-BR" sz="2300">
                <a:solidFill>
                  <a:srgbClr val="0A2252"/>
                </a:solidFill>
              </a:rPr>
              <a:t>Aplicativo, documento, fila, conversa com um servidor, decisão.</a:t>
            </a:r>
          </a:p>
          <a:p>
            <a:pPr marL="0" indent="0" algn="l">
              <a:lnSpc>
                <a:spcPct val="114999"/>
              </a:lnSpc>
              <a:buNone/>
            </a:pPr>
            <a:r>
              <a:rPr lang="pt-BR" sz="2300">
                <a:solidFill>
                  <a:srgbClr val="0A2252"/>
                </a:solidFill>
              </a:rPr>
              <a:t>Eu chamo esse conjunto de arena de implementação.</a:t>
            </a:r>
          </a:p>
        </p:txBody>
      </p:sp>
      <p:sp>
        <p:nvSpPr>
          <p:cNvPr id="102" name="Texto 102"/>
          <p:cNvSpPr txBox="1"/>
          <p:nvPr/>
        </p:nvSpPr>
        <p:spPr>
          <a:xfrm>
            <a:off x="658368" y="3291840"/>
            <a:ext cx="10863072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pt-BR" sz="2300" b="1">
                <a:solidFill>
                  <a:srgbClr val="26364F"/>
                </a:solidFill>
              </a:rPr>
              <a:t>Arena = pessoas + regras + espaços + tecnologias + práticas</a:t>
            </a:r>
          </a:p>
        </p:txBody>
      </p:sp>
      <p:sp>
        <p:nvSpPr>
          <p:cNvPr id="103" name="Roteiro 103"/>
          <p:cNvSpPr/>
          <p:nvPr/>
        </p:nvSpPr>
        <p:spPr>
          <a:xfrm>
            <a:off x="7269480" y="5230368"/>
            <a:ext cx="425196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D1BE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171450" indent="-171450" algn="l">
              <a:spcAft>
                <a:spcPts val="150"/>
              </a:spcAft>
              <a:buFont typeface="Arial"/>
              <a:buChar char="•"/>
            </a:pPr>
            <a:r>
              <a:rPr lang="pt-BR" sz="1050" dirty="0">
                <a:solidFill>
                  <a:srgbClr val="26364F"/>
                </a:solidFill>
              </a:rPr>
              <a:t>Sociomaterialidade nas organizações (Orlikowski, 2007)</a:t>
            </a:r>
          </a:p>
          <a:p>
            <a:pPr marL="171450" indent="-171450" algn="l">
              <a:spcAft>
                <a:spcPts val="150"/>
              </a:spcAft>
              <a:buFont typeface="Arial"/>
              <a:buChar char="•"/>
            </a:pPr>
            <a:r>
              <a:rPr lang="pt-BR" sz="1050" dirty="0">
                <a:solidFill>
                  <a:srgbClr val="26364F"/>
                </a:solidFill>
              </a:rPr>
              <a:t>Imbricação entre humano e material (Leonardi, 2011)</a:t>
            </a:r>
          </a:p>
          <a:p>
            <a:pPr marL="171450" indent="-171450" algn="l">
              <a:spcAft>
                <a:spcPts val="150"/>
              </a:spcAft>
              <a:buFont typeface="Arial"/>
              <a:buChar char="•"/>
            </a:pPr>
            <a:r>
              <a:rPr lang="pt-BR" sz="1050" dirty="0">
                <a:solidFill>
                  <a:srgbClr val="26364F"/>
                </a:solidFill>
              </a:rPr>
              <a:t>Como delimitar uma arena: política e ponto de contato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4160520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0A2252"/>
                </a:solidFill>
                <a:latin typeface="Aptos Display"/>
              </a:rPr>
              <a:t>Quem participa?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0A2252"/>
                </a:solidFill>
                <a:latin typeface="Aptos Display"/>
              </a:rPr>
              <a:t>Que regras orientam?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315968" y="4160520"/>
            <a:ext cx="3657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0A2252"/>
                </a:solidFill>
                <a:latin typeface="Aptos Display"/>
              </a:rPr>
              <a:t>Que espaços e artefatos existem?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0A2252"/>
                </a:solidFill>
                <a:latin typeface="Aptos Display"/>
              </a:rPr>
              <a:t>Que tecnologias são usadas?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321040" y="4160520"/>
            <a:ext cx="31546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0A2252"/>
                </a:solidFill>
                <a:latin typeface="Aptos Display"/>
              </a:rPr>
              <a:t>O que as pessoas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0A2252"/>
                </a:solidFill>
                <a:latin typeface="Aptos Display"/>
              </a:rPr>
              <a:t>realmente fazem?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04672"/>
            <a:ext cx="10863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pt-BR" sz="2600" b="1">
                <a:solidFill>
                  <a:srgbClr val="0A225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UM PROTOCOLO SIMPLES PARA INVESTIGAR A IMPLEMENTAÇÃO</a:t>
            </a:r>
          </a:p>
        </p:txBody>
      </p:sp>
      <p:sp>
        <p:nvSpPr>
          <p:cNvPr id="3" name="Shape 1"/>
          <p:cNvSpPr/>
          <p:nvPr/>
        </p:nvSpPr>
        <p:spPr>
          <a:xfrm>
            <a:off x="658368" y="1536192"/>
            <a:ext cx="822960" cy="0"/>
          </a:xfrm>
          <a:prstGeom prst="line">
            <a:avLst/>
          </a:prstGeom>
          <a:noFill/>
          <a:ln w="4445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35A0857D-7EDC-DFF6-3CFE-A70D6D0695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77" t="22570" r="577" b="16329"/>
          <a:stretch>
            <a:fillRect/>
          </a:stretch>
        </p:blipFill>
        <p:spPr>
          <a:xfrm>
            <a:off x="199282" y="5178555"/>
            <a:ext cx="2564091" cy="1566665"/>
          </a:xfrm>
          <a:prstGeom prst="rect">
            <a:avLst/>
          </a:prstGeom>
        </p:spPr>
      </p:pic>
      <p:sp>
        <p:nvSpPr>
          <p:cNvPr id="101" name="Lente 101"/>
          <p:cNvSpPr/>
          <p:nvPr/>
        </p:nvSpPr>
        <p:spPr>
          <a:xfrm>
            <a:off x="658368" y="3675887"/>
            <a:ext cx="3499408" cy="5852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2DA"/>
            </a:solidFill>
          </a:ln>
        </p:spPr>
        <p:txBody>
          <a:bodyPr wrap="square" lIns="182880" tIns="182880" rIns="182880" bIns="182880" rtlCol="0" anchor="ctr">
            <a:normAutofit fontScale="55000" lnSpcReduction="20000"/>
          </a:bodyPr>
          <a:lstStyle/>
          <a:p>
            <a:pPr marL="0" indent="0" algn="l">
              <a:buNone/>
            </a:pPr>
            <a:r>
              <a:rPr lang="pt-BR" sz="2600" b="1" dirty="0">
                <a:solidFill>
                  <a:srgbClr val="FF5A1F"/>
                </a:solidFill>
                <a:latin typeface="Aptos Display"/>
                <a:ea typeface="Aptos Display"/>
                <a:cs typeface="Aptos Display"/>
              </a:rPr>
              <a:t>A   </a:t>
            </a:r>
            <a:r>
              <a:rPr lang="pt-BR" sz="1600" b="1" dirty="0">
                <a:solidFill>
                  <a:srgbClr val="0A2252"/>
                </a:solidFill>
              </a:rPr>
              <a:t>Arranjo espacial</a:t>
            </a:r>
          </a:p>
        </p:txBody>
      </p:sp>
      <p:sp>
        <p:nvSpPr>
          <p:cNvPr id="102" name="Lente 102"/>
          <p:cNvSpPr/>
          <p:nvPr/>
        </p:nvSpPr>
        <p:spPr>
          <a:xfrm>
            <a:off x="4338828" y="3675887"/>
            <a:ext cx="3499408" cy="5852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2DA"/>
            </a:solidFill>
          </a:ln>
        </p:spPr>
        <p:txBody>
          <a:bodyPr wrap="square" lIns="182880" tIns="182880" rIns="182880" bIns="182880" rtlCol="0" anchor="ctr">
            <a:normAutofit fontScale="55000" lnSpcReduction="20000"/>
          </a:bodyPr>
          <a:lstStyle/>
          <a:p>
            <a:pPr marL="0" indent="0" algn="l">
              <a:buNone/>
            </a:pPr>
            <a:r>
              <a:rPr lang="pt-BR" sz="2600" b="1" dirty="0">
                <a:solidFill>
                  <a:srgbClr val="FF5A1F"/>
                </a:solidFill>
                <a:latin typeface="Aptos Display"/>
                <a:ea typeface="Aptos Display"/>
                <a:cs typeface="Aptos Display"/>
              </a:rPr>
              <a:t>R   </a:t>
            </a:r>
            <a:r>
              <a:rPr lang="pt-BR" sz="1600" b="1" dirty="0">
                <a:solidFill>
                  <a:srgbClr val="0A2252"/>
                </a:solidFill>
              </a:rPr>
              <a:t>Rotinas de trabalho</a:t>
            </a:r>
          </a:p>
        </p:txBody>
      </p:sp>
      <p:sp>
        <p:nvSpPr>
          <p:cNvPr id="103" name="Lente 103"/>
          <p:cNvSpPr/>
          <p:nvPr/>
        </p:nvSpPr>
        <p:spPr>
          <a:xfrm>
            <a:off x="8019288" y="3675887"/>
            <a:ext cx="3499408" cy="5852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2DA"/>
            </a:solidFill>
          </a:ln>
        </p:spPr>
        <p:txBody>
          <a:bodyPr wrap="square" lIns="182880" tIns="182880" rIns="182880" bIns="182880" rtlCol="0" anchor="ctr">
            <a:normAutofit fontScale="55000" lnSpcReduction="20000"/>
          </a:bodyPr>
          <a:lstStyle/>
          <a:p>
            <a:pPr marL="0" indent="0" algn="l">
              <a:buNone/>
            </a:pPr>
            <a:r>
              <a:rPr lang="pt-BR" sz="2600" b="1" dirty="0">
                <a:solidFill>
                  <a:srgbClr val="FF5A1F"/>
                </a:solidFill>
                <a:latin typeface="Aptos Display"/>
                <a:ea typeface="Aptos Display"/>
                <a:cs typeface="Aptos Display"/>
              </a:rPr>
              <a:t>E   </a:t>
            </a:r>
            <a:r>
              <a:rPr lang="pt-BR" sz="1600" b="1" dirty="0">
                <a:solidFill>
                  <a:srgbClr val="0A2252"/>
                </a:solidFill>
              </a:rPr>
              <a:t>Experiência</a:t>
            </a:r>
          </a:p>
        </p:txBody>
      </p:sp>
      <p:sp>
        <p:nvSpPr>
          <p:cNvPr id="104" name="Lente 104"/>
          <p:cNvSpPr/>
          <p:nvPr/>
        </p:nvSpPr>
        <p:spPr>
          <a:xfrm>
            <a:off x="658368" y="4370831"/>
            <a:ext cx="3499408" cy="5852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2DA"/>
            </a:solidFill>
          </a:ln>
        </p:spPr>
        <p:txBody>
          <a:bodyPr wrap="square" lIns="182880" tIns="182880" rIns="182880" bIns="182880" rtlCol="0" anchor="ctr">
            <a:normAutofit fontScale="55000" lnSpcReduction="20000"/>
          </a:bodyPr>
          <a:lstStyle/>
          <a:p>
            <a:pPr marL="0" indent="0" algn="l">
              <a:buNone/>
            </a:pPr>
            <a:r>
              <a:rPr lang="pt-BR" sz="2600" b="1" dirty="0">
                <a:solidFill>
                  <a:srgbClr val="FF5A1F"/>
                </a:solidFill>
                <a:latin typeface="Aptos Display"/>
                <a:ea typeface="Aptos Display"/>
                <a:cs typeface="Aptos Display"/>
              </a:rPr>
              <a:t>N   </a:t>
            </a:r>
            <a:r>
              <a:rPr lang="pt-BR" sz="1600" b="1" dirty="0">
                <a:solidFill>
                  <a:srgbClr val="0A2252"/>
                </a:solidFill>
              </a:rPr>
              <a:t>Navegabilidade</a:t>
            </a:r>
          </a:p>
        </p:txBody>
      </p:sp>
      <p:sp>
        <p:nvSpPr>
          <p:cNvPr id="105" name="Lente 105"/>
          <p:cNvSpPr/>
          <p:nvPr/>
        </p:nvSpPr>
        <p:spPr>
          <a:xfrm>
            <a:off x="4338828" y="4370831"/>
            <a:ext cx="3499408" cy="5852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2DA"/>
            </a:solidFill>
          </a:ln>
        </p:spPr>
        <p:txBody>
          <a:bodyPr wrap="square" lIns="182880" tIns="182880" rIns="182880" bIns="182880" rtlCol="0" anchor="ctr">
            <a:normAutofit fontScale="55000" lnSpcReduction="20000"/>
          </a:bodyPr>
          <a:lstStyle/>
          <a:p>
            <a:pPr marL="0" indent="0" algn="l">
              <a:buNone/>
            </a:pPr>
            <a:r>
              <a:rPr lang="pt-BR" sz="2600" b="1" dirty="0">
                <a:solidFill>
                  <a:srgbClr val="FF5A1F"/>
                </a:solidFill>
                <a:latin typeface="Aptos Display"/>
                <a:ea typeface="Aptos Display"/>
                <a:cs typeface="Aptos Display"/>
              </a:rPr>
              <a:t>A   </a:t>
            </a:r>
            <a:r>
              <a:rPr lang="pt-BR" sz="1600" b="1" dirty="0">
                <a:solidFill>
                  <a:srgbClr val="0A2252"/>
                </a:solidFill>
              </a:rPr>
              <a:t>Aprendizagem</a:t>
            </a:r>
          </a:p>
        </p:txBody>
      </p:sp>
      <p:sp>
        <p:nvSpPr>
          <p:cNvPr id="106" name="Lente 106"/>
          <p:cNvSpPr/>
          <p:nvPr/>
        </p:nvSpPr>
        <p:spPr>
          <a:xfrm>
            <a:off x="8019288" y="4370831"/>
            <a:ext cx="3499408" cy="585216"/>
          </a:xfrm>
          <a:prstGeom prst="roundRect">
            <a:avLst>
              <a:gd name="adj" fmla="val 10000"/>
            </a:avLst>
          </a:prstGeom>
          <a:solidFill>
            <a:srgbClr val="0A2252"/>
          </a:solidFill>
          <a:ln>
            <a:noFill/>
          </a:ln>
        </p:spPr>
        <p:txBody>
          <a:bodyPr wrap="square" lIns="182880" tIns="182880" rIns="182880" bIns="182880" rtlCol="0" anchor="ctr">
            <a:normAutofit fontScale="55000" lnSpcReduction="20000"/>
          </a:bodyPr>
          <a:lstStyle/>
          <a:p>
            <a:pPr marL="0" indent="0" algn="l">
              <a:buNone/>
            </a:pPr>
            <a:r>
              <a:rPr lang="pt-BR" sz="2600" b="1" dirty="0">
                <a:solidFill>
                  <a:srgbClr val="FF5A1F"/>
                </a:solidFill>
                <a:latin typeface="Aptos Display"/>
                <a:ea typeface="Aptos Display"/>
                <a:cs typeface="Aptos Display"/>
              </a:rPr>
              <a:t>S   </a:t>
            </a:r>
            <a:r>
              <a:rPr lang="pt-BR" sz="1600" b="1" dirty="0">
                <a:solidFill>
                  <a:srgbClr val="FFFFFF"/>
                </a:solidFill>
              </a:rPr>
              <a:t>Sociomaterialidade</a:t>
            </a:r>
          </a:p>
        </p:txBody>
      </p:sp>
      <p:sp>
        <p:nvSpPr>
          <p:cNvPr id="107" name="Etiqueta 107"/>
          <p:cNvSpPr/>
          <p:nvPr/>
        </p:nvSpPr>
        <p:spPr>
          <a:xfrm>
            <a:off x="658368" y="1783080"/>
            <a:ext cx="3499408" cy="676656"/>
          </a:xfrm>
          <a:prstGeom prst="roundRect">
            <a:avLst>
              <a:gd name="adj" fmla="val 50000"/>
            </a:avLst>
          </a:prstGeom>
          <a:solidFill>
            <a:srgbClr val="0A2252"/>
          </a:solidFill>
          <a:ln>
            <a:noFill/>
          </a:ln>
        </p:spPr>
        <p:txBody>
          <a:bodyPr wrap="square" tIns="91440" bIns="91440" rtlCol="0" anchor="ctr">
            <a:noAutofit/>
          </a:bodyPr>
          <a:lstStyle/>
          <a:p>
            <a:pPr marL="0" indent="0" algn="ctr">
              <a:buNone/>
            </a:pPr>
            <a:r>
              <a:rPr lang="pt-BR" sz="2300" b="1">
                <a:solidFill>
                  <a:srgbClr val="FFFFFF"/>
                </a:solidFill>
              </a:rPr>
              <a:t>1  Observar</a:t>
            </a:r>
          </a:p>
        </p:txBody>
      </p:sp>
      <p:sp>
        <p:nvSpPr>
          <p:cNvPr id="109" name="Etiqueta 109"/>
          <p:cNvSpPr/>
          <p:nvPr/>
        </p:nvSpPr>
        <p:spPr>
          <a:xfrm>
            <a:off x="4338828" y="1783080"/>
            <a:ext cx="3499408" cy="676656"/>
          </a:xfrm>
          <a:prstGeom prst="roundRect">
            <a:avLst>
              <a:gd name="adj" fmla="val 50000"/>
            </a:avLst>
          </a:prstGeom>
          <a:solidFill>
            <a:srgbClr val="0A2252"/>
          </a:solidFill>
          <a:ln>
            <a:noFill/>
          </a:ln>
        </p:spPr>
        <p:txBody>
          <a:bodyPr wrap="square" tIns="91440" bIns="91440" rtlCol="0" anchor="ctr">
            <a:noAutofit/>
          </a:bodyPr>
          <a:lstStyle/>
          <a:p>
            <a:pPr marL="0" indent="0" algn="ctr">
              <a:buNone/>
            </a:pPr>
            <a:r>
              <a:rPr lang="pt-BR" sz="2300" b="1">
                <a:solidFill>
                  <a:srgbClr val="FFFFFF"/>
                </a:solidFill>
              </a:rPr>
              <a:t>2  Diagnosticar</a:t>
            </a:r>
          </a:p>
        </p:txBody>
      </p:sp>
      <p:sp>
        <p:nvSpPr>
          <p:cNvPr id="111" name="Etiqueta 111"/>
          <p:cNvSpPr/>
          <p:nvPr/>
        </p:nvSpPr>
        <p:spPr>
          <a:xfrm>
            <a:off x="8019288" y="1783080"/>
            <a:ext cx="3499408" cy="676656"/>
          </a:xfrm>
          <a:prstGeom prst="roundRect">
            <a:avLst>
              <a:gd name="adj" fmla="val 50000"/>
            </a:avLst>
          </a:prstGeom>
          <a:solidFill>
            <a:srgbClr val="0A2252"/>
          </a:solidFill>
          <a:ln>
            <a:noFill/>
          </a:ln>
        </p:spPr>
        <p:txBody>
          <a:bodyPr wrap="square" tIns="91440" bIns="91440" rtlCol="0" anchor="ctr">
            <a:noAutofit/>
          </a:bodyPr>
          <a:lstStyle/>
          <a:p>
            <a:pPr marL="0" indent="0" algn="ctr">
              <a:buNone/>
            </a:pPr>
            <a:r>
              <a:rPr lang="pt-BR" sz="2300" b="1">
                <a:solidFill>
                  <a:srgbClr val="FFFFFF"/>
                </a:solidFill>
              </a:rPr>
              <a:t>3  Redesenhar</a:t>
            </a:r>
          </a:p>
        </p:txBody>
      </p:sp>
      <p:sp>
        <p:nvSpPr>
          <p:cNvPr id="113" name="Etiqueta 113"/>
          <p:cNvSpPr/>
          <p:nvPr/>
        </p:nvSpPr>
        <p:spPr>
          <a:xfrm>
            <a:off x="658368" y="2642615"/>
            <a:ext cx="3499408" cy="676656"/>
          </a:xfrm>
          <a:prstGeom prst="roundRect">
            <a:avLst>
              <a:gd name="adj" fmla="val 50000"/>
            </a:avLst>
          </a:prstGeom>
          <a:solidFill>
            <a:srgbClr val="0A2252"/>
          </a:solidFill>
          <a:ln>
            <a:noFill/>
          </a:ln>
        </p:spPr>
        <p:txBody>
          <a:bodyPr wrap="square" tIns="91440" bIns="91440" rtlCol="0" anchor="ctr">
            <a:noAutofit/>
          </a:bodyPr>
          <a:lstStyle/>
          <a:p>
            <a:pPr marL="0" indent="0" algn="ctr">
              <a:buNone/>
            </a:pPr>
            <a:r>
              <a:rPr lang="pt-BR" sz="2300" b="1">
                <a:solidFill>
                  <a:srgbClr val="FFFFFF"/>
                </a:solidFill>
              </a:rPr>
              <a:t>4  Testar</a:t>
            </a:r>
          </a:p>
        </p:txBody>
      </p:sp>
      <p:sp>
        <p:nvSpPr>
          <p:cNvPr id="115" name="Etiqueta 115"/>
          <p:cNvSpPr/>
          <p:nvPr/>
        </p:nvSpPr>
        <p:spPr>
          <a:xfrm>
            <a:off x="4338828" y="2642615"/>
            <a:ext cx="3499408" cy="676656"/>
          </a:xfrm>
          <a:prstGeom prst="roundRect">
            <a:avLst>
              <a:gd name="adj" fmla="val 50000"/>
            </a:avLst>
          </a:prstGeom>
          <a:solidFill>
            <a:srgbClr val="0A2252"/>
          </a:solidFill>
          <a:ln>
            <a:noFill/>
          </a:ln>
        </p:spPr>
        <p:txBody>
          <a:bodyPr wrap="square" tIns="91440" bIns="91440" rtlCol="0" anchor="ctr">
            <a:noAutofit/>
          </a:bodyPr>
          <a:lstStyle/>
          <a:p>
            <a:pPr marL="0" indent="0" algn="ctr">
              <a:buNone/>
            </a:pPr>
            <a:r>
              <a:rPr lang="pt-BR" sz="2300" b="1">
                <a:solidFill>
                  <a:srgbClr val="FFFFFF"/>
                </a:solidFill>
              </a:rPr>
              <a:t>5  Avaliar</a:t>
            </a:r>
          </a:p>
        </p:txBody>
      </p:sp>
      <p:sp>
        <p:nvSpPr>
          <p:cNvPr id="117" name="Roteiro 117"/>
          <p:cNvSpPr/>
          <p:nvPr/>
        </p:nvSpPr>
        <p:spPr>
          <a:xfrm>
            <a:off x="7269480" y="5230368"/>
            <a:ext cx="425196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D1BE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171450" indent="-171450" algn="l">
              <a:spcAft>
                <a:spcPts val="150"/>
              </a:spcAft>
            </a:pPr>
            <a:r>
              <a:rPr lang="pt-BR" sz="1050">
                <a:solidFill>
                  <a:srgbClr val="26364F"/>
                </a:solidFill>
              </a:rPr>
              <a:t>Protocolo em desenvolvimento</a:t>
            </a:r>
          </a:p>
          <a:p>
            <a:pPr marL="171450" indent="-171450" algn="l">
              <a:spcAft>
                <a:spcPts val="150"/>
              </a:spcAft>
            </a:pPr>
            <a:r>
              <a:rPr lang="pt-BR" sz="1050" dirty="0">
                <a:solidFill>
                  <a:srgbClr val="26364F"/>
                </a:solidFill>
              </a:rPr>
              <a:t>Ciclo</a:t>
            </a:r>
            <a:r>
              <a:rPr lang="pt-BR" sz="1050">
                <a:solidFill>
                  <a:srgbClr val="26364F"/>
                </a:solidFill>
              </a:rPr>
              <a:t> desdobrado </a:t>
            </a:r>
            <a:r>
              <a:rPr lang="pt-BR" sz="1050" dirty="0">
                <a:solidFill>
                  <a:srgbClr val="26364F"/>
                </a:solidFill>
              </a:rPr>
              <a:t>em </a:t>
            </a:r>
            <a:r>
              <a:rPr lang="pt-BR" sz="1050">
                <a:solidFill>
                  <a:srgbClr val="26364F"/>
                </a:solidFill>
              </a:rPr>
              <a:t>seis ações para esta aula</a:t>
            </a:r>
          </a:p>
          <a:p>
            <a:pPr marL="171450" indent="-171450" algn="l">
              <a:spcAft>
                <a:spcPts val="150"/>
              </a:spcAft>
            </a:pPr>
            <a:r>
              <a:rPr lang="pt-BR" sz="1050">
                <a:solidFill>
                  <a:srgbClr val="26364F"/>
                </a:solidFill>
              </a:rPr>
              <a:t>As proposições e os instrumentos requerem teste empírico</a:t>
            </a:r>
          </a:p>
        </p:txBody>
      </p:sp>
      <p:sp>
        <p:nvSpPr>
          <p:cNvPr id="118" name="Etiqueta 115"/>
          <p:cNvSpPr/>
          <p:nvPr/>
        </p:nvSpPr>
        <p:spPr>
          <a:xfrm>
            <a:off x="8019288" y="2642615"/>
            <a:ext cx="3499408" cy="676656"/>
          </a:xfrm>
          <a:prstGeom prst="roundRect">
            <a:avLst>
              <a:gd name="adj" fmla="val 50000"/>
            </a:avLst>
          </a:prstGeom>
          <a:solidFill>
            <a:srgbClr val="0A2252"/>
          </a:solidFill>
          <a:ln>
            <a:noFill/>
          </a:ln>
        </p:spPr>
        <p:txBody>
          <a:bodyPr wrap="square" tIns="91440" bIns="91440" rtlCol="0" anchor="ctr">
            <a:noAutofit/>
          </a:bodyPr>
          <a:lstStyle/>
          <a:p>
            <a:pPr marL="0" indent="0" algn="ctr">
              <a:buNone/>
            </a:pPr>
            <a:r>
              <a:rPr lang="pt-BR" sz="2300" b="1">
                <a:solidFill>
                  <a:srgbClr val="FFFFFF"/>
                </a:solidFill>
              </a:rPr>
              <a:t>6  Aprender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04672"/>
            <a:ext cx="10863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pt-BR" sz="2600" b="1">
                <a:solidFill>
                  <a:srgbClr val="0A225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 ÓRGÃO REDESENHOU O </a:t>
            </a:r>
            <a:r>
              <a:rPr lang="pt-BR" sz="2600" b="1" dirty="0">
                <a:solidFill>
                  <a:srgbClr val="0A225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ATENDIMENTO</a:t>
            </a:r>
            <a:r>
              <a:rPr lang="pt-BR" sz="2600" b="1">
                <a:solidFill>
                  <a:srgbClr val="0A225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. A FILA CONTINUA.</a:t>
            </a:r>
          </a:p>
        </p:txBody>
      </p:sp>
      <p:sp>
        <p:nvSpPr>
          <p:cNvPr id="3" name="Shape 1"/>
          <p:cNvSpPr/>
          <p:nvPr/>
        </p:nvSpPr>
        <p:spPr>
          <a:xfrm>
            <a:off x="658368" y="1536192"/>
            <a:ext cx="822960" cy="0"/>
          </a:xfrm>
          <a:prstGeom prst="line">
            <a:avLst/>
          </a:prstGeom>
          <a:noFill/>
          <a:ln w="4445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35A0857D-7EDC-DFF6-3CFE-A70D6D0695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77" t="22570" r="577" b="16329"/>
          <a:stretch>
            <a:fillRect/>
          </a:stretch>
        </p:blipFill>
        <p:spPr>
          <a:xfrm>
            <a:off x="199282" y="5178555"/>
            <a:ext cx="2564091" cy="1566665"/>
          </a:xfrm>
          <a:prstGeom prst="rect">
            <a:avLst/>
          </a:prstGeom>
        </p:spPr>
      </p:pic>
      <p:sp>
        <p:nvSpPr>
          <p:cNvPr id="101" name="Caso 101"/>
          <p:cNvSpPr/>
          <p:nvPr/>
        </p:nvSpPr>
        <p:spPr>
          <a:xfrm>
            <a:off x="658368" y="1737360"/>
            <a:ext cx="10863072" cy="960120"/>
          </a:xfrm>
          <a:prstGeom prst="roundRect">
            <a:avLst>
              <a:gd name="adj" fmla="val 10000"/>
            </a:avLst>
          </a:prstGeom>
          <a:solidFill>
            <a:srgbClr val="FFF3ED"/>
          </a:solidFill>
          <a:ln w="12700">
            <a:solidFill>
              <a:srgbClr val="FFD1BE"/>
            </a:solidFill>
          </a:ln>
        </p:spPr>
        <p:txBody>
          <a:bodyPr wrap="square" lIns="228600" tIns="228600" rIns="228600" bIns="228600" rtlCol="0" anchor="ctr">
            <a:normAutofit fontScale="700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pt-BR" sz="2300">
                <a:solidFill>
                  <a:srgbClr val="0A2252"/>
                </a:solidFill>
              </a:rPr>
              <a:t>Caso ilustrativo: três meses após a mudança, a fila continua.</a:t>
            </a:r>
          </a:p>
          <a:p>
            <a:pPr marL="0" indent="0" algn="l">
              <a:lnSpc>
                <a:spcPct val="110000"/>
              </a:lnSpc>
              <a:buNone/>
            </a:pPr>
            <a:r>
              <a:rPr lang="pt-BR" sz="2300">
                <a:solidFill>
                  <a:srgbClr val="0A2252"/>
                </a:solidFill>
              </a:rPr>
              <a:t>Qual é a primeira hipótese de vocês?</a:t>
            </a:r>
          </a:p>
        </p:txBody>
      </p:sp>
      <p:sp>
        <p:nvSpPr>
          <p:cNvPr id="102" name="Cartão 102"/>
          <p:cNvSpPr/>
          <p:nvPr/>
        </p:nvSpPr>
        <p:spPr>
          <a:xfrm>
            <a:off x="658368" y="2926080"/>
            <a:ext cx="3499408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2DA"/>
            </a:solidFill>
          </a:ln>
          <a:effectLst>
            <a:outerShdw blurRad="76200" dist="19050" dir="5400000" algn="t" rotWithShape="0">
              <a:srgbClr val="0A2252">
                <a:alpha val="12000"/>
              </a:srgbClr>
            </a:outerShdw>
          </a:effectLst>
        </p:spPr>
        <p:txBody>
          <a:bodyPr wrap="square" lIns="146304" tIns="91440" rIns="146304" bIns="91440" rtlCol="0" anchor="t">
            <a:normAutofit/>
          </a:bodyPr>
          <a:lstStyle/>
          <a:p>
            <a:pPr marL="0" indent="0" algn="l">
              <a:lnSpc>
                <a:spcPct val="100000"/>
              </a:lnSpc>
              <a:spcAft>
                <a:spcPts val="500"/>
              </a:spcAft>
              <a:buNone/>
            </a:pPr>
            <a:r>
              <a:rPr lang="pt-BR" sz="1800" b="1">
                <a:solidFill>
                  <a:srgbClr val="0A2252"/>
                </a:solidFill>
                <a:latin typeface="Aptos Display"/>
                <a:ea typeface="Aptos Display"/>
                <a:cs typeface="Aptos Display"/>
              </a:rPr>
              <a:t>Espaço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pt-BR" sz="1800">
                <a:solidFill>
                  <a:srgbClr val="26364F"/>
                </a:solidFill>
              </a:rPr>
              <a:t>A distribuição mudou?</a:t>
            </a:r>
          </a:p>
        </p:txBody>
      </p:sp>
      <p:sp>
        <p:nvSpPr>
          <p:cNvPr id="103" name="Cartão 103"/>
          <p:cNvSpPr/>
          <p:nvPr/>
        </p:nvSpPr>
        <p:spPr>
          <a:xfrm>
            <a:off x="4338828" y="2926080"/>
            <a:ext cx="3499408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2DA"/>
            </a:solidFill>
          </a:ln>
          <a:effectLst>
            <a:outerShdw blurRad="76200" dist="19050" dir="5400000" algn="t" rotWithShape="0">
              <a:srgbClr val="0A2252">
                <a:alpha val="12000"/>
              </a:srgbClr>
            </a:outerShdw>
          </a:effectLst>
        </p:spPr>
        <p:txBody>
          <a:bodyPr wrap="square" lIns="146304" tIns="91440" rIns="146304" bIns="91440" rtlCol="0" anchor="t">
            <a:normAutofit/>
          </a:bodyPr>
          <a:lstStyle/>
          <a:p>
            <a:pPr marL="0" indent="0" algn="l">
              <a:lnSpc>
                <a:spcPct val="100000"/>
              </a:lnSpc>
              <a:spcAft>
                <a:spcPts val="500"/>
              </a:spcAft>
              <a:buNone/>
            </a:pPr>
            <a:r>
              <a:rPr lang="pt-BR" sz="1800" b="1">
                <a:solidFill>
                  <a:srgbClr val="0A2252"/>
                </a:solidFill>
                <a:latin typeface="Aptos Display"/>
                <a:ea typeface="Aptos Display"/>
                <a:cs typeface="Aptos Display"/>
              </a:rPr>
              <a:t>Rotina real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pt-BR" sz="1800">
                <a:solidFill>
                  <a:srgbClr val="26364F"/>
                </a:solidFill>
              </a:rPr>
              <a:t>O trabalho mudou?</a:t>
            </a:r>
          </a:p>
        </p:txBody>
      </p:sp>
      <p:sp>
        <p:nvSpPr>
          <p:cNvPr id="104" name="Cartão 104"/>
          <p:cNvSpPr/>
          <p:nvPr/>
        </p:nvSpPr>
        <p:spPr>
          <a:xfrm>
            <a:off x="8019288" y="2926080"/>
            <a:ext cx="3499408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2DA"/>
            </a:solidFill>
          </a:ln>
          <a:effectLst>
            <a:outerShdw blurRad="76200" dist="19050" dir="5400000" algn="t" rotWithShape="0">
              <a:srgbClr val="0A2252">
                <a:alpha val="12000"/>
              </a:srgbClr>
            </a:outerShdw>
          </a:effectLst>
        </p:spPr>
        <p:txBody>
          <a:bodyPr wrap="square" lIns="146304" tIns="91440" rIns="146304" bIns="91440" rtlCol="0" anchor="t">
            <a:normAutofit/>
          </a:bodyPr>
          <a:lstStyle/>
          <a:p>
            <a:pPr marL="0" indent="0" algn="l">
              <a:lnSpc>
                <a:spcPct val="100000"/>
              </a:lnSpc>
              <a:spcAft>
                <a:spcPts val="500"/>
              </a:spcAft>
              <a:buNone/>
            </a:pPr>
            <a:r>
              <a:rPr lang="pt-BR" sz="1800" b="1">
                <a:solidFill>
                  <a:srgbClr val="0A2252"/>
                </a:solidFill>
                <a:latin typeface="Aptos Display"/>
                <a:ea typeface="Aptos Display"/>
                <a:cs typeface="Aptos Display"/>
              </a:rPr>
              <a:t>Sistema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pt-BR" sz="1800">
                <a:solidFill>
                  <a:srgbClr val="26364F"/>
                </a:solidFill>
              </a:rPr>
              <a:t>A tecnologia mudou?</a:t>
            </a:r>
          </a:p>
        </p:txBody>
      </p:sp>
      <p:sp>
        <p:nvSpPr>
          <p:cNvPr id="105" name="Cartão 105"/>
          <p:cNvSpPr/>
          <p:nvPr/>
        </p:nvSpPr>
        <p:spPr>
          <a:xfrm>
            <a:off x="658368" y="3931920"/>
            <a:ext cx="3499408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2DA"/>
            </a:solidFill>
          </a:ln>
          <a:effectLst>
            <a:outerShdw blurRad="76200" dist="19050" dir="5400000" algn="t" rotWithShape="0">
              <a:srgbClr val="0A2252">
                <a:alpha val="12000"/>
              </a:srgbClr>
            </a:outerShdw>
          </a:effectLst>
        </p:spPr>
        <p:txBody>
          <a:bodyPr wrap="square" lIns="146304" tIns="91440" rIns="146304" bIns="91440" rtlCol="0" anchor="t">
            <a:normAutofit/>
          </a:bodyPr>
          <a:lstStyle/>
          <a:p>
            <a:pPr marL="0" indent="0" algn="l">
              <a:lnSpc>
                <a:spcPct val="100000"/>
              </a:lnSpc>
              <a:spcAft>
                <a:spcPts val="500"/>
              </a:spcAft>
              <a:buNone/>
            </a:pPr>
            <a:r>
              <a:rPr lang="pt-BR" sz="1800" b="1">
                <a:solidFill>
                  <a:srgbClr val="0A2252"/>
                </a:solidFill>
                <a:latin typeface="Aptos Display"/>
                <a:ea typeface="Aptos Display"/>
                <a:cs typeface="Aptos Display"/>
              </a:rPr>
              <a:t>Usuários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pt-BR" sz="1800">
                <a:solidFill>
                  <a:srgbClr val="26364F"/>
                </a:solidFill>
              </a:rPr>
              <a:t>Compreenderam?</a:t>
            </a:r>
          </a:p>
        </p:txBody>
      </p:sp>
      <p:sp>
        <p:nvSpPr>
          <p:cNvPr id="106" name="Cartão 106"/>
          <p:cNvSpPr/>
          <p:nvPr/>
        </p:nvSpPr>
        <p:spPr>
          <a:xfrm>
            <a:off x="4338828" y="3931920"/>
            <a:ext cx="3499408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2DA"/>
            </a:solidFill>
          </a:ln>
          <a:effectLst>
            <a:outerShdw blurRad="76200" dist="19050" dir="5400000" algn="t" rotWithShape="0">
              <a:srgbClr val="0A2252">
                <a:alpha val="12000"/>
              </a:srgbClr>
            </a:outerShdw>
          </a:effectLst>
        </p:spPr>
        <p:txBody>
          <a:bodyPr wrap="square" lIns="146304" tIns="91440" rIns="146304" bIns="91440" rtlCol="0" anchor="t">
            <a:normAutofit/>
          </a:bodyPr>
          <a:lstStyle/>
          <a:p>
            <a:pPr marL="0" indent="0" algn="l">
              <a:lnSpc>
                <a:spcPct val="100000"/>
              </a:lnSpc>
              <a:spcAft>
                <a:spcPts val="500"/>
              </a:spcAft>
              <a:buNone/>
            </a:pPr>
            <a:r>
              <a:rPr lang="pt-BR" sz="1800" b="1">
                <a:solidFill>
                  <a:srgbClr val="0A2252"/>
                </a:solidFill>
                <a:latin typeface="Aptos Display"/>
                <a:ea typeface="Aptos Display"/>
                <a:cs typeface="Aptos Display"/>
              </a:rPr>
              <a:t>Equipes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pt-BR" sz="1800">
                <a:solidFill>
                  <a:srgbClr val="26364F"/>
                </a:solidFill>
              </a:rPr>
              <a:t>Compreenderam?</a:t>
            </a:r>
          </a:p>
        </p:txBody>
      </p:sp>
      <p:sp>
        <p:nvSpPr>
          <p:cNvPr id="107" name="Roteiro 107"/>
          <p:cNvSpPr/>
          <p:nvPr/>
        </p:nvSpPr>
        <p:spPr>
          <a:xfrm>
            <a:off x="7269480" y="5230368"/>
            <a:ext cx="425196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D1BE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171450" indent="-171450" algn="l">
              <a:spcAft>
                <a:spcPts val="150"/>
              </a:spcAft>
            </a:pPr>
            <a:r>
              <a:rPr lang="pt-BR" sz="1050">
                <a:solidFill>
                  <a:srgbClr val="26364F"/>
                </a:solidFill>
              </a:rPr>
              <a:t>Primeiro, hipóteses. Depois, evidências.</a:t>
            </a:r>
          </a:p>
          <a:p>
            <a:pPr marL="171450" indent="-171450" algn="l">
              <a:spcAft>
                <a:spcPts val="150"/>
              </a:spcAft>
            </a:pPr>
            <a:r>
              <a:rPr lang="pt-BR" sz="1050">
                <a:solidFill>
                  <a:srgbClr val="26364F"/>
                </a:solidFill>
              </a:rPr>
              <a:t>Onde há fricção </a:t>
            </a:r>
            <a:r>
              <a:rPr lang="pt-BR" sz="1050" dirty="0">
                <a:solidFill>
                  <a:srgbClr val="26364F"/>
                </a:solidFill>
              </a:rPr>
              <a:t>e </a:t>
            </a:r>
            <a:r>
              <a:rPr lang="pt-BR" sz="1050">
                <a:solidFill>
                  <a:srgbClr val="26364F"/>
                </a:solidFill>
              </a:rPr>
              <a:t>quem pode corrigi-la?</a:t>
            </a:r>
          </a:p>
          <a:p>
            <a:pPr marL="171450" indent="-171450" algn="l">
              <a:spcAft>
                <a:spcPts val="150"/>
              </a:spcAft>
            </a:pPr>
            <a:r>
              <a:rPr lang="pt-BR" sz="1050" dirty="0">
                <a:solidFill>
                  <a:srgbClr val="26364F"/>
                </a:solidFill>
              </a:rPr>
              <a:t>Briner</a:t>
            </a:r>
            <a:r>
              <a:rPr lang="pt-BR" sz="1050">
                <a:solidFill>
                  <a:srgbClr val="26364F"/>
                </a:solidFill>
              </a:rPr>
              <a:t>, </a:t>
            </a:r>
            <a:r>
              <a:rPr lang="pt-BR" sz="1050" dirty="0">
                <a:solidFill>
                  <a:srgbClr val="26364F"/>
                </a:solidFill>
              </a:rPr>
              <a:t>Denyer</a:t>
            </a:r>
            <a:r>
              <a:rPr lang="pt-BR" sz="1050">
                <a:solidFill>
                  <a:srgbClr val="26364F"/>
                </a:solidFill>
              </a:rPr>
              <a:t> e </a:t>
            </a:r>
            <a:r>
              <a:rPr lang="pt-BR" sz="1050" dirty="0">
                <a:solidFill>
                  <a:srgbClr val="26364F"/>
                </a:solidFill>
              </a:rPr>
              <a:t>Rousseau</a:t>
            </a:r>
            <a:r>
              <a:rPr lang="pt-BR" sz="1050">
                <a:solidFill>
                  <a:srgbClr val="26364F"/>
                </a:solidFill>
              </a:rPr>
              <a:t> (</a:t>
            </a:r>
            <a:r>
              <a:rPr lang="pt-BR" sz="1050" dirty="0">
                <a:solidFill>
                  <a:srgbClr val="26364F"/>
                </a:solidFill>
              </a:rPr>
              <a:t>2009)</a:t>
            </a:r>
            <a:endParaRPr lang="pt-BR" sz="1050">
              <a:solidFill>
                <a:srgbClr val="26364F"/>
              </a:solidFill>
            </a:endParaRPr>
          </a:p>
        </p:txBody>
      </p:sp>
      <p:sp>
        <p:nvSpPr>
          <p:cNvPr id="108" name="Cartão 106"/>
          <p:cNvSpPr/>
          <p:nvPr/>
        </p:nvSpPr>
        <p:spPr>
          <a:xfrm>
            <a:off x="8019288" y="3931920"/>
            <a:ext cx="3499408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2DA"/>
            </a:solidFill>
          </a:ln>
          <a:effectLst>
            <a:outerShdw blurRad="76200" dist="19050" dir="5400000" algn="t" rotWithShape="0">
              <a:srgbClr val="0A2252">
                <a:alpha val="12000"/>
              </a:srgbClr>
            </a:outerShdw>
          </a:effectLst>
        </p:spPr>
        <p:txBody>
          <a:bodyPr wrap="square" lIns="146304" tIns="91440" rIns="146304" bIns="91440" rtlCol="0" anchor="t">
            <a:normAutofit/>
          </a:bodyPr>
          <a:lstStyle/>
          <a:p>
            <a:pPr marL="0" indent="0" algn="l">
              <a:lnSpc>
                <a:spcPct val="100000"/>
              </a:lnSpc>
              <a:spcAft>
                <a:spcPts val="500"/>
              </a:spcAft>
              <a:buNone/>
            </a:pPr>
            <a:r>
              <a:rPr lang="pt-BR" sz="1800" b="1">
                <a:solidFill>
                  <a:srgbClr val="0A2252"/>
                </a:solidFill>
                <a:latin typeface="Aptos Display"/>
                <a:ea typeface="Aptos Display"/>
                <a:cs typeface="Aptos Display"/>
              </a:rPr>
              <a:t>Erros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pt-BR" sz="1800">
                <a:solidFill>
                  <a:srgbClr val="26364F"/>
                </a:solidFill>
              </a:rPr>
              <a:t>Há registro e retorno?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04672"/>
            <a:ext cx="10863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pt-BR" sz="2600" b="1" dirty="0">
                <a:solidFill>
                  <a:srgbClr val="0A225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COMO </a:t>
            </a:r>
            <a:r>
              <a:rPr lang="pt-BR" sz="2600" b="1">
                <a:solidFill>
                  <a:srgbClr val="0A225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TRANSFORMAR UM PROBLEMA DE GESTÃO EM PESQUISA?</a:t>
            </a:r>
          </a:p>
        </p:txBody>
      </p:sp>
      <p:sp>
        <p:nvSpPr>
          <p:cNvPr id="3" name="Shape 1"/>
          <p:cNvSpPr/>
          <p:nvPr/>
        </p:nvSpPr>
        <p:spPr>
          <a:xfrm>
            <a:off x="658368" y="1536192"/>
            <a:ext cx="822960" cy="0"/>
          </a:xfrm>
          <a:prstGeom prst="line">
            <a:avLst/>
          </a:prstGeom>
          <a:noFill/>
          <a:ln w="4445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35A0857D-7EDC-DFF6-3CFE-A70D6D0695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77" t="22570" r="577" b="16329"/>
          <a:stretch>
            <a:fillRect/>
          </a:stretch>
        </p:blipFill>
        <p:spPr>
          <a:xfrm>
            <a:off x="199282" y="5178555"/>
            <a:ext cx="2564091" cy="1566665"/>
          </a:xfrm>
          <a:prstGeom prst="rect">
            <a:avLst/>
          </a:prstGeom>
        </p:spPr>
      </p:pic>
      <p:sp>
        <p:nvSpPr>
          <p:cNvPr id="101" name="Cartão 101"/>
          <p:cNvSpPr/>
          <p:nvPr/>
        </p:nvSpPr>
        <p:spPr>
          <a:xfrm>
            <a:off x="658368" y="1828800"/>
            <a:ext cx="349940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2DA"/>
            </a:solidFill>
          </a:ln>
          <a:effectLst>
            <a:outerShdw blurRad="76200" dist="19050" dir="5400000" algn="t" rotWithShape="0">
              <a:srgbClr val="0A2252">
                <a:alpha val="12000"/>
              </a:srgbClr>
            </a:outerShdw>
          </a:effectLst>
        </p:spPr>
        <p:txBody>
          <a:bodyPr wrap="square" lIns="164592" tIns="164592" rIns="164592" bIns="164592" rtlCol="0" anchor="ctr">
            <a:normAutofit/>
          </a:bodyPr>
          <a:lstStyle/>
          <a:p>
            <a:pPr marL="0" indent="0" algn="l">
              <a:lnSpc>
                <a:spcPct val="100000"/>
              </a:lnSpc>
              <a:spcAft>
                <a:spcPts val="500"/>
              </a:spcAft>
              <a:buNone/>
            </a:pPr>
            <a:r>
              <a:rPr lang="pt-BR" sz="1900" b="1">
                <a:solidFill>
                  <a:srgbClr val="0A2252"/>
                </a:solidFill>
                <a:latin typeface="Aptos Display"/>
                <a:ea typeface="Aptos Display"/>
                <a:cs typeface="Aptos Display"/>
              </a:rPr>
              <a:t>Problema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pt-BR" sz="1900">
                <a:solidFill>
                  <a:srgbClr val="26364F"/>
                </a:solidFill>
              </a:rPr>
              <a:t>A fila continua.</a:t>
            </a:r>
          </a:p>
        </p:txBody>
      </p:sp>
      <p:sp>
        <p:nvSpPr>
          <p:cNvPr id="102" name="Cartão 102"/>
          <p:cNvSpPr/>
          <p:nvPr/>
        </p:nvSpPr>
        <p:spPr>
          <a:xfrm>
            <a:off x="4338828" y="1828800"/>
            <a:ext cx="349940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2DA"/>
            </a:solidFill>
          </a:ln>
          <a:effectLst>
            <a:outerShdw blurRad="76200" dist="19050" dir="5400000" algn="t" rotWithShape="0">
              <a:srgbClr val="0A2252">
                <a:alpha val="12000"/>
              </a:srgbClr>
            </a:outerShdw>
          </a:effectLst>
        </p:spPr>
        <p:txBody>
          <a:bodyPr wrap="square" lIns="164592" tIns="164592" rIns="164592" bIns="164592" rtlCol="0" anchor="ctr">
            <a:normAutofit/>
          </a:bodyPr>
          <a:lstStyle/>
          <a:p>
            <a:pPr marL="0" indent="0" algn="l">
              <a:lnSpc>
                <a:spcPct val="100000"/>
              </a:lnSpc>
              <a:spcAft>
                <a:spcPts val="500"/>
              </a:spcAft>
              <a:buNone/>
            </a:pPr>
            <a:r>
              <a:rPr lang="pt-BR" sz="1900" b="1">
                <a:solidFill>
                  <a:srgbClr val="0A2252"/>
                </a:solidFill>
                <a:latin typeface="Aptos Display"/>
                <a:ea typeface="Aptos Display"/>
                <a:cs typeface="Aptos Display"/>
              </a:rPr>
              <a:t>Pergunta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pt-BR" sz="1900">
                <a:solidFill>
                  <a:srgbClr val="26364F"/>
                </a:solidFill>
              </a:rPr>
              <a:t>Onde o atendimento trava?</a:t>
            </a:r>
          </a:p>
        </p:txBody>
      </p:sp>
      <p:sp>
        <p:nvSpPr>
          <p:cNvPr id="103" name="Cartão 103"/>
          <p:cNvSpPr/>
          <p:nvPr/>
        </p:nvSpPr>
        <p:spPr>
          <a:xfrm>
            <a:off x="8019288" y="1828800"/>
            <a:ext cx="349940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2DA"/>
            </a:solidFill>
          </a:ln>
          <a:effectLst>
            <a:outerShdw blurRad="76200" dist="19050" dir="5400000" algn="t" rotWithShape="0">
              <a:srgbClr val="0A2252">
                <a:alpha val="12000"/>
              </a:srgbClr>
            </a:outerShdw>
          </a:effectLst>
        </p:spPr>
        <p:txBody>
          <a:bodyPr wrap="square" lIns="164592" tIns="164592" rIns="164592" bIns="164592" rtlCol="0" anchor="ctr">
            <a:normAutofit/>
          </a:bodyPr>
          <a:lstStyle/>
          <a:p>
            <a:pPr marL="0" indent="0" algn="l">
              <a:lnSpc>
                <a:spcPct val="100000"/>
              </a:lnSpc>
              <a:spcAft>
                <a:spcPts val="500"/>
              </a:spcAft>
              <a:buNone/>
            </a:pPr>
            <a:r>
              <a:rPr lang="pt-BR" sz="1900" b="1">
                <a:solidFill>
                  <a:srgbClr val="0A2252"/>
                </a:solidFill>
                <a:latin typeface="Aptos Display"/>
                <a:ea typeface="Aptos Display"/>
                <a:cs typeface="Aptos Display"/>
              </a:rPr>
              <a:t>Hipótese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pt-BR" sz="1900">
                <a:solidFill>
                  <a:srgbClr val="26364F"/>
                </a:solidFill>
              </a:rPr>
              <a:t>Há retrabalho no cadastro.</a:t>
            </a:r>
          </a:p>
        </p:txBody>
      </p:sp>
      <p:sp>
        <p:nvSpPr>
          <p:cNvPr id="104" name="Cartão 104"/>
          <p:cNvSpPr/>
          <p:nvPr/>
        </p:nvSpPr>
        <p:spPr>
          <a:xfrm>
            <a:off x="658368" y="3063240"/>
            <a:ext cx="3499408" cy="1024128"/>
          </a:xfrm>
          <a:prstGeom prst="roundRect">
            <a:avLst>
              <a:gd name="adj" fmla="val 6000"/>
            </a:avLst>
          </a:prstGeom>
          <a:solidFill>
            <a:srgbClr val="0A2252"/>
          </a:solidFill>
          <a:ln>
            <a:noFill/>
          </a:ln>
        </p:spPr>
        <p:txBody>
          <a:bodyPr wrap="square" lIns="164592" tIns="164592" rIns="164592" bIns="164592" rtlCol="0" anchor="ctr">
            <a:normAutofit fontScale="85000" lnSpcReduction="10000"/>
          </a:bodyPr>
          <a:lstStyle/>
          <a:p>
            <a:pPr marL="0" indent="0" algn="l">
              <a:lnSpc>
                <a:spcPct val="100000"/>
              </a:lnSpc>
              <a:spcAft>
                <a:spcPts val="500"/>
              </a:spcAft>
              <a:buNone/>
            </a:pPr>
            <a:r>
              <a:rPr lang="pt-BR" sz="1900" b="1">
                <a:solidFill>
                  <a:srgbClr val="FF5A1F"/>
                </a:solidFill>
                <a:latin typeface="Aptos Display"/>
                <a:ea typeface="Aptos Display"/>
                <a:cs typeface="Aptos Display"/>
              </a:rPr>
              <a:t>Dados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pt-BR" sz="1900">
                <a:solidFill>
                  <a:srgbClr val="FFFFFF"/>
                </a:solidFill>
              </a:rPr>
              <a:t>Tempos, retornos e observação.</a:t>
            </a:r>
          </a:p>
        </p:txBody>
      </p:sp>
      <p:sp>
        <p:nvSpPr>
          <p:cNvPr id="105" name="Texto 105"/>
          <p:cNvSpPr txBox="1"/>
          <p:nvPr/>
        </p:nvSpPr>
        <p:spPr>
          <a:xfrm>
            <a:off x="658368" y="4526280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pt-BR" sz="2200" b="1">
                <a:solidFill>
                  <a:srgbClr val="26364F"/>
                </a:solidFill>
              </a:rPr>
              <a:t>Uma sequência de investigação, do sintoma à decisão fundamentada.</a:t>
            </a:r>
          </a:p>
        </p:txBody>
      </p:sp>
      <p:sp>
        <p:nvSpPr>
          <p:cNvPr id="107" name="Roteiro 107"/>
          <p:cNvSpPr/>
          <p:nvPr/>
        </p:nvSpPr>
        <p:spPr>
          <a:xfrm>
            <a:off x="7269480" y="5230368"/>
            <a:ext cx="425196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D1BE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171450" indent="-171450" algn="l">
              <a:spcAft>
                <a:spcPts val="150"/>
              </a:spcAft>
            </a:pPr>
            <a:r>
              <a:rPr lang="pt-BR" sz="1050">
                <a:solidFill>
                  <a:srgbClr val="26364F"/>
                </a:solidFill>
              </a:rPr>
              <a:t>Exemplo ilustrativo derivado do caso da fila</a:t>
            </a:r>
          </a:p>
          <a:p>
            <a:pPr marL="171450" indent="-171450" algn="l">
              <a:spcAft>
                <a:spcPts val="150"/>
              </a:spcAft>
            </a:pPr>
            <a:r>
              <a:rPr lang="pt-BR" sz="1050">
                <a:solidFill>
                  <a:srgbClr val="26364F"/>
                </a:solidFill>
              </a:rPr>
              <a:t>A </a:t>
            </a:r>
            <a:r>
              <a:rPr lang="pt-BR" sz="1050" dirty="0">
                <a:solidFill>
                  <a:srgbClr val="26364F"/>
                </a:solidFill>
              </a:rPr>
              <a:t>hipótese </a:t>
            </a:r>
            <a:r>
              <a:rPr lang="pt-BR" sz="1050">
                <a:solidFill>
                  <a:srgbClr val="26364F"/>
                </a:solidFill>
              </a:rPr>
              <a:t>ainda precisa de teste</a:t>
            </a:r>
          </a:p>
          <a:p>
            <a:pPr marL="171450" indent="-171450" algn="l">
              <a:spcAft>
                <a:spcPts val="150"/>
              </a:spcAft>
            </a:pPr>
            <a:r>
              <a:rPr lang="pt-BR" sz="1050" dirty="0">
                <a:solidFill>
                  <a:srgbClr val="26364F"/>
                </a:solidFill>
              </a:rPr>
              <a:t>Briner</a:t>
            </a:r>
            <a:r>
              <a:rPr lang="pt-BR" sz="1050">
                <a:solidFill>
                  <a:srgbClr val="26364F"/>
                </a:solidFill>
              </a:rPr>
              <a:t>, </a:t>
            </a:r>
            <a:r>
              <a:rPr lang="pt-BR" sz="1050" dirty="0">
                <a:solidFill>
                  <a:srgbClr val="26364F"/>
                </a:solidFill>
              </a:rPr>
              <a:t>Denyer</a:t>
            </a:r>
            <a:r>
              <a:rPr lang="pt-BR" sz="1050">
                <a:solidFill>
                  <a:srgbClr val="26364F"/>
                </a:solidFill>
              </a:rPr>
              <a:t> e </a:t>
            </a:r>
            <a:r>
              <a:rPr lang="pt-BR" sz="1050" dirty="0">
                <a:solidFill>
                  <a:srgbClr val="26364F"/>
                </a:solidFill>
              </a:rPr>
              <a:t>Rousseau (</a:t>
            </a:r>
            <a:r>
              <a:rPr lang="pt-BR" sz="1050">
                <a:solidFill>
                  <a:srgbClr val="26364F"/>
                </a:solidFill>
              </a:rPr>
              <a:t>2009</a:t>
            </a:r>
            <a:r>
              <a:rPr lang="pt-BR" sz="1050" dirty="0">
                <a:solidFill>
                  <a:srgbClr val="26364F"/>
                </a:solidFill>
              </a:rPr>
              <a:t>)</a:t>
            </a:r>
            <a:endParaRPr lang="pt-BR" sz="1050">
              <a:solidFill>
                <a:srgbClr val="26364F"/>
              </a:solidFill>
            </a:endParaRPr>
          </a:p>
        </p:txBody>
      </p:sp>
      <p:sp>
        <p:nvSpPr>
          <p:cNvPr id="108" name="Cartão 101"/>
          <p:cNvSpPr/>
          <p:nvPr/>
        </p:nvSpPr>
        <p:spPr>
          <a:xfrm>
            <a:off x="4338828" y="3063240"/>
            <a:ext cx="349940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2DA"/>
            </a:solidFill>
          </a:ln>
          <a:effectLst>
            <a:outerShdw blurRad="76200" dist="19050" dir="5400000" algn="t" rotWithShape="0">
              <a:srgbClr val="0A2252">
                <a:alpha val="12000"/>
              </a:srgbClr>
            </a:outerShdw>
          </a:effectLst>
        </p:spPr>
        <p:txBody>
          <a:bodyPr wrap="square" lIns="164592" tIns="164592" rIns="164592" bIns="164592" rtlCol="0" anchor="ctr">
            <a:normAutofit/>
          </a:bodyPr>
          <a:lstStyle/>
          <a:p>
            <a:pPr marL="0" indent="0" algn="l">
              <a:lnSpc>
                <a:spcPct val="100000"/>
              </a:lnSpc>
              <a:spcAft>
                <a:spcPts val="500"/>
              </a:spcAft>
              <a:buNone/>
            </a:pPr>
            <a:r>
              <a:rPr lang="pt-BR" sz="1900" b="1">
                <a:solidFill>
                  <a:srgbClr val="0A2252"/>
                </a:solidFill>
                <a:latin typeface="Aptos Display"/>
                <a:ea typeface="Aptos Display"/>
                <a:cs typeface="Aptos Display"/>
              </a:rPr>
              <a:t>Análise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pt-BR" sz="1900">
                <a:solidFill>
                  <a:srgbClr val="26364F"/>
                </a:solidFill>
              </a:rPr>
              <a:t>Comparar etapas e unidades.</a:t>
            </a:r>
          </a:p>
        </p:txBody>
      </p:sp>
      <p:sp>
        <p:nvSpPr>
          <p:cNvPr id="109" name="Cartão 102"/>
          <p:cNvSpPr/>
          <p:nvPr/>
        </p:nvSpPr>
        <p:spPr>
          <a:xfrm>
            <a:off x="8019288" y="3063240"/>
            <a:ext cx="349940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2DA"/>
            </a:solidFill>
          </a:ln>
          <a:effectLst>
            <a:outerShdw blurRad="76200" dist="19050" dir="5400000" algn="t" rotWithShape="0">
              <a:srgbClr val="0A2252">
                <a:alpha val="12000"/>
              </a:srgbClr>
            </a:outerShdw>
          </a:effectLst>
        </p:spPr>
        <p:txBody>
          <a:bodyPr wrap="square" lIns="164592" tIns="164592" rIns="164592" bIns="164592" rtlCol="0" anchor="ctr">
            <a:normAutofit fontScale="92500"/>
          </a:bodyPr>
          <a:lstStyle/>
          <a:p>
            <a:pPr marL="0" indent="0" algn="l">
              <a:lnSpc>
                <a:spcPct val="100000"/>
              </a:lnSpc>
              <a:spcAft>
                <a:spcPts val="500"/>
              </a:spcAft>
              <a:buNone/>
            </a:pPr>
            <a:r>
              <a:rPr lang="pt-BR" sz="1900" b="1">
                <a:solidFill>
                  <a:srgbClr val="0A2252"/>
                </a:solidFill>
                <a:latin typeface="Aptos Display"/>
                <a:ea typeface="Aptos Display"/>
                <a:cs typeface="Aptos Display"/>
              </a:rPr>
              <a:t>Decisão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pt-BR" sz="1900">
                <a:solidFill>
                  <a:srgbClr val="26364F"/>
                </a:solidFill>
              </a:rPr>
              <a:t>Testar uma mudança e avaliar.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04672"/>
            <a:ext cx="10863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pt-BR" sz="2600" b="1">
                <a:solidFill>
                  <a:srgbClr val="0A225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EXEMPLO DE PERGUNTA DE PESQUISA</a:t>
            </a:r>
          </a:p>
        </p:txBody>
      </p:sp>
      <p:sp>
        <p:nvSpPr>
          <p:cNvPr id="3" name="Shape 1"/>
          <p:cNvSpPr/>
          <p:nvPr/>
        </p:nvSpPr>
        <p:spPr>
          <a:xfrm>
            <a:off x="658368" y="1536192"/>
            <a:ext cx="822960" cy="0"/>
          </a:xfrm>
          <a:prstGeom prst="line">
            <a:avLst/>
          </a:prstGeom>
          <a:noFill/>
          <a:ln w="4445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35A0857D-7EDC-DFF6-3CFE-A70D6D0695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77" t="22570" r="577" b="16329"/>
          <a:stretch>
            <a:fillRect/>
          </a:stretch>
        </p:blipFill>
        <p:spPr>
          <a:xfrm>
            <a:off x="199282" y="5178555"/>
            <a:ext cx="2564091" cy="1566665"/>
          </a:xfrm>
          <a:prstGeom prst="rect">
            <a:avLst/>
          </a:prstGeom>
        </p:spPr>
      </p:pic>
      <p:sp>
        <p:nvSpPr>
          <p:cNvPr id="101" name="Achado 101"/>
          <p:cNvSpPr/>
          <p:nvPr/>
        </p:nvSpPr>
        <p:spPr>
          <a:xfrm>
            <a:off x="658368" y="1737360"/>
            <a:ext cx="10863072" cy="3337560"/>
          </a:xfrm>
          <a:prstGeom prst="roundRect">
            <a:avLst>
              <a:gd name="adj" fmla="val 4000"/>
            </a:avLst>
          </a:prstGeom>
          <a:solidFill>
            <a:srgbClr val="0A2252"/>
          </a:solidFill>
          <a:ln>
            <a:noFill/>
          </a:ln>
        </p:spPr>
        <p:txBody>
          <a:bodyPr wrap="square" lIns="411480" tIns="411480" rIns="411480" bIns="411480" rtlCol="0" anchor="ctr">
            <a:normAutofit fontScale="92500" lnSpcReduction="20000"/>
          </a:bodyPr>
          <a:lstStyle/>
          <a:p>
            <a:pPr marL="0" indent="0" algn="l">
              <a:spcAft>
                <a:spcPts val="800"/>
              </a:spcAft>
              <a:buNone/>
            </a:pPr>
            <a:r>
              <a:rPr lang="pt-BR" sz="2100" b="1">
                <a:solidFill>
                  <a:srgbClr val="FF5A1F"/>
                </a:solidFill>
              </a:rPr>
              <a:t>PERGUNTA A TESTAR</a:t>
            </a:r>
          </a:p>
          <a:p>
            <a:pPr marL="0" indent="0" algn="l">
              <a:lnSpc>
                <a:spcPct val="100000"/>
              </a:lnSpc>
              <a:spcAft>
                <a:spcPts val="1200"/>
              </a:spcAft>
              <a:buNone/>
            </a:pPr>
            <a:r>
              <a:rPr lang="pt-BR" sz="21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Quando serviços simples migram para o digital,</a:t>
            </a:r>
          </a:p>
          <a:p>
            <a:pPr marL="0" indent="0" algn="l">
              <a:lnSpc>
                <a:spcPct val="110000"/>
              </a:lnSpc>
              <a:spcAft>
                <a:spcPts val="1200"/>
              </a:spcAft>
              <a:buNone/>
            </a:pPr>
            <a:r>
              <a:rPr lang="pt-BR" sz="2100">
                <a:solidFill>
                  <a:srgbClr val="FFFFFF"/>
                </a:solidFill>
              </a:rPr>
              <a:t>o atendimento presencial fica mais complexo?</a:t>
            </a:r>
          </a:p>
          <a:p>
            <a:pPr marL="0" indent="0" algn="l">
              <a:buNone/>
            </a:pPr>
            <a:endParaRPr lang="pt-BR" sz="2100">
              <a:solidFill>
                <a:srgbClr val="FFFFFF"/>
              </a:solidFill>
            </a:endParaRPr>
          </a:p>
          <a:p>
            <a:pPr marL="0" indent="0" algn="l">
              <a:buNone/>
            </a:pPr>
            <a:r>
              <a:rPr lang="pt-BR" sz="2100" b="1">
                <a:solidFill>
                  <a:srgbClr val="FFFFFF"/>
                </a:solidFill>
              </a:rPr>
              <a:t>Como testar?</a:t>
            </a:r>
          </a:p>
          <a:p>
            <a:pPr marL="0" indent="0" algn="l">
              <a:buNone/>
            </a:pPr>
            <a:r>
              <a:rPr lang="pt-BR" sz="2100" b="1">
                <a:solidFill>
                  <a:srgbClr val="FFFFFF"/>
                </a:solidFill>
              </a:rPr>
              <a:t>Comparar antes e depois e comparar unidades.</a:t>
            </a:r>
          </a:p>
          <a:p>
            <a:pPr marL="0" indent="0" algn="l">
              <a:buNone/>
            </a:pPr>
            <a:r>
              <a:rPr lang="pt-BR" sz="2100" b="1">
                <a:solidFill>
                  <a:srgbClr val="FFFFFF"/>
                </a:solidFill>
              </a:rPr>
              <a:t>Medir o perfil dos atendimentos.</a:t>
            </a:r>
          </a:p>
          <a:p>
            <a:pPr marL="0" indent="0" algn="l">
              <a:buNone/>
            </a:pPr>
            <a:r>
              <a:rPr lang="pt-BR" sz="2100" b="1">
                <a:solidFill>
                  <a:srgbClr val="FFFFFF"/>
                </a:solidFill>
              </a:rPr>
              <a:t>Observar a demanda de espaço e de equipe.</a:t>
            </a:r>
          </a:p>
        </p:txBody>
      </p:sp>
      <p:sp>
        <p:nvSpPr>
          <p:cNvPr id="102" name="Roteiro 102"/>
          <p:cNvSpPr/>
          <p:nvPr/>
        </p:nvSpPr>
        <p:spPr>
          <a:xfrm>
            <a:off x="7269480" y="5230368"/>
            <a:ext cx="425196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D1BE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171450" indent="-171450" algn="l">
              <a:spcAft>
                <a:spcPts val="150"/>
              </a:spcAft>
            </a:pPr>
            <a:r>
              <a:rPr lang="pt-BR" sz="1050">
                <a:solidFill>
                  <a:srgbClr val="26364F"/>
                </a:solidFill>
              </a:rPr>
              <a:t>Pergunta de pesquisa, não resultado confirmado</a:t>
            </a:r>
          </a:p>
          <a:p>
            <a:pPr marL="171450" indent="-171450" algn="l">
              <a:spcAft>
                <a:spcPts val="150"/>
              </a:spcAft>
            </a:pPr>
            <a:r>
              <a:rPr lang="pt-BR" sz="1050">
                <a:solidFill>
                  <a:srgbClr val="26364F"/>
                </a:solidFill>
              </a:rPr>
              <a:t>Comparar condições </a:t>
            </a:r>
            <a:r>
              <a:rPr lang="pt-BR" sz="1050" dirty="0">
                <a:solidFill>
                  <a:srgbClr val="26364F"/>
                </a:solidFill>
              </a:rPr>
              <a:t>e </a:t>
            </a:r>
            <a:r>
              <a:rPr lang="pt-BR" sz="1050">
                <a:solidFill>
                  <a:srgbClr val="26364F"/>
                </a:solidFill>
              </a:rPr>
              <a:t>explicações alternativas</a:t>
            </a:r>
          </a:p>
          <a:p>
            <a:pPr marL="171450" indent="-171450" algn="l">
              <a:spcAft>
                <a:spcPts val="150"/>
              </a:spcAft>
            </a:pPr>
            <a:r>
              <a:rPr lang="pt-BR" sz="1050" dirty="0">
                <a:solidFill>
                  <a:srgbClr val="26364F"/>
                </a:solidFill>
              </a:rPr>
              <a:t>Christensen et al</a:t>
            </a:r>
            <a:r>
              <a:rPr lang="pt-BR" sz="1050">
                <a:solidFill>
                  <a:srgbClr val="26364F"/>
                </a:solidFill>
              </a:rPr>
              <a:t>. (</a:t>
            </a:r>
            <a:r>
              <a:rPr lang="pt-BR" sz="1050" dirty="0">
                <a:solidFill>
                  <a:srgbClr val="26364F"/>
                </a:solidFill>
              </a:rPr>
              <a:t>2020</a:t>
            </a:r>
            <a:r>
              <a:rPr lang="pt-BR" sz="1050">
                <a:solidFill>
                  <a:srgbClr val="26364F"/>
                </a:solidFill>
              </a:rPr>
              <a:t>), conforme apresentação original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04672"/>
            <a:ext cx="10863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pt-BR" sz="2600" b="1">
                <a:solidFill>
                  <a:srgbClr val="0A225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UMA BOA PESQUISA SABE O QUE AINDA NÃO SABE</a:t>
            </a:r>
          </a:p>
        </p:txBody>
      </p:sp>
      <p:sp>
        <p:nvSpPr>
          <p:cNvPr id="3" name="Shape 1"/>
          <p:cNvSpPr/>
          <p:nvPr/>
        </p:nvSpPr>
        <p:spPr>
          <a:xfrm>
            <a:off x="658368" y="1536192"/>
            <a:ext cx="822960" cy="0"/>
          </a:xfrm>
          <a:prstGeom prst="line">
            <a:avLst/>
          </a:prstGeom>
          <a:noFill/>
          <a:ln w="4445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35A0857D-7EDC-DFF6-3CFE-A70D6D0695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77" t="22570" r="577" b="16329"/>
          <a:stretch>
            <a:fillRect/>
          </a:stretch>
        </p:blipFill>
        <p:spPr>
          <a:xfrm>
            <a:off x="199282" y="5178555"/>
            <a:ext cx="2564091" cy="1566665"/>
          </a:xfrm>
          <a:prstGeom prst="rect">
            <a:avLst/>
          </a:prstGeom>
        </p:spPr>
      </p:pic>
      <p:sp>
        <p:nvSpPr>
          <p:cNvPr id="101" name="Estágio 101"/>
          <p:cNvSpPr/>
          <p:nvPr/>
        </p:nvSpPr>
        <p:spPr>
          <a:xfrm>
            <a:off x="658368" y="1965960"/>
            <a:ext cx="3499408" cy="182880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</p:spPr>
        <p:txBody>
          <a:bodyPr wrap="square" lIns="164592" tIns="164592" rIns="164592" bIns="164592" rtlCol="0" anchor="b">
            <a:normAutofit/>
          </a:bodyPr>
          <a:lstStyle/>
          <a:p>
            <a:pPr marL="0" indent="0" algn="l">
              <a:buNone/>
            </a:pPr>
            <a:r>
              <a:rPr lang="pt-BR" sz="2300" b="1">
                <a:solidFill>
                  <a:srgbClr val="0A2252"/>
                </a:solidFill>
              </a:rPr>
              <a:t>Hipótese</a:t>
            </a:r>
          </a:p>
          <a:p>
            <a:pPr marL="0" indent="0" algn="l">
              <a:buNone/>
            </a:pPr>
            <a:r>
              <a:rPr lang="pt-BR" sz="2300" b="1">
                <a:solidFill>
                  <a:srgbClr val="0A2252"/>
                </a:solidFill>
              </a:rPr>
              <a:t>Uma explicação a testar.</a:t>
            </a:r>
          </a:p>
        </p:txBody>
      </p:sp>
      <p:sp>
        <p:nvSpPr>
          <p:cNvPr id="102" name="Estágio 102"/>
          <p:cNvSpPr/>
          <p:nvPr/>
        </p:nvSpPr>
        <p:spPr>
          <a:xfrm>
            <a:off x="4338828" y="1965960"/>
            <a:ext cx="3499408" cy="1828800"/>
          </a:xfrm>
          <a:prstGeom prst="roundRect">
            <a:avLst>
              <a:gd name="adj" fmla="val 8000"/>
            </a:avLst>
          </a:prstGeom>
          <a:solidFill>
            <a:srgbClr val="D3DCEB"/>
          </a:solidFill>
          <a:ln>
            <a:noFill/>
          </a:ln>
        </p:spPr>
        <p:txBody>
          <a:bodyPr wrap="square" lIns="164592" tIns="164592" rIns="164592" bIns="164592" rtlCol="0" anchor="b">
            <a:normAutofit/>
          </a:bodyPr>
          <a:lstStyle/>
          <a:p>
            <a:pPr marL="0" indent="0" algn="l">
              <a:buNone/>
            </a:pPr>
            <a:r>
              <a:rPr lang="pt-BR" sz="2300" b="1">
                <a:solidFill>
                  <a:srgbClr val="0A2252"/>
                </a:solidFill>
              </a:rPr>
              <a:t>Evidência</a:t>
            </a:r>
          </a:p>
          <a:p>
            <a:pPr marL="0" indent="0" algn="l">
              <a:buNone/>
            </a:pPr>
            <a:r>
              <a:rPr lang="pt-BR" sz="2300" b="1">
                <a:solidFill>
                  <a:srgbClr val="0A2252"/>
                </a:solidFill>
              </a:rPr>
              <a:t>O que os dados permitem observar.</a:t>
            </a:r>
          </a:p>
        </p:txBody>
      </p:sp>
      <p:sp>
        <p:nvSpPr>
          <p:cNvPr id="103" name="Estágio 103"/>
          <p:cNvSpPr/>
          <p:nvPr/>
        </p:nvSpPr>
        <p:spPr>
          <a:xfrm>
            <a:off x="8019288" y="1965960"/>
            <a:ext cx="3499408" cy="1828800"/>
          </a:xfrm>
          <a:prstGeom prst="roundRect">
            <a:avLst>
              <a:gd name="adj" fmla="val 8000"/>
            </a:avLst>
          </a:prstGeom>
          <a:solidFill>
            <a:srgbClr val="AFC0DA"/>
          </a:solidFill>
          <a:ln>
            <a:noFill/>
          </a:ln>
        </p:spPr>
        <p:txBody>
          <a:bodyPr wrap="square" lIns="164592" tIns="164592" rIns="164592" bIns="164592" rtlCol="0" anchor="b">
            <a:normAutofit/>
          </a:bodyPr>
          <a:lstStyle/>
          <a:p>
            <a:pPr marL="0" indent="0" algn="l">
              <a:buNone/>
            </a:pPr>
            <a:r>
              <a:rPr lang="pt-BR" sz="2300" b="1">
                <a:solidFill>
                  <a:srgbClr val="0A2252"/>
                </a:solidFill>
              </a:rPr>
              <a:t>Conclusão</a:t>
            </a:r>
          </a:p>
          <a:p>
            <a:pPr marL="0" indent="0" algn="l">
              <a:buNone/>
            </a:pPr>
            <a:r>
              <a:rPr lang="pt-BR" sz="2300" b="1">
                <a:solidFill>
                  <a:srgbClr val="0A2252"/>
                </a:solidFill>
              </a:rPr>
              <a:t>O que a análise sustenta, com limites.</a:t>
            </a:r>
          </a:p>
        </p:txBody>
      </p:sp>
      <p:sp>
        <p:nvSpPr>
          <p:cNvPr id="106" name="Texto 106"/>
          <p:cNvSpPr txBox="1"/>
          <p:nvPr/>
        </p:nvSpPr>
        <p:spPr>
          <a:xfrm>
            <a:off x="658368" y="4206240"/>
            <a:ext cx="10863072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pt-BR" sz="2600" b="1">
                <a:solidFill>
                  <a:srgbClr val="FF5A1F"/>
                </a:solidFill>
              </a:rPr>
              <a:t>Nunca apresente uma hipótese como se fosse resultado.</a:t>
            </a:r>
          </a:p>
        </p:txBody>
      </p:sp>
      <p:sp>
        <p:nvSpPr>
          <p:cNvPr id="107" name="Roteiro 107"/>
          <p:cNvSpPr/>
          <p:nvPr/>
        </p:nvSpPr>
        <p:spPr>
          <a:xfrm>
            <a:off x="7269480" y="5230368"/>
            <a:ext cx="425196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D1BE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171450" indent="-171450" algn="l">
              <a:spcAft>
                <a:spcPts val="150"/>
              </a:spcAft>
            </a:pPr>
            <a:r>
              <a:rPr lang="pt-BR" sz="1050">
                <a:solidFill>
                  <a:srgbClr val="26364F"/>
                </a:solidFill>
              </a:rPr>
              <a:t>ARENAS: formulação teórica fundamentada</a:t>
            </a:r>
          </a:p>
          <a:p>
            <a:pPr marL="171450" indent="-171450" algn="l">
              <a:spcAft>
                <a:spcPts val="150"/>
              </a:spcAft>
            </a:pPr>
            <a:r>
              <a:rPr lang="pt-BR" sz="1050">
                <a:solidFill>
                  <a:srgbClr val="26364F"/>
                </a:solidFill>
              </a:rPr>
              <a:t>Teste empírico </a:t>
            </a:r>
            <a:r>
              <a:rPr lang="pt-BR" sz="1050" dirty="0">
                <a:solidFill>
                  <a:srgbClr val="26364F"/>
                </a:solidFill>
              </a:rPr>
              <a:t>e </a:t>
            </a:r>
            <a:r>
              <a:rPr lang="pt-BR" sz="1050">
                <a:solidFill>
                  <a:srgbClr val="26364F"/>
                </a:solidFill>
              </a:rPr>
              <a:t>validação dos instrumentos em desenvolvimento</a:t>
            </a:r>
          </a:p>
          <a:p>
            <a:pPr marL="171450" indent="-171450" algn="l">
              <a:spcAft>
                <a:spcPts val="150"/>
              </a:spcAft>
            </a:pPr>
            <a:r>
              <a:rPr lang="pt-BR" sz="1050">
                <a:solidFill>
                  <a:srgbClr val="26364F"/>
                </a:solidFill>
              </a:rPr>
              <a:t>Distinguir proposta, evidência e conclusão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04672"/>
            <a:ext cx="10863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pt-BR" sz="2600" b="1" dirty="0">
                <a:solidFill>
                  <a:srgbClr val="0A225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SEU LOCAL DE TRABALHO É UM CAMPO DE PESQUISA</a:t>
            </a:r>
            <a:endParaRPr lang="pt-BR" sz="2600" b="1">
              <a:solidFill>
                <a:srgbClr val="0A2252"/>
              </a:solidFill>
              <a:latin typeface="Aptos Display" pitchFamily="34" charset="0"/>
              <a:ea typeface="Aptos Display" pitchFamily="34" charset="-122"/>
              <a:cs typeface="Aptos Display" pitchFamily="34" charset="-12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58368" y="1536192"/>
            <a:ext cx="822960" cy="0"/>
          </a:xfrm>
          <a:prstGeom prst="line">
            <a:avLst/>
          </a:prstGeom>
          <a:noFill/>
          <a:ln w="4445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35A0857D-7EDC-DFF6-3CFE-A70D6D0695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77" t="22570" r="577" b="16329"/>
          <a:stretch>
            <a:fillRect/>
          </a:stretch>
        </p:blipFill>
        <p:spPr>
          <a:xfrm>
            <a:off x="199282" y="5178555"/>
            <a:ext cx="2564091" cy="1566665"/>
          </a:xfrm>
          <a:prstGeom prst="rect">
            <a:avLst/>
          </a:prstGeom>
        </p:spPr>
      </p:pic>
      <p:sp>
        <p:nvSpPr>
          <p:cNvPr id="101" name="Passo 101"/>
          <p:cNvSpPr/>
          <p:nvPr/>
        </p:nvSpPr>
        <p:spPr>
          <a:xfrm>
            <a:off x="658368" y="1828800"/>
            <a:ext cx="2026310" cy="2057400"/>
          </a:xfrm>
          <a:prstGeom prst="roundRect">
            <a:avLst>
              <a:gd name="adj" fmla="val 6000"/>
            </a:avLst>
          </a:prstGeom>
          <a:solidFill>
            <a:srgbClr val="0A2252"/>
          </a:solidFill>
          <a:ln>
            <a:noFill/>
          </a:ln>
        </p:spPr>
        <p:txBody>
          <a:bodyPr wrap="square" lIns="201168" tIns="201168" rIns="201168" bIns="201168" rtlCol="0" anchor="t"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pt-BR" sz="2800" b="1" dirty="0">
                <a:solidFill>
                  <a:srgbClr val="FF5A1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pt-BR" sz="1800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Observe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pt-BR" sz="1350" dirty="0">
                <a:solidFill>
                  <a:srgbClr val="D6DEEC"/>
                </a:solidFill>
              </a:rPr>
              <a:t>Que problema se repete?</a:t>
            </a:r>
          </a:p>
        </p:txBody>
      </p:sp>
      <p:sp>
        <p:nvSpPr>
          <p:cNvPr id="102" name="Passo 102"/>
          <p:cNvSpPr/>
          <p:nvPr/>
        </p:nvSpPr>
        <p:spPr>
          <a:xfrm>
            <a:off x="2867558" y="1828800"/>
            <a:ext cx="2026310" cy="2057400"/>
          </a:xfrm>
          <a:prstGeom prst="roundRect">
            <a:avLst>
              <a:gd name="adj" fmla="val 6000"/>
            </a:avLst>
          </a:prstGeom>
          <a:solidFill>
            <a:srgbClr val="0A2252"/>
          </a:solidFill>
          <a:ln>
            <a:noFill/>
          </a:ln>
        </p:spPr>
        <p:txBody>
          <a:bodyPr wrap="square" lIns="201168" tIns="201168" rIns="201168" bIns="201168" rtlCol="0" anchor="t"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pt-BR" sz="2800" b="1" dirty="0">
                <a:solidFill>
                  <a:srgbClr val="FF5A1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pt-BR" sz="1800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Registre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pt-BR" sz="1350">
                <a:solidFill>
                  <a:srgbClr val="D6DEEC"/>
                </a:solidFill>
              </a:rPr>
              <a:t>Casos</a:t>
            </a:r>
            <a:r>
              <a:rPr lang="pt-BR" sz="1350" dirty="0">
                <a:solidFill>
                  <a:srgbClr val="D6DEEC"/>
                </a:solidFill>
              </a:rPr>
              <a:t>, fluxos e </a:t>
            </a:r>
            <a:r>
              <a:rPr lang="pt-BR" sz="1350">
                <a:solidFill>
                  <a:srgbClr val="D6DEEC"/>
                </a:solidFill>
              </a:rPr>
              <a:t>erros</a:t>
            </a:r>
            <a:r>
              <a:rPr lang="pt-BR" sz="1350" dirty="0">
                <a:solidFill>
                  <a:srgbClr val="D6DEEC"/>
                </a:solidFill>
              </a:rPr>
              <a:t>.</a:t>
            </a:r>
          </a:p>
        </p:txBody>
      </p:sp>
      <p:sp>
        <p:nvSpPr>
          <p:cNvPr id="103" name="Passo 103"/>
          <p:cNvSpPr/>
          <p:nvPr/>
        </p:nvSpPr>
        <p:spPr>
          <a:xfrm>
            <a:off x="5076748" y="1828800"/>
            <a:ext cx="2026310" cy="2057400"/>
          </a:xfrm>
          <a:prstGeom prst="roundRect">
            <a:avLst>
              <a:gd name="adj" fmla="val 6000"/>
            </a:avLst>
          </a:prstGeom>
          <a:solidFill>
            <a:srgbClr val="0A2252"/>
          </a:solidFill>
          <a:ln>
            <a:noFill/>
          </a:ln>
        </p:spPr>
        <p:txBody>
          <a:bodyPr wrap="square" lIns="201168" tIns="201168" rIns="201168" bIns="201168" rtlCol="0" anchor="t"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pt-BR" sz="2800" b="1" dirty="0">
                <a:solidFill>
                  <a:srgbClr val="FF5A1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pt-BR" sz="1800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Meça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pt-BR" sz="1350" dirty="0">
                <a:solidFill>
                  <a:srgbClr val="D6DEEC"/>
                </a:solidFill>
              </a:rPr>
              <a:t>Use dados </a:t>
            </a:r>
            <a:r>
              <a:rPr lang="pt-BR" sz="1350">
                <a:solidFill>
                  <a:srgbClr val="D6DEEC"/>
                </a:solidFill>
              </a:rPr>
              <a:t>disponíveis</a:t>
            </a:r>
            <a:r>
              <a:rPr lang="pt-BR" sz="1350" dirty="0">
                <a:solidFill>
                  <a:srgbClr val="D6DEEC"/>
                </a:solidFill>
              </a:rPr>
              <a:t>.</a:t>
            </a:r>
          </a:p>
        </p:txBody>
      </p:sp>
      <p:sp>
        <p:nvSpPr>
          <p:cNvPr id="104" name="Passo 104"/>
          <p:cNvSpPr/>
          <p:nvPr/>
        </p:nvSpPr>
        <p:spPr>
          <a:xfrm>
            <a:off x="7285939" y="1828800"/>
            <a:ext cx="2026310" cy="2057400"/>
          </a:xfrm>
          <a:prstGeom prst="roundRect">
            <a:avLst>
              <a:gd name="adj" fmla="val 6000"/>
            </a:avLst>
          </a:prstGeom>
          <a:solidFill>
            <a:srgbClr val="0A2252"/>
          </a:solidFill>
          <a:ln>
            <a:noFill/>
          </a:ln>
        </p:spPr>
        <p:txBody>
          <a:bodyPr wrap="square" lIns="201168" tIns="201168" rIns="201168" bIns="201168" rtlCol="0" anchor="t"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pt-BR" sz="2800" b="1" dirty="0">
                <a:solidFill>
                  <a:srgbClr val="FF5A1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pt-BR"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Teste</a:t>
            </a:r>
            <a:endParaRPr lang="pt-BR" sz="1800" b="1" dirty="0">
              <a:solidFill>
                <a:srgbClr val="FFFFFF"/>
              </a:solidFill>
              <a:latin typeface="Aptos Display"/>
              <a:ea typeface="Aptos Display"/>
              <a:cs typeface="Aptos Display"/>
            </a:endParaRPr>
          </a:p>
          <a:p>
            <a:pPr marL="0" indent="0" algn="l">
              <a:lnSpc>
                <a:spcPct val="105000"/>
              </a:lnSpc>
              <a:buNone/>
            </a:pPr>
            <a:r>
              <a:rPr lang="pt-BR" sz="1350">
                <a:solidFill>
                  <a:srgbClr val="D6DEEC"/>
                </a:solidFill>
              </a:rPr>
              <a:t>Avalie uma mudança</a:t>
            </a:r>
            <a:r>
              <a:rPr lang="pt-BR" sz="1350" dirty="0">
                <a:solidFill>
                  <a:srgbClr val="D6DEEC"/>
                </a:solidFill>
              </a:rPr>
              <a:t>.</a:t>
            </a:r>
          </a:p>
        </p:txBody>
      </p:sp>
      <p:sp>
        <p:nvSpPr>
          <p:cNvPr id="105" name="Texto 105"/>
          <p:cNvSpPr txBox="1"/>
          <p:nvPr/>
        </p:nvSpPr>
        <p:spPr>
          <a:xfrm>
            <a:off x="658368" y="4206240"/>
            <a:ext cx="1078992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pt-BR" sz="2200" b="1">
                <a:solidFill>
                  <a:srgbClr val="0A2252"/>
                </a:solidFill>
                <a:latin typeface="Aptos Display"/>
                <a:ea typeface="Aptos Display"/>
                <a:cs typeface="Aptos Display"/>
              </a:rPr>
              <a:t>Empresa, hospital, escola, órgão público, tribunal, banco</a:t>
            </a:r>
          </a:p>
          <a:p>
            <a:pPr marL="0" indent="0" algn="l">
              <a:buNone/>
            </a:pPr>
            <a:r>
              <a:rPr lang="pt-BR" sz="2200" b="1">
                <a:solidFill>
                  <a:srgbClr val="0A2252"/>
                </a:solidFill>
                <a:latin typeface="Aptos Display"/>
                <a:ea typeface="Aptos Display"/>
                <a:cs typeface="Aptos Display"/>
              </a:rPr>
              <a:t>ou plataforma digital: todos podem ser campos de pesquisa.</a:t>
            </a:r>
          </a:p>
        </p:txBody>
      </p:sp>
      <p:sp>
        <p:nvSpPr>
          <p:cNvPr id="106" name="Roteiro 106"/>
          <p:cNvSpPr/>
          <p:nvPr/>
        </p:nvSpPr>
        <p:spPr>
          <a:xfrm>
            <a:off x="7269480" y="5230368"/>
            <a:ext cx="425196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D1BE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171450" indent="-171450" algn="l">
              <a:spcAft>
                <a:spcPts val="150"/>
              </a:spcAft>
            </a:pPr>
            <a:r>
              <a:rPr lang="pt-BR" sz="1050">
                <a:solidFill>
                  <a:srgbClr val="26364F"/>
                </a:solidFill>
              </a:rPr>
              <a:t>Artigo, relatório, dashboard ou proposta </a:t>
            </a:r>
            <a:r>
              <a:rPr lang="pt-BR" sz="1050" dirty="0">
                <a:solidFill>
                  <a:srgbClr val="26364F"/>
                </a:solidFill>
              </a:rPr>
              <a:t>de </a:t>
            </a:r>
            <a:r>
              <a:rPr lang="pt-BR" sz="1050">
                <a:solidFill>
                  <a:srgbClr val="26364F"/>
                </a:solidFill>
              </a:rPr>
              <a:t>melhoria</a:t>
            </a:r>
          </a:p>
          <a:p>
            <a:pPr marL="171450" indent="-171450" algn="l">
              <a:spcAft>
                <a:spcPts val="150"/>
              </a:spcAft>
            </a:pPr>
            <a:r>
              <a:rPr lang="pt-BR" sz="1050">
                <a:solidFill>
                  <a:srgbClr val="26364F"/>
                </a:solidFill>
              </a:rPr>
              <a:t>Pesquisa </a:t>
            </a:r>
            <a:r>
              <a:rPr lang="pt-BR" sz="1050" dirty="0">
                <a:solidFill>
                  <a:srgbClr val="26364F"/>
                </a:solidFill>
              </a:rPr>
              <a:t>como </a:t>
            </a:r>
            <a:r>
              <a:rPr lang="pt-BR" sz="1050">
                <a:solidFill>
                  <a:srgbClr val="26364F"/>
                </a:solidFill>
              </a:rPr>
              <a:t>competência profissional</a:t>
            </a:r>
          </a:p>
          <a:p>
            <a:pPr marL="171450" indent="-171450" algn="l">
              <a:spcAft>
                <a:spcPts val="150"/>
              </a:spcAft>
            </a:pPr>
            <a:r>
              <a:rPr lang="pt-BR" sz="1050" dirty="0">
                <a:solidFill>
                  <a:srgbClr val="26364F"/>
                </a:solidFill>
              </a:rPr>
              <a:t>Dados </a:t>
            </a:r>
            <a:r>
              <a:rPr lang="pt-BR" sz="1050">
                <a:solidFill>
                  <a:srgbClr val="26364F"/>
                </a:solidFill>
              </a:rPr>
              <a:t>e observação orientam decisões</a:t>
            </a:r>
          </a:p>
        </p:txBody>
      </p:sp>
      <p:sp>
        <p:nvSpPr>
          <p:cNvPr id="107" name="Passo 104"/>
          <p:cNvSpPr/>
          <p:nvPr/>
        </p:nvSpPr>
        <p:spPr>
          <a:xfrm>
            <a:off x="9495129" y="1828800"/>
            <a:ext cx="2026310" cy="2057400"/>
          </a:xfrm>
          <a:prstGeom prst="roundRect">
            <a:avLst>
              <a:gd name="adj" fmla="val 6000"/>
            </a:avLst>
          </a:prstGeom>
          <a:solidFill>
            <a:srgbClr val="0A2252"/>
          </a:solidFill>
          <a:ln>
            <a:noFill/>
          </a:ln>
        </p:spPr>
        <p:txBody>
          <a:bodyPr wrap="square" lIns="201168" tIns="201168" rIns="201168" bIns="201168" rtlCol="0" anchor="t"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pt-BR" sz="2800" b="1">
                <a:solidFill>
                  <a:srgbClr val="FF5A1F"/>
                </a:solidFill>
                <a:latin typeface="Aptos Display"/>
                <a:ea typeface="Aptos Display"/>
                <a:cs typeface="Aptos Display"/>
              </a:rPr>
              <a:t>5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pt-BR"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Comunique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pt-BR" sz="1350">
                <a:solidFill>
                  <a:srgbClr val="D6DEEC"/>
                </a:solidFill>
              </a:rPr>
              <a:t>O resultado e seus limites.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35A0857D-7EDC-DFF6-3CFE-A70D6D0695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77" t="22570" r="577" b="16329"/>
          <a:stretch>
            <a:fillRect/>
          </a:stretch>
        </p:blipFill>
        <p:spPr>
          <a:xfrm>
            <a:off x="199282" y="5178555"/>
            <a:ext cx="2564091" cy="156666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804672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A2252"/>
                </a:solidFill>
                <a:latin typeface="Aptos Display"/>
              </a:rPr>
              <a:t>E DAQUI PARA ONDE?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536192"/>
            <a:ext cx="822960" cy="32004"/>
          </a:xfrm>
          <a:prstGeom prst="rect">
            <a:avLst/>
          </a:prstGeom>
          <a:solidFill>
            <a:srgbClr val="FF5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8368" y="1783080"/>
            <a:ext cx="10863072" cy="713232"/>
          </a:xfrm>
          <a:prstGeom prst="roundRect">
            <a:avLst/>
          </a:prstGeom>
          <a:solidFill>
            <a:srgbClr val="FFF3ED"/>
          </a:solidFill>
          <a:ln w="9525">
            <a:solidFill>
              <a:srgbClr val="FF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0">
                <a:solidFill>
                  <a:srgbClr val="0A2252"/>
                </a:solidFill>
                <a:latin typeface="Aptos"/>
              </a:rPr>
              <a:t>A graduação pode ser o início de uma trajetória de investigação,</a:t>
            </a:r>
          </a:p>
          <a:p>
            <a:pPr algn="ctr"/>
            <a:r>
              <a:rPr sz="1800" b="0">
                <a:solidFill>
                  <a:srgbClr val="0A2252"/>
                </a:solidFill>
                <a:latin typeface="Aptos"/>
              </a:rPr>
              <a:t>e não o fim do estudo.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834640"/>
            <a:ext cx="1170432" cy="548640"/>
          </a:xfrm>
          <a:prstGeom prst="roundRect">
            <a:avLst/>
          </a:prstGeom>
          <a:solidFill>
            <a:srgbClr val="0A2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60" b="1">
                <a:solidFill>
                  <a:srgbClr val="FFFFFF"/>
                </a:solidFill>
                <a:latin typeface="Aptos"/>
              </a:rPr>
              <a:t>Graduação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56231" y="2953512"/>
            <a:ext cx="2286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600" b="1">
                <a:solidFill>
                  <a:srgbClr val="FF5A1F"/>
                </a:solidFill>
                <a:latin typeface="Aptos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93392" y="2834640"/>
            <a:ext cx="1133856" cy="548640"/>
          </a:xfrm>
          <a:prstGeom prst="roundRect">
            <a:avLst/>
          </a:prstGeom>
          <a:solidFill>
            <a:srgbClr val="FFF3ED"/>
          </a:solidFill>
          <a:ln w="9525">
            <a:solidFill>
              <a:srgbClr val="FF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60" b="1">
                <a:solidFill>
                  <a:srgbClr val="0A2252"/>
                </a:solidFill>
                <a:latin typeface="Aptos"/>
              </a:rPr>
              <a:t>curiosidade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79" y="2953512"/>
            <a:ext cx="2286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600" b="1">
                <a:solidFill>
                  <a:srgbClr val="FF5A1F"/>
                </a:solidFill>
                <a:latin typeface="Aptos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2834640"/>
            <a:ext cx="1572768" cy="548640"/>
          </a:xfrm>
          <a:prstGeom prst="roundRect">
            <a:avLst/>
          </a:prstGeom>
          <a:solidFill>
            <a:srgbClr val="FFF3ED"/>
          </a:solidFill>
          <a:ln w="9525">
            <a:solidFill>
              <a:srgbClr val="FF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60" b="1">
                <a:solidFill>
                  <a:srgbClr val="0A2252"/>
                </a:solidFill>
                <a:latin typeface="Aptos"/>
              </a:rPr>
              <a:t>iniciação científica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2953512"/>
            <a:ext cx="2286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600" b="1">
                <a:solidFill>
                  <a:srgbClr val="FF5A1F"/>
                </a:solidFill>
                <a:latin typeface="Aptos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38928" y="2834640"/>
            <a:ext cx="1051560" cy="548640"/>
          </a:xfrm>
          <a:prstGeom prst="roundRect">
            <a:avLst/>
          </a:prstGeom>
          <a:solidFill>
            <a:srgbClr val="FFF3ED"/>
          </a:solidFill>
          <a:ln w="9525">
            <a:solidFill>
              <a:srgbClr val="FF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60" b="1">
                <a:solidFill>
                  <a:srgbClr val="0A2252"/>
                </a:solidFill>
                <a:latin typeface="Aptos"/>
              </a:rPr>
              <a:t>pesquisa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2953512"/>
            <a:ext cx="2286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600" b="1">
                <a:solidFill>
                  <a:srgbClr val="FF5A1F"/>
                </a:solidFill>
                <a:latin typeface="Aptos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2834640"/>
            <a:ext cx="1298448" cy="548640"/>
          </a:xfrm>
          <a:prstGeom prst="roundRect">
            <a:avLst/>
          </a:prstGeom>
          <a:solidFill>
            <a:srgbClr val="FFF3ED"/>
          </a:solidFill>
          <a:ln w="9525">
            <a:solidFill>
              <a:srgbClr val="FF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60" b="1">
                <a:solidFill>
                  <a:srgbClr val="0A2252"/>
                </a:solidFill>
                <a:latin typeface="Aptos"/>
              </a:rPr>
              <a:t>pós-graduação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2953512"/>
            <a:ext cx="2286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600" b="1">
                <a:solidFill>
                  <a:srgbClr val="FF5A1F"/>
                </a:solidFill>
                <a:latin typeface="Aptos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2834640"/>
            <a:ext cx="1828800" cy="548640"/>
          </a:xfrm>
          <a:prstGeom prst="roundRect">
            <a:avLst/>
          </a:prstGeom>
          <a:solidFill>
            <a:srgbClr val="0A2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60" b="1">
                <a:solidFill>
                  <a:srgbClr val="FFFFFF"/>
                </a:solidFill>
                <a:latin typeface="Aptos"/>
              </a:rPr>
              <a:t>produção de conhecimento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2953512"/>
            <a:ext cx="2286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600" b="1">
                <a:solidFill>
                  <a:srgbClr val="FF5A1F"/>
                </a:solidFill>
                <a:latin typeface="Aptos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12680" y="2834640"/>
            <a:ext cx="1508760" cy="548640"/>
          </a:xfrm>
          <a:prstGeom prst="roundRect">
            <a:avLst/>
          </a:prstGeom>
          <a:solidFill>
            <a:srgbClr val="FFF3ED"/>
          </a:solidFill>
          <a:ln w="9525">
            <a:solidFill>
              <a:srgbClr val="FF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60" b="1">
                <a:solidFill>
                  <a:srgbClr val="0A2252"/>
                </a:solidFill>
                <a:latin typeface="Aptos"/>
              </a:rPr>
              <a:t>transformação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069080"/>
            <a:ext cx="324612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20" b="1">
                <a:solidFill>
                  <a:srgbClr val="0A2252"/>
                </a:solidFill>
                <a:latin typeface="Aptos"/>
              </a:rPr>
              <a:t>Que problemas da Administração</a:t>
            </a:r>
          </a:p>
          <a:p>
            <a:pPr algn="ctr"/>
            <a:r>
              <a:rPr sz="1220" b="1">
                <a:solidFill>
                  <a:srgbClr val="0A2252"/>
                </a:solidFill>
                <a:latin typeface="Aptos"/>
              </a:rPr>
              <a:t>ainda precisam ser compreendidos?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4069080"/>
            <a:ext cx="324612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20" b="1">
                <a:solidFill>
                  <a:srgbClr val="0A2252"/>
                </a:solidFill>
                <a:latin typeface="Aptos"/>
              </a:rPr>
              <a:t>Que situações do seu trabalho</a:t>
            </a:r>
          </a:p>
          <a:p>
            <a:pPr algn="ctr"/>
            <a:r>
              <a:rPr sz="1220" b="1">
                <a:solidFill>
                  <a:srgbClr val="0A2252"/>
                </a:solidFill>
                <a:latin typeface="Aptos"/>
              </a:rPr>
              <a:t>podem virar perguntas de pesquisa?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73568" y="4069080"/>
            <a:ext cx="324612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20" b="1">
                <a:solidFill>
                  <a:srgbClr val="0A2252"/>
                </a:solidFill>
                <a:latin typeface="Aptos"/>
              </a:rPr>
              <a:t>Que conhecimento você pode produzir</a:t>
            </a:r>
          </a:p>
          <a:p>
            <a:pPr algn="ctr"/>
            <a:r>
              <a:rPr sz="1220" b="1">
                <a:solidFill>
                  <a:srgbClr val="0A2252"/>
                </a:solidFill>
                <a:latin typeface="Aptos"/>
              </a:rPr>
              <a:t>a partir da realidade que conhece?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63240" y="5394960"/>
            <a:ext cx="813816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250" b="0">
                <a:solidFill>
                  <a:srgbClr val="3B4A5F"/>
                </a:solidFill>
                <a:latin typeface="Aptos"/>
              </a:rPr>
              <a:t>Um problema recorrente pode virar projeto, análise de dados, relatório, artigo ou proposta de melhoria.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2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6304"/>
          </a:xfrm>
          <a:prstGeom prst="rect">
            <a:avLst/>
          </a:prstGeom>
          <a:solidFill>
            <a:srgbClr val="FF5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251960"/>
            <a:ext cx="3749039" cy="3749039"/>
          </a:xfrm>
          <a:prstGeom prst="ellipse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-1463040"/>
            <a:ext cx="4114800" cy="4114800"/>
          </a:xfrm>
          <a:prstGeom prst="ellipse">
            <a:avLst/>
          </a:prstGeom>
          <a:solidFill>
            <a:srgbClr val="FFF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170432"/>
            <a:ext cx="8046720" cy="7315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3000" b="1">
                <a:solidFill>
                  <a:srgbClr val="0A2252"/>
                </a:solidFill>
                <a:latin typeface="Aptos"/>
              </a:rPr>
              <a:t>CONTINUE PERGUNTANDO.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84831"/>
            <a:ext cx="7863840" cy="8686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2200" b="1">
                <a:solidFill>
                  <a:srgbClr val="0A2252"/>
                </a:solidFill>
                <a:latin typeface="Aptos"/>
              </a:rPr>
              <a:t>Continue estudando.</a:t>
            </a:r>
          </a:p>
          <a:p>
            <a:pPr algn="l"/>
            <a:r>
              <a:rPr sz="2200" b="1">
                <a:solidFill>
                  <a:srgbClr val="0A2252"/>
                </a:solidFill>
                <a:latin typeface="Aptos"/>
              </a:rPr>
              <a:t>Continue investigando.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429000"/>
            <a:ext cx="6400800" cy="594360"/>
          </a:xfrm>
          <a:prstGeom prst="roundRect">
            <a:avLst/>
          </a:prstGeom>
          <a:solidFill>
            <a:srgbClr val="FFF3ED"/>
          </a:solidFill>
          <a:ln w="9525">
            <a:solidFill>
              <a:srgbClr val="FF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/>
            <a:r>
              <a:rPr sz="1600" b="1">
                <a:solidFill>
                  <a:srgbClr val="0A2252"/>
                </a:solidFill>
                <a:latin typeface="Aptos"/>
              </a:rPr>
              <a:t>Administração também é produção de conhecimento.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343400"/>
            <a:ext cx="676656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150" b="0">
                <a:solidFill>
                  <a:srgbClr val="3B4A5F"/>
                </a:solidFill>
                <a:latin typeface="Aptos"/>
              </a:rPr>
              <a:t>Igor Caires Machado  •  cairesmachado-svg.github.io/Site_hub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676656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050" b="1">
                <a:solidFill>
                  <a:srgbClr val="0A2252"/>
                </a:solidFill>
                <a:latin typeface="Aptos"/>
              </a:rPr>
              <a:t>IV Congresso Científico · Anhanguera Asa Norte ·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32520" y="1417320"/>
            <a:ext cx="219456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l"/>
            <a:r>
              <a:rPr sz="100" b="0">
                <a:solidFill>
                  <a:srgbClr val="0A2252"/>
                </a:solidFill>
                <a:latin typeface="Aptos"/>
              </a:rPr>
              <a:t/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1600200"/>
            <a:ext cx="1828800" cy="1828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458200" y="3703320"/>
            <a:ext cx="274320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100" b="1">
                <a:solidFill>
                  <a:srgbClr val="0A2252"/>
                </a:solidFill>
                <a:latin typeface="Aptos"/>
              </a:rPr>
              <a:t>Materiais, referências e contato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4160520"/>
            <a:ext cx="3108960" cy="6858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ctr"/>
            <a:r>
              <a:rPr sz="1050" b="0">
                <a:solidFill>
                  <a:srgbClr val="3B4A5F"/>
                </a:solidFill>
                <a:latin typeface="Aptos"/>
              </a:rPr>
              <a:t>Aponte a câmera para continuar a conversa — agora como pesquisa.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989320"/>
            <a:ext cx="841248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0A2252"/>
                </a:solidFill>
                <a:latin typeface="Aptos"/>
              </a:rPr>
              <a:t>Obrigado.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96112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pt-BR" sz="2600" b="1" dirty="0">
                <a:solidFill>
                  <a:srgbClr val="0A225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DECISÃO – EXECUÇÃO - RESULTADO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58368" y="1536192"/>
            <a:ext cx="822960" cy="0"/>
          </a:xfrm>
          <a:prstGeom prst="line">
            <a:avLst/>
          </a:prstGeom>
          <a:noFill/>
          <a:ln w="4445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35A0857D-7EDC-DFF6-3CFE-A70D6D0695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77" t="22570" r="577" b="16329"/>
          <a:stretch>
            <a:fillRect/>
          </a:stretch>
        </p:blipFill>
        <p:spPr>
          <a:xfrm>
            <a:off x="199282" y="5178555"/>
            <a:ext cx="2564091" cy="1566665"/>
          </a:xfrm>
          <a:prstGeom prst="rect">
            <a:avLst/>
          </a:prstGeom>
        </p:spPr>
      </p:pic>
      <p:sp>
        <p:nvSpPr>
          <p:cNvPr id="101" name="Cartão 101"/>
          <p:cNvSpPr/>
          <p:nvPr/>
        </p:nvSpPr>
        <p:spPr>
          <a:xfrm>
            <a:off x="658368" y="1783080"/>
            <a:ext cx="3438144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2DA"/>
            </a:solidFill>
          </a:ln>
          <a:effectLst>
            <a:outerShdw blurRad="76200" dist="19050" dir="5400000" algn="t" rotWithShape="0">
              <a:srgbClr val="0A2252">
                <a:alpha val="12000"/>
              </a:srgbClr>
            </a:outerShdw>
          </a:effectLst>
        </p:spPr>
        <p:txBody>
          <a:bodyPr wrap="square" lIns="228600" tIns="228600" rIns="228600" bIns="228600" rtlCol="0" anchor="t">
            <a:noAutofit/>
          </a:bodyPr>
          <a:lstStyle/>
          <a:p>
            <a:pPr marL="0" indent="0" algn="l">
              <a:lnSpc>
                <a:spcPct val="100000"/>
              </a:lnSpc>
              <a:spcAft>
                <a:spcPts val="500"/>
              </a:spcAft>
              <a:buNone/>
            </a:pPr>
            <a:r>
              <a:rPr lang="pt-BR" sz="1700" b="1">
                <a:solidFill>
                  <a:srgbClr val="0A2252"/>
                </a:solidFill>
                <a:latin typeface="Aptos Display"/>
                <a:ea typeface="Aptos Display"/>
                <a:cs typeface="Aptos Display"/>
              </a:rPr>
              <a:t>Pressman e Wildavsky, 1973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pt-BR" sz="1700">
                <a:solidFill>
                  <a:srgbClr val="26364F"/>
                </a:solidFill>
              </a:rPr>
              <a:t>Decidir não garante executar.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pt-BR" sz="1700">
                <a:solidFill>
                  <a:srgbClr val="26364F"/>
                </a:solidFill>
              </a:rPr>
              <a:t>Múltiplos atores e pontos de coordenação podem gerar atrasos e bloqueios.</a:t>
            </a:r>
          </a:p>
        </p:txBody>
      </p:sp>
      <p:sp>
        <p:nvSpPr>
          <p:cNvPr id="102" name="Cartão 102"/>
          <p:cNvSpPr/>
          <p:nvPr/>
        </p:nvSpPr>
        <p:spPr>
          <a:xfrm>
            <a:off x="4370831" y="1783080"/>
            <a:ext cx="3438144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2DA"/>
            </a:solidFill>
          </a:ln>
          <a:effectLst>
            <a:outerShdw blurRad="76200" dist="19050" dir="5400000" algn="t" rotWithShape="0">
              <a:srgbClr val="0A2252">
                <a:alpha val="12000"/>
              </a:srgbClr>
            </a:outerShdw>
          </a:effectLst>
        </p:spPr>
        <p:txBody>
          <a:bodyPr wrap="square" lIns="228600" tIns="228600" rIns="228600" bIns="228600" rtlCol="0" anchor="t">
            <a:noAutofit/>
          </a:bodyPr>
          <a:lstStyle/>
          <a:p>
            <a:pPr marL="0" indent="0" algn="l">
              <a:lnSpc>
                <a:spcPct val="100000"/>
              </a:lnSpc>
              <a:spcAft>
                <a:spcPts val="500"/>
              </a:spcAft>
              <a:buNone/>
            </a:pPr>
            <a:r>
              <a:rPr lang="pt-BR" sz="1700" b="1">
                <a:solidFill>
                  <a:srgbClr val="0A2252"/>
                </a:solidFill>
                <a:latin typeface="Aptos Display"/>
                <a:ea typeface="Aptos Display"/>
                <a:cs typeface="Aptos Display"/>
              </a:rPr>
              <a:t>Lipsky, 1980</a:t>
            </a:r>
          </a:p>
          <a:p>
            <a:pPr lvl="0">
              <a:lnSpc>
                <a:spcPct val="105000"/>
              </a:lnSpc>
            </a:pPr>
            <a:r>
              <a:rPr lang="pt-BR" sz="1700">
                <a:solidFill>
                  <a:srgbClr val="26364F"/>
                </a:solidFill>
              </a:rPr>
              <a:t>A linha de frente produz a política.</a:t>
            </a:r>
          </a:p>
          <a:p>
            <a:pPr lvl="0">
              <a:lnSpc>
                <a:spcPct val="105000"/>
              </a:lnSpc>
            </a:pPr>
            <a:r>
              <a:rPr lang="pt-BR" sz="1700">
                <a:solidFill>
                  <a:srgbClr val="26364F"/>
                </a:solidFill>
              </a:rPr>
              <a:t>Demanda, recursos escassos e regras incompletas influenciam as decisões cotidianas.</a:t>
            </a:r>
          </a:p>
        </p:txBody>
      </p:sp>
      <p:sp>
        <p:nvSpPr>
          <p:cNvPr id="103" name="Cartão 103"/>
          <p:cNvSpPr/>
          <p:nvPr/>
        </p:nvSpPr>
        <p:spPr>
          <a:xfrm>
            <a:off x="8083296" y="1783080"/>
            <a:ext cx="3438144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2DA"/>
            </a:solidFill>
          </a:ln>
          <a:effectLst>
            <a:outerShdw blurRad="76200" dist="19050" dir="5400000" algn="t" rotWithShape="0">
              <a:srgbClr val="0A2252">
                <a:alpha val="12000"/>
              </a:srgbClr>
            </a:outerShdw>
          </a:effectLst>
        </p:spPr>
        <p:txBody>
          <a:bodyPr wrap="square" lIns="228600" tIns="228600" rIns="228600" bIns="228600" rtlCol="0" anchor="t">
            <a:noAutofit/>
          </a:bodyPr>
          <a:lstStyle/>
          <a:p>
            <a:pPr marL="0" indent="0" algn="l">
              <a:lnSpc>
                <a:spcPct val="100000"/>
              </a:lnSpc>
              <a:spcAft>
                <a:spcPts val="500"/>
              </a:spcAft>
              <a:buNone/>
            </a:pPr>
            <a:r>
              <a:rPr lang="pt-BR" sz="1700" b="1">
                <a:solidFill>
                  <a:srgbClr val="0A2252"/>
                </a:solidFill>
                <a:latin typeface="Aptos Display"/>
                <a:ea typeface="Aptos Display"/>
                <a:cs typeface="Aptos Display"/>
              </a:rPr>
              <a:t>Hill e Hupe, 2022</a:t>
            </a:r>
          </a:p>
          <a:p>
            <a:pPr>
              <a:lnSpc>
                <a:spcPct val="105000"/>
              </a:lnSpc>
            </a:pPr>
            <a:r>
              <a:rPr lang="pt-BR" sz="1700">
                <a:solidFill>
                  <a:srgbClr val="26364F"/>
                </a:solidFill>
              </a:rPr>
              <a:t>O contexto condiciona a execução.</a:t>
            </a:r>
          </a:p>
          <a:p>
            <a:pPr>
              <a:lnSpc>
                <a:spcPct val="105000"/>
              </a:lnSpc>
            </a:pPr>
            <a:r>
              <a:rPr lang="pt-BR" sz="1700">
                <a:solidFill>
                  <a:srgbClr val="26364F"/>
                </a:solidFill>
              </a:rPr>
              <a:t>Regras, capacidades e relações institucionais ajudam a explicar diferenças entre unidades.</a:t>
            </a:r>
          </a:p>
        </p:txBody>
      </p:sp>
      <p:sp>
        <p:nvSpPr>
          <p:cNvPr id="104" name="Texto 104"/>
          <p:cNvSpPr txBox="1"/>
          <p:nvPr/>
        </p:nvSpPr>
        <p:spPr>
          <a:xfrm>
            <a:off x="658368" y="4572000"/>
            <a:ext cx="1086307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pt-BR" sz="2000" b="1" dirty="0">
                <a:solidFill>
                  <a:srgbClr val="FF5A1F"/>
                </a:solidFill>
                <a:latin typeface="Aptos Display"/>
                <a:ea typeface="Aptos Display"/>
                <a:cs typeface="Aptos Display"/>
              </a:rPr>
              <a:t>É nesse intervalo que o administrador trabalha.</a:t>
            </a:r>
          </a:p>
        </p:txBody>
      </p:sp>
      <p:sp>
        <p:nvSpPr>
          <p:cNvPr id="105" name="Roteiro 105"/>
          <p:cNvSpPr/>
          <p:nvPr/>
        </p:nvSpPr>
        <p:spPr>
          <a:xfrm>
            <a:off x="7269480" y="5230368"/>
            <a:ext cx="425196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D1BE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171450" indent="-171450" algn="l">
              <a:spcAft>
                <a:spcPts val="150"/>
              </a:spcAft>
              <a:buFont typeface="Arial"/>
              <a:buChar char="•"/>
            </a:pPr>
            <a:r>
              <a:rPr lang="pt-BR" sz="1050" dirty="0">
                <a:solidFill>
                  <a:srgbClr val="26364F"/>
                </a:solidFill>
              </a:rPr>
              <a:t>Decisão e execução (Pressman; Wildavsky, 1973)</a:t>
            </a:r>
          </a:p>
          <a:p>
            <a:pPr marL="171450" indent="-171450" algn="l">
              <a:spcAft>
                <a:spcPts val="150"/>
              </a:spcAft>
              <a:buFont typeface="Arial"/>
              <a:buChar char="•"/>
            </a:pPr>
            <a:r>
              <a:rPr lang="pt-BR" sz="1050" dirty="0">
                <a:solidFill>
                  <a:srgbClr val="26364F"/>
                </a:solidFill>
              </a:rPr>
              <a:t>Linha de frente e discricionariedade (Lipsky, 1980)</a:t>
            </a:r>
          </a:p>
          <a:p>
            <a:pPr marL="171450" indent="-171450" algn="l">
              <a:spcAft>
                <a:spcPts val="150"/>
              </a:spcAft>
              <a:buFont typeface="Arial"/>
              <a:buChar char="•"/>
            </a:pPr>
            <a:r>
              <a:rPr lang="pt-BR" sz="1050" dirty="0">
                <a:solidFill>
                  <a:srgbClr val="26364F"/>
                </a:solidFill>
              </a:rPr>
              <a:t>Condições institucionais (Hill; Hupe, 2022)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96112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pt-BR" sz="2600" b="1" dirty="0">
                <a:solidFill>
                  <a:srgbClr val="0A225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LITERATURA TRATA O ESPAÇO DE FORMA FRAGMENTADA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58368" y="1536192"/>
            <a:ext cx="822960" cy="0"/>
          </a:xfrm>
          <a:prstGeom prst="line">
            <a:avLst/>
          </a:prstGeom>
          <a:noFill/>
          <a:ln w="4445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35A0857D-7EDC-DFF6-3CFE-A70D6D0695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77" t="22570" r="577" b="16329"/>
          <a:stretch>
            <a:fillRect/>
          </a:stretch>
        </p:blipFill>
        <p:spPr>
          <a:xfrm>
            <a:off x="199282" y="5178555"/>
            <a:ext cx="2564091" cy="1566665"/>
          </a:xfrm>
          <a:prstGeom prst="rect">
            <a:avLst/>
          </a:prstGeom>
        </p:spPr>
      </p:pic>
      <p:sp>
        <p:nvSpPr>
          <p:cNvPr id="101" name="Cabeçalho 101"/>
          <p:cNvSpPr/>
          <p:nvPr/>
        </p:nvSpPr>
        <p:spPr>
          <a:xfrm>
            <a:off x="658368" y="1783080"/>
            <a:ext cx="2377440" cy="411480"/>
          </a:xfrm>
          <a:prstGeom prst="rect">
            <a:avLst/>
          </a:prstGeom>
          <a:solidFill>
            <a:srgbClr val="0A2252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0" indent="0" algn="l">
              <a:buNone/>
            </a:pPr>
            <a:r>
              <a:rPr lang="pt-BR" sz="1200" b="1" dirty="0">
                <a:solidFill>
                  <a:srgbClr val="FFFFFF"/>
                </a:solidFill>
              </a:rPr>
              <a:t>Frente de estudo</a:t>
            </a:r>
          </a:p>
        </p:txBody>
      </p:sp>
      <p:sp>
        <p:nvSpPr>
          <p:cNvPr id="102" name="Cabeçalho 102"/>
          <p:cNvSpPr/>
          <p:nvPr/>
        </p:nvSpPr>
        <p:spPr>
          <a:xfrm>
            <a:off x="3035808" y="1783080"/>
            <a:ext cx="6263640" cy="411480"/>
          </a:xfrm>
          <a:prstGeom prst="rect">
            <a:avLst/>
          </a:prstGeom>
          <a:solidFill>
            <a:srgbClr val="0A2252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0" indent="0" algn="l">
              <a:buNone/>
            </a:pPr>
            <a:r>
              <a:rPr lang="pt-BR" sz="1200" b="1" dirty="0">
                <a:solidFill>
                  <a:srgbClr val="FFFFFF"/>
                </a:solidFill>
              </a:rPr>
              <a:t>O que indicou</a:t>
            </a:r>
          </a:p>
        </p:txBody>
      </p:sp>
      <p:sp>
        <p:nvSpPr>
          <p:cNvPr id="103" name="Cabeçalho 103"/>
          <p:cNvSpPr/>
          <p:nvPr/>
        </p:nvSpPr>
        <p:spPr>
          <a:xfrm>
            <a:off x="9299448" y="1783080"/>
            <a:ext cx="2011680" cy="411480"/>
          </a:xfrm>
          <a:prstGeom prst="rect">
            <a:avLst/>
          </a:prstGeom>
          <a:solidFill>
            <a:srgbClr val="0A2252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0" indent="0" algn="l">
              <a:buNone/>
            </a:pPr>
            <a:r>
              <a:rPr lang="pt-BR" sz="1200" b="1" dirty="0">
                <a:solidFill>
                  <a:srgbClr val="FFFFFF"/>
                </a:solidFill>
              </a:rPr>
              <a:t>Estágio</a:t>
            </a:r>
          </a:p>
        </p:txBody>
      </p:sp>
      <p:sp>
        <p:nvSpPr>
          <p:cNvPr id="104" name="Célula 104"/>
          <p:cNvSpPr/>
          <p:nvPr/>
        </p:nvSpPr>
        <p:spPr>
          <a:xfrm>
            <a:off x="658368" y="2194560"/>
            <a:ext cx="2377440" cy="603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0" indent="0" algn="l">
              <a:buNone/>
            </a:pPr>
            <a:r>
              <a:rPr lang="pt-BR" sz="1300" b="1" dirty="0">
                <a:solidFill>
                  <a:srgbClr val="0A2252"/>
                </a:solidFill>
              </a:rPr>
              <a:t>Política judiciária</a:t>
            </a:r>
          </a:p>
        </p:txBody>
      </p:sp>
      <p:sp>
        <p:nvSpPr>
          <p:cNvPr id="105" name="Célula 105"/>
          <p:cNvSpPr/>
          <p:nvPr/>
        </p:nvSpPr>
        <p:spPr>
          <a:xfrm>
            <a:off x="3035808" y="2194560"/>
            <a:ext cx="6263640" cy="603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0" indent="0" algn="l">
              <a:buNone/>
            </a:pPr>
            <a:r>
              <a:rPr lang="pt-BR" sz="1300" dirty="0">
                <a:solidFill>
                  <a:srgbClr val="26364F"/>
                </a:solidFill>
              </a:rPr>
              <a:t>Termos de infraestrutura física ausentes dos núcleos temáticos da literatura</a:t>
            </a:r>
          </a:p>
        </p:txBody>
      </p:sp>
      <p:sp>
        <p:nvSpPr>
          <p:cNvPr id="106" name="Célula 106"/>
          <p:cNvSpPr/>
          <p:nvPr/>
        </p:nvSpPr>
        <p:spPr>
          <a:xfrm>
            <a:off x="9299448" y="2194560"/>
            <a:ext cx="2011680" cy="603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07" name="Etiqueta 107"/>
          <p:cNvSpPr/>
          <p:nvPr/>
        </p:nvSpPr>
        <p:spPr>
          <a:xfrm>
            <a:off x="9409176" y="2331720"/>
            <a:ext cx="1792224" cy="329184"/>
          </a:xfrm>
          <a:prstGeom prst="roundRect">
            <a:avLst>
              <a:gd name="adj" fmla="val 50000"/>
            </a:avLst>
          </a:prstGeom>
          <a:solidFill>
            <a:srgbClr val="0A2252"/>
          </a:solidFill>
          <a:ln>
            <a:noFill/>
          </a:ln>
        </p:spPr>
        <p:txBody>
          <a:bodyPr wrap="square" lIns="36576" tIns="36576" rIns="36576" bIns="36576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</a:rPr>
              <a:t>Resultado reproduzível</a:t>
            </a:r>
          </a:p>
        </p:txBody>
      </p:sp>
      <p:sp>
        <p:nvSpPr>
          <p:cNvPr id="108" name="Célula 108"/>
          <p:cNvSpPr/>
          <p:nvPr/>
        </p:nvSpPr>
        <p:spPr>
          <a:xfrm>
            <a:off x="658368" y="2798064"/>
            <a:ext cx="2377440" cy="603504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0" indent="0" algn="l">
              <a:buNone/>
            </a:pPr>
            <a:r>
              <a:rPr lang="pt-BR" sz="1300" b="1" dirty="0">
                <a:solidFill>
                  <a:srgbClr val="0A2252"/>
                </a:solidFill>
              </a:rPr>
              <a:t>Implementação</a:t>
            </a:r>
          </a:p>
        </p:txBody>
      </p:sp>
      <p:sp>
        <p:nvSpPr>
          <p:cNvPr id="109" name="Célula 109"/>
          <p:cNvSpPr/>
          <p:nvPr/>
        </p:nvSpPr>
        <p:spPr>
          <a:xfrm>
            <a:off x="3035808" y="2798064"/>
            <a:ext cx="6263640" cy="603504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0" indent="0" algn="l">
              <a:buNone/>
            </a:pPr>
            <a:r>
              <a:rPr lang="pt-BR" sz="1300" dirty="0">
                <a:solidFill>
                  <a:srgbClr val="26364F"/>
                </a:solidFill>
              </a:rPr>
              <a:t>Proporção muito baixa de trabalhos que tratam o espaço como variável ativa</a:t>
            </a:r>
          </a:p>
        </p:txBody>
      </p:sp>
      <p:sp>
        <p:nvSpPr>
          <p:cNvPr id="110" name="Célula 110"/>
          <p:cNvSpPr/>
          <p:nvPr/>
        </p:nvSpPr>
        <p:spPr>
          <a:xfrm>
            <a:off x="9299448" y="2798064"/>
            <a:ext cx="2011680" cy="603504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11" name="Etiqueta 111"/>
          <p:cNvSpPr/>
          <p:nvPr/>
        </p:nvSpPr>
        <p:spPr>
          <a:xfrm>
            <a:off x="9409176" y="2935224"/>
            <a:ext cx="1792224" cy="329184"/>
          </a:xfrm>
          <a:prstGeom prst="roundRect">
            <a:avLst>
              <a:gd name="adj" fmla="val 50000"/>
            </a:avLst>
          </a:prstGeom>
          <a:solidFill>
            <a:srgbClr val="FFF3ED"/>
          </a:solidFill>
          <a:ln>
            <a:noFill/>
          </a:ln>
        </p:spPr>
        <p:txBody>
          <a:bodyPr wrap="square" lIns="36576" tIns="36576" rIns="36576" bIns="36576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5A1F"/>
                </a:solidFill>
              </a:rPr>
              <a:t>Preliminar</a:t>
            </a:r>
          </a:p>
        </p:txBody>
      </p:sp>
      <p:sp>
        <p:nvSpPr>
          <p:cNvPr id="112" name="Célula 112"/>
          <p:cNvSpPr/>
          <p:nvPr/>
        </p:nvSpPr>
        <p:spPr>
          <a:xfrm>
            <a:off x="658368" y="3401568"/>
            <a:ext cx="2377440" cy="603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0" indent="0" algn="l">
              <a:buNone/>
            </a:pPr>
            <a:r>
              <a:rPr lang="pt-BR" sz="1300" b="1" dirty="0">
                <a:solidFill>
                  <a:srgbClr val="0A2252"/>
                </a:solidFill>
              </a:rPr>
              <a:t>Evidências empíricas</a:t>
            </a:r>
          </a:p>
        </p:txBody>
      </p:sp>
      <p:sp>
        <p:nvSpPr>
          <p:cNvPr id="113" name="Célula 113"/>
          <p:cNvSpPr/>
          <p:nvPr/>
        </p:nvSpPr>
        <p:spPr>
          <a:xfrm>
            <a:off x="3035808" y="3401568"/>
            <a:ext cx="6263640" cy="603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0" indent="0" algn="l">
              <a:buNone/>
            </a:pPr>
            <a:r>
              <a:rPr lang="pt-BR" sz="1300" dirty="0">
                <a:solidFill>
                  <a:srgbClr val="26364F"/>
                </a:solidFill>
              </a:rPr>
              <a:t>Evidência densa só no trabalho dos servidores, com lacunas nas demais dimensões</a:t>
            </a:r>
          </a:p>
        </p:txBody>
      </p:sp>
      <p:sp>
        <p:nvSpPr>
          <p:cNvPr id="114" name="Célula 114"/>
          <p:cNvSpPr/>
          <p:nvPr/>
        </p:nvSpPr>
        <p:spPr>
          <a:xfrm>
            <a:off x="9299448" y="3401568"/>
            <a:ext cx="2011680" cy="603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15" name="Etiqueta 115"/>
          <p:cNvSpPr/>
          <p:nvPr/>
        </p:nvSpPr>
        <p:spPr>
          <a:xfrm>
            <a:off x="9409176" y="3538728"/>
            <a:ext cx="1792224" cy="329184"/>
          </a:xfrm>
          <a:prstGeom prst="roundRect">
            <a:avLst>
              <a:gd name="adj" fmla="val 50000"/>
            </a:avLst>
          </a:prstGeom>
          <a:solidFill>
            <a:srgbClr val="FFF3ED"/>
          </a:solidFill>
          <a:ln>
            <a:noFill/>
          </a:ln>
        </p:spPr>
        <p:txBody>
          <a:bodyPr wrap="square" lIns="36576" tIns="36576" rIns="36576" bIns="36576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5A1F"/>
                </a:solidFill>
              </a:rPr>
              <a:t>Preliminar</a:t>
            </a:r>
          </a:p>
        </p:txBody>
      </p:sp>
      <p:sp>
        <p:nvSpPr>
          <p:cNvPr id="116" name="Célula 116"/>
          <p:cNvSpPr/>
          <p:nvPr/>
        </p:nvSpPr>
        <p:spPr>
          <a:xfrm>
            <a:off x="658368" y="4005072"/>
            <a:ext cx="2377440" cy="603504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0" indent="0" algn="l">
              <a:buNone/>
            </a:pPr>
            <a:r>
              <a:rPr lang="pt-BR" sz="1300" b="1" dirty="0">
                <a:solidFill>
                  <a:srgbClr val="0A2252"/>
                </a:solidFill>
              </a:rPr>
              <a:t>Sociomaterialidade</a:t>
            </a:r>
          </a:p>
        </p:txBody>
      </p:sp>
      <p:sp>
        <p:nvSpPr>
          <p:cNvPr id="117" name="Célula 117"/>
          <p:cNvSpPr/>
          <p:nvPr/>
        </p:nvSpPr>
        <p:spPr>
          <a:xfrm>
            <a:off x="3035808" y="4005072"/>
            <a:ext cx="6263640" cy="603504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0" indent="0" algn="l">
              <a:buNone/>
            </a:pPr>
            <a:r>
              <a:rPr lang="pt-BR" sz="1300" dirty="0">
                <a:solidFill>
                  <a:srgbClr val="26364F"/>
                </a:solidFill>
              </a:rPr>
              <a:t>Ligação escassa com o espaço dos serviços públicos</a:t>
            </a:r>
          </a:p>
        </p:txBody>
      </p:sp>
      <p:sp>
        <p:nvSpPr>
          <p:cNvPr id="118" name="Célula 118"/>
          <p:cNvSpPr/>
          <p:nvPr/>
        </p:nvSpPr>
        <p:spPr>
          <a:xfrm>
            <a:off x="9299448" y="4005072"/>
            <a:ext cx="2011680" cy="603504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19" name="Etiqueta 119"/>
          <p:cNvSpPr/>
          <p:nvPr/>
        </p:nvSpPr>
        <p:spPr>
          <a:xfrm>
            <a:off x="9409176" y="4142232"/>
            <a:ext cx="1792224" cy="329184"/>
          </a:xfrm>
          <a:prstGeom prst="roundRect">
            <a:avLst>
              <a:gd name="adj" fmla="val 50000"/>
            </a:avLst>
          </a:prstGeom>
          <a:solidFill>
            <a:srgbClr val="FFF3ED"/>
          </a:solidFill>
          <a:ln>
            <a:noFill/>
          </a:ln>
        </p:spPr>
        <p:txBody>
          <a:bodyPr wrap="square" lIns="36576" tIns="36576" rIns="36576" bIns="36576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5A1F"/>
                </a:solidFill>
              </a:rPr>
              <a:t>Preliminar</a:t>
            </a:r>
          </a:p>
        </p:txBody>
      </p:sp>
      <p:sp>
        <p:nvSpPr>
          <p:cNvPr id="120" name="Roteiro 120"/>
          <p:cNvSpPr/>
          <p:nvPr/>
        </p:nvSpPr>
        <p:spPr>
          <a:xfrm>
            <a:off x="7269480" y="5230368"/>
            <a:ext cx="425196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D1BE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171450" indent="-171450" algn="l">
              <a:spcAft>
                <a:spcPts val="150"/>
              </a:spcAft>
              <a:buFont typeface="Arial"/>
              <a:buChar char="•"/>
            </a:pPr>
            <a:r>
              <a:rPr lang="pt-BR" sz="1050" dirty="0">
                <a:solidFill>
                  <a:srgbClr val="26364F"/>
                </a:solidFill>
              </a:rPr>
              <a:t>Revisão de escopo (Tricco et al., 2018)</a:t>
            </a:r>
          </a:p>
          <a:p>
            <a:pPr marL="171450" indent="-171450" algn="l">
              <a:spcAft>
                <a:spcPts val="150"/>
              </a:spcAft>
              <a:buFont typeface="Arial"/>
              <a:buChar char="•"/>
            </a:pPr>
            <a:r>
              <a:rPr lang="pt-BR" sz="1050" dirty="0">
                <a:solidFill>
                  <a:srgbClr val="26364F"/>
                </a:solidFill>
              </a:rPr>
              <a:t>Dispersão entre periódicos (Bradford, 1934)</a:t>
            </a:r>
          </a:p>
          <a:p>
            <a:pPr marL="171450" indent="-171450" algn="l">
              <a:spcAft>
                <a:spcPts val="150"/>
              </a:spcAft>
              <a:buFont typeface="Arial"/>
              <a:buChar char="•"/>
            </a:pPr>
            <a:r>
              <a:rPr lang="pt-BR" sz="1050" dirty="0">
                <a:solidFill>
                  <a:srgbClr val="26364F"/>
                </a:solidFill>
              </a:rPr>
              <a:t>Formação de um campo científico (Whitley, 1984)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96112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pt-BR" sz="2600" b="1" dirty="0">
                <a:solidFill>
                  <a:srgbClr val="0A225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PESQUISA DE PÓS-DOUTORADO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58368" y="1536192"/>
            <a:ext cx="822960" cy="0"/>
          </a:xfrm>
          <a:prstGeom prst="line">
            <a:avLst/>
          </a:prstGeom>
          <a:noFill/>
          <a:ln w="4445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35A0857D-7EDC-DFF6-3CFE-A70D6D0695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77" t="22570" r="577" b="16329"/>
          <a:stretch>
            <a:fillRect/>
          </a:stretch>
        </p:blipFill>
        <p:spPr>
          <a:xfrm>
            <a:off x="199282" y="5178555"/>
            <a:ext cx="2564091" cy="1566665"/>
          </a:xfrm>
          <a:prstGeom prst="rect">
            <a:avLst/>
          </a:prstGeom>
        </p:spPr>
      </p:pic>
      <p:pic>
        <p:nvPicPr>
          <p:cNvPr id="101" name="Imagem 101" descr="Capa do relatório do Ano 1 do pós-doutorad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1691640"/>
            <a:ext cx="2432304" cy="3438144"/>
          </a:xfrm>
          <a:prstGeom prst="rect">
            <a:avLst/>
          </a:prstGeom>
          <a:ln w="12700">
            <a:solidFill>
              <a:srgbClr val="E7E2DA"/>
            </a:solidFill>
          </a:ln>
        </p:spPr>
      </p:pic>
      <p:sp>
        <p:nvSpPr>
          <p:cNvPr id="102" name="Texto 102"/>
          <p:cNvSpPr txBox="1"/>
          <p:nvPr/>
        </p:nvSpPr>
        <p:spPr>
          <a:xfrm>
            <a:off x="3520440" y="1783080"/>
            <a:ext cx="8001000" cy="320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800"/>
              </a:spcAft>
              <a:buNone/>
            </a:pPr>
            <a:r>
              <a:rPr lang="pt-BR" sz="1100" b="1" dirty="0">
                <a:solidFill>
                  <a:srgbClr val="FF5A1F"/>
                </a:solidFill>
              </a:rPr>
              <a:t>PESQUISA DE PÓS-DOUTORADO · ENAP</a:t>
            </a:r>
          </a:p>
          <a:p>
            <a:pPr marL="0" indent="0" algn="l">
              <a:lnSpc>
                <a:spcPct val="100000"/>
              </a:lnSpc>
              <a:spcAft>
                <a:spcPts val="1200"/>
              </a:spcAft>
              <a:buNone/>
            </a:pPr>
            <a:r>
              <a:rPr lang="pt-BR" sz="2600" b="1" dirty="0">
                <a:solidFill>
                  <a:srgbClr val="0A2252"/>
                </a:solidFill>
                <a:latin typeface="Aptos Display"/>
                <a:ea typeface="Aptos Display"/>
                <a:cs typeface="Aptos Display"/>
              </a:rPr>
              <a:t>Das arquiteturas judiciárias às arenas sociomateriais de implementação</a:t>
            </a:r>
          </a:p>
          <a:p>
            <a:pPr marL="0" indent="0" algn="l">
              <a:lnSpc>
                <a:spcPct val="110000"/>
              </a:lnSpc>
              <a:spcAft>
                <a:spcPts val="1000"/>
              </a:spcAft>
              <a:buNone/>
            </a:pPr>
            <a:r>
              <a:rPr lang="pt-BR" sz="1600" dirty="0">
                <a:solidFill>
                  <a:srgbClr val="26364F"/>
                </a:solidFill>
              </a:rPr>
              <a:t>Desenvolvimento do framework ARENAS e sua ampliação pela governança regulatória.</a:t>
            </a:r>
          </a:p>
          <a:p>
            <a:pPr marL="0" indent="0" algn="l">
              <a:lnSpc>
                <a:spcPct val="110000"/>
              </a:lnSpc>
              <a:buNone/>
            </a:pPr>
            <a:r>
              <a:rPr lang="pt-BR" sz="1300" dirty="0">
                <a:solidFill>
                  <a:srgbClr val="667085"/>
                </a:solidFill>
              </a:rPr>
              <a:t>Linha de Governança e práticas de avaliação de políticas públicas. Supervisão da Prof.ª Dr.ª Regina Luna Santos de Souza.</a:t>
            </a:r>
          </a:p>
        </p:txBody>
      </p:sp>
      <p:sp>
        <p:nvSpPr>
          <p:cNvPr id="103" name="Roteiro 103"/>
          <p:cNvSpPr/>
          <p:nvPr/>
        </p:nvSpPr>
        <p:spPr>
          <a:xfrm>
            <a:off x="7269480" y="5230368"/>
            <a:ext cx="425196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D1BE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171450" indent="-171450" algn="l">
              <a:spcAft>
                <a:spcPts val="150"/>
              </a:spcAft>
              <a:buFont typeface="Arial"/>
              <a:buChar char="•"/>
            </a:pPr>
            <a:r>
              <a:rPr lang="pt-BR" sz="1050" dirty="0">
                <a:solidFill>
                  <a:srgbClr val="26364F"/>
                </a:solidFill>
              </a:rPr>
              <a:t>Origem: arquitetura judiciária e escala ARQJUD</a:t>
            </a:r>
          </a:p>
          <a:p>
            <a:pPr marL="171450" indent="-171450" algn="l">
              <a:spcAft>
                <a:spcPts val="150"/>
              </a:spcAft>
              <a:buFont typeface="Arial"/>
              <a:buChar char="•"/>
            </a:pPr>
            <a:r>
              <a:rPr lang="pt-BR" sz="1050" dirty="0">
                <a:solidFill>
                  <a:srgbClr val="26364F"/>
                </a:solidFill>
              </a:rPr>
              <a:t>O framework ARENAS e sua operacionalização</a:t>
            </a:r>
          </a:p>
          <a:p>
            <a:pPr marL="171450" indent="-171450" algn="l">
              <a:spcAft>
                <a:spcPts val="150"/>
              </a:spcAft>
              <a:buFont typeface="Arial"/>
              <a:buChar char="•"/>
            </a:pPr>
            <a:r>
              <a:rPr lang="pt-BR" sz="1050" dirty="0">
                <a:solidFill>
                  <a:srgbClr val="26364F"/>
                </a:solidFill>
              </a:rPr>
              <a:t>Ampliação pela governança regulatória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96112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pt-BR" sz="2600" b="1" dirty="0">
                <a:solidFill>
                  <a:srgbClr val="0A225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CINCO COMPONENTES FORMAM A ARENA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58368" y="1536192"/>
            <a:ext cx="822960" cy="0"/>
          </a:xfrm>
          <a:prstGeom prst="line">
            <a:avLst/>
          </a:prstGeom>
          <a:noFill/>
          <a:ln w="4445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35A0857D-7EDC-DFF6-3CFE-A70D6D0695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77" t="22570" r="577" b="16329"/>
          <a:stretch>
            <a:fillRect/>
          </a:stretch>
        </p:blipFill>
        <p:spPr>
          <a:xfrm>
            <a:off x="199282" y="5178555"/>
            <a:ext cx="2564091" cy="1566665"/>
          </a:xfrm>
          <a:prstGeom prst="rect">
            <a:avLst/>
          </a:prstGeom>
        </p:spPr>
      </p:pic>
      <p:sp>
        <p:nvSpPr>
          <p:cNvPr id="101" name="Cartão 101"/>
          <p:cNvSpPr/>
          <p:nvPr/>
        </p:nvSpPr>
        <p:spPr>
          <a:xfrm>
            <a:off x="658368" y="1783080"/>
            <a:ext cx="202631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2DA"/>
            </a:solidFill>
          </a:ln>
          <a:effectLst>
            <a:outerShdw blurRad="76200" dist="19050" dir="5400000" algn="t" rotWithShape="0">
              <a:srgbClr val="0A2252">
                <a:alpha val="12000"/>
              </a:srgbClr>
            </a:outerShdw>
          </a:effectLst>
        </p:spPr>
        <p:txBody>
          <a:bodyPr wrap="square" lIns="164592" tIns="164592" rIns="164592" bIns="164592" rtlCol="0" anchor="t">
            <a:normAutofit/>
          </a:bodyPr>
          <a:lstStyle/>
          <a:p>
            <a:pPr marL="0" indent="0" algn="l">
              <a:lnSpc>
                <a:spcPct val="100000"/>
              </a:lnSpc>
              <a:spcAft>
                <a:spcPts val="500"/>
              </a:spcAft>
              <a:buNone/>
            </a:pPr>
            <a:r>
              <a:rPr lang="pt-BR" sz="1800" b="1">
                <a:solidFill>
                  <a:srgbClr val="0A2252"/>
                </a:solidFill>
                <a:latin typeface="Aptos Display"/>
                <a:ea typeface="Aptos Display"/>
                <a:cs typeface="Aptos Display"/>
              </a:rPr>
              <a:t>Atores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pt-BR" sz="1800">
                <a:solidFill>
                  <a:srgbClr val="26364F"/>
                </a:solidFill>
              </a:rPr>
              <a:t>Quem participa?</a:t>
            </a:r>
          </a:p>
        </p:txBody>
      </p:sp>
      <p:sp>
        <p:nvSpPr>
          <p:cNvPr id="102" name="Cartão 102"/>
          <p:cNvSpPr/>
          <p:nvPr/>
        </p:nvSpPr>
        <p:spPr>
          <a:xfrm>
            <a:off x="2867558" y="1783080"/>
            <a:ext cx="202631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2DA"/>
            </a:solidFill>
          </a:ln>
          <a:effectLst>
            <a:outerShdw blurRad="76200" dist="19050" dir="5400000" algn="t" rotWithShape="0">
              <a:srgbClr val="0A2252">
                <a:alpha val="12000"/>
              </a:srgbClr>
            </a:outerShdw>
          </a:effectLst>
        </p:spPr>
        <p:txBody>
          <a:bodyPr wrap="square" lIns="164592" tIns="164592" rIns="164592" bIns="164592" rtlCol="0" anchor="t">
            <a:normAutofit/>
          </a:bodyPr>
          <a:lstStyle/>
          <a:p>
            <a:pPr marL="0" indent="0" algn="l">
              <a:lnSpc>
                <a:spcPct val="100000"/>
              </a:lnSpc>
              <a:spcAft>
                <a:spcPts val="500"/>
              </a:spcAft>
              <a:buNone/>
            </a:pPr>
            <a:r>
              <a:rPr lang="pt-BR" sz="1800" b="1">
                <a:solidFill>
                  <a:srgbClr val="0A2252"/>
                </a:solidFill>
                <a:latin typeface="Aptos Display"/>
                <a:ea typeface="Aptos Display"/>
                <a:cs typeface="Aptos Display"/>
              </a:rPr>
              <a:t>Prescrições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pt-BR" sz="1800">
                <a:solidFill>
                  <a:srgbClr val="26364F"/>
                </a:solidFill>
              </a:rPr>
              <a:t>Que regras orientam?</a:t>
            </a:r>
          </a:p>
        </p:txBody>
      </p:sp>
      <p:sp>
        <p:nvSpPr>
          <p:cNvPr id="103" name="Cartão 103"/>
          <p:cNvSpPr/>
          <p:nvPr/>
        </p:nvSpPr>
        <p:spPr>
          <a:xfrm>
            <a:off x="5076749" y="1783080"/>
            <a:ext cx="2026310" cy="1965960"/>
          </a:xfrm>
          <a:prstGeom prst="roundRect">
            <a:avLst>
              <a:gd name="adj" fmla="val 6000"/>
            </a:avLst>
          </a:prstGeom>
          <a:solidFill>
            <a:srgbClr val="0A2252"/>
          </a:solidFill>
          <a:ln>
            <a:noFill/>
          </a:ln>
        </p:spPr>
        <p:txBody>
          <a:bodyPr wrap="square" lIns="164592" tIns="164592" rIns="164592" bIns="164592" rtlCol="0" anchor="t">
            <a:normAutofit/>
          </a:bodyPr>
          <a:lstStyle/>
          <a:p>
            <a:pPr marL="0" indent="0" algn="l">
              <a:lnSpc>
                <a:spcPct val="100000"/>
              </a:lnSpc>
              <a:spcAft>
                <a:spcPts val="500"/>
              </a:spcAft>
              <a:buNone/>
            </a:pPr>
            <a:r>
              <a:rPr lang="pt-BR" sz="1800" b="1">
                <a:solidFill>
                  <a:srgbClr val="FF5A1F"/>
                </a:solidFill>
                <a:latin typeface="Aptos Display"/>
                <a:ea typeface="Aptos Display"/>
                <a:cs typeface="Aptos Display"/>
              </a:rPr>
              <a:t>Materialidades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pt-BR" sz="1800">
                <a:solidFill>
                  <a:srgbClr val="FFFFFF"/>
                </a:solidFill>
              </a:rPr>
              <a:t>Que espaços e artefatos existem?</a:t>
            </a:r>
          </a:p>
        </p:txBody>
      </p:sp>
      <p:sp>
        <p:nvSpPr>
          <p:cNvPr id="104" name="Cartão 104"/>
          <p:cNvSpPr/>
          <p:nvPr/>
        </p:nvSpPr>
        <p:spPr>
          <a:xfrm>
            <a:off x="7285939" y="1783080"/>
            <a:ext cx="2026310" cy="1965960"/>
          </a:xfrm>
          <a:prstGeom prst="roundRect">
            <a:avLst>
              <a:gd name="adj" fmla="val 6000"/>
            </a:avLst>
          </a:prstGeom>
          <a:solidFill>
            <a:srgbClr val="0A2252"/>
          </a:solidFill>
          <a:ln>
            <a:noFill/>
          </a:ln>
        </p:spPr>
        <p:txBody>
          <a:bodyPr wrap="square" lIns="164592" tIns="164592" rIns="164592" bIns="164592" rtlCol="0" anchor="t">
            <a:normAutofit/>
          </a:bodyPr>
          <a:lstStyle/>
          <a:p>
            <a:pPr marL="0" indent="0" algn="l">
              <a:lnSpc>
                <a:spcPct val="100000"/>
              </a:lnSpc>
              <a:spcAft>
                <a:spcPts val="500"/>
              </a:spcAft>
              <a:buNone/>
            </a:pPr>
            <a:r>
              <a:rPr lang="pt-BR" sz="1800" b="1">
                <a:solidFill>
                  <a:srgbClr val="FF5A1F"/>
                </a:solidFill>
                <a:latin typeface="Aptos Display"/>
                <a:ea typeface="Aptos Display"/>
                <a:cs typeface="Aptos Display"/>
              </a:rPr>
              <a:t>Tecnologias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pt-BR" sz="1800">
                <a:solidFill>
                  <a:srgbClr val="FFFFFF"/>
                </a:solidFill>
              </a:rPr>
              <a:t>Que tecnologias são usadas?</a:t>
            </a:r>
          </a:p>
        </p:txBody>
      </p:sp>
      <p:sp>
        <p:nvSpPr>
          <p:cNvPr id="105" name="Cartão 105"/>
          <p:cNvSpPr/>
          <p:nvPr/>
        </p:nvSpPr>
        <p:spPr>
          <a:xfrm>
            <a:off x="9495130" y="1783080"/>
            <a:ext cx="202631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2DA"/>
            </a:solidFill>
          </a:ln>
          <a:effectLst>
            <a:outerShdw blurRad="76200" dist="19050" dir="5400000" algn="t" rotWithShape="0">
              <a:srgbClr val="0A2252">
                <a:alpha val="12000"/>
              </a:srgbClr>
            </a:outerShdw>
          </a:effectLst>
        </p:spPr>
        <p:txBody>
          <a:bodyPr wrap="square" lIns="164592" tIns="164592" rIns="164592" bIns="164592" rtlCol="0" anchor="t">
            <a:normAutofit/>
          </a:bodyPr>
          <a:lstStyle/>
          <a:p>
            <a:pPr marL="0" indent="0" algn="l">
              <a:lnSpc>
                <a:spcPct val="100000"/>
              </a:lnSpc>
              <a:spcAft>
                <a:spcPts val="500"/>
              </a:spcAft>
              <a:buNone/>
            </a:pPr>
            <a:r>
              <a:rPr lang="pt-BR" sz="1800" b="1">
                <a:solidFill>
                  <a:srgbClr val="0A2252"/>
                </a:solidFill>
                <a:latin typeface="Aptos Display"/>
                <a:ea typeface="Aptos Display"/>
                <a:cs typeface="Aptos Display"/>
              </a:rPr>
              <a:t>Práticas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pt-BR" sz="1800">
                <a:solidFill>
                  <a:srgbClr val="26364F"/>
                </a:solidFill>
              </a:rPr>
              <a:t>O que as pessoas realmente fazem?</a:t>
            </a:r>
          </a:p>
        </p:txBody>
      </p:sp>
      <p:sp>
        <p:nvSpPr>
          <p:cNvPr id="106" name="Texto 106"/>
          <p:cNvSpPr txBox="1"/>
          <p:nvPr/>
        </p:nvSpPr>
        <p:spPr>
          <a:xfrm>
            <a:off x="658368" y="4023360"/>
            <a:ext cx="10863072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pt-BR" sz="1600" b="1" dirty="0">
                <a:solidFill>
                  <a:srgbClr val="0A2252"/>
                </a:solidFill>
              </a:rPr>
              <a:t>Um componente isolado não forma uma arena. O objeto de análise é o entrelaçamento.</a:t>
            </a:r>
          </a:p>
        </p:txBody>
      </p:sp>
      <p:sp>
        <p:nvSpPr>
          <p:cNvPr id="107" name="Roteiro 107"/>
          <p:cNvSpPr/>
          <p:nvPr/>
        </p:nvSpPr>
        <p:spPr>
          <a:xfrm>
            <a:off x="7269480" y="5230368"/>
            <a:ext cx="425196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D1BE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171450" indent="-171450" algn="l">
              <a:spcAft>
                <a:spcPts val="150"/>
              </a:spcAft>
              <a:buFont typeface="Arial"/>
              <a:buChar char="•"/>
            </a:pPr>
            <a:r>
              <a:rPr lang="pt-BR" sz="1050" dirty="0">
                <a:solidFill>
                  <a:srgbClr val="26364F"/>
                </a:solidFill>
              </a:rPr>
              <a:t>Cinco grupos relacionais do framework</a:t>
            </a:r>
          </a:p>
          <a:p>
            <a:pPr marL="171450" indent="-171450" algn="l">
              <a:spcAft>
                <a:spcPts val="150"/>
              </a:spcAft>
              <a:buFont typeface="Arial"/>
              <a:buChar char="•"/>
            </a:pPr>
            <a:r>
              <a:rPr lang="pt-BR" sz="1050" dirty="0">
                <a:solidFill>
                  <a:srgbClr val="26364F"/>
                </a:solidFill>
              </a:rPr>
              <a:t>Mediação por artefatos (Engeström, 2001)</a:t>
            </a:r>
          </a:p>
          <a:p>
            <a:pPr marL="171450" indent="-171450" algn="l">
              <a:spcAft>
                <a:spcPts val="150"/>
              </a:spcAft>
              <a:buFont typeface="Arial"/>
              <a:buChar char="•"/>
            </a:pPr>
            <a:r>
              <a:rPr lang="pt-BR" sz="1050" dirty="0">
                <a:solidFill>
                  <a:srgbClr val="26364F"/>
                </a:solidFill>
              </a:rPr>
              <a:t>Configurações que se sedimentam (Leonardi, 2011)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96112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pt-BR" sz="2600" b="1" dirty="0">
                <a:solidFill>
                  <a:srgbClr val="0A225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CINCO MECANISMOS, COM EXEMPLOS DO JUDICIÁRIO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58368" y="1536192"/>
            <a:ext cx="822960" cy="0"/>
          </a:xfrm>
          <a:prstGeom prst="line">
            <a:avLst/>
          </a:prstGeom>
          <a:noFill/>
          <a:ln w="4445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35A0857D-7EDC-DFF6-3CFE-A70D6D0695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77" t="22570" r="577" b="16329"/>
          <a:stretch>
            <a:fillRect/>
          </a:stretch>
        </p:blipFill>
        <p:spPr>
          <a:xfrm>
            <a:off x="199282" y="5178555"/>
            <a:ext cx="2564091" cy="1566665"/>
          </a:xfrm>
          <a:prstGeom prst="rect">
            <a:avLst/>
          </a:prstGeom>
        </p:spPr>
      </p:pic>
      <p:sp>
        <p:nvSpPr>
          <p:cNvPr id="101" name="Cabeçalho 101"/>
          <p:cNvSpPr/>
          <p:nvPr/>
        </p:nvSpPr>
        <p:spPr>
          <a:xfrm>
            <a:off x="658368" y="1737360"/>
            <a:ext cx="2743200" cy="365760"/>
          </a:xfrm>
          <a:prstGeom prst="rect">
            <a:avLst/>
          </a:prstGeom>
          <a:solidFill>
            <a:srgbClr val="0A2252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0" indent="0" algn="l">
              <a:buNone/>
            </a:pPr>
            <a:r>
              <a:rPr lang="pt-BR" sz="1200" b="1" dirty="0">
                <a:solidFill>
                  <a:srgbClr val="FFFFFF"/>
                </a:solidFill>
              </a:rPr>
              <a:t>Mecanismo</a:t>
            </a:r>
          </a:p>
        </p:txBody>
      </p:sp>
      <p:sp>
        <p:nvSpPr>
          <p:cNvPr id="102" name="Cabeçalho 102"/>
          <p:cNvSpPr/>
          <p:nvPr/>
        </p:nvSpPr>
        <p:spPr>
          <a:xfrm>
            <a:off x="3401568" y="1737360"/>
            <a:ext cx="3566160" cy="365760"/>
          </a:xfrm>
          <a:prstGeom prst="rect">
            <a:avLst/>
          </a:prstGeom>
          <a:solidFill>
            <a:srgbClr val="0A2252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0" indent="0" algn="l">
              <a:buNone/>
            </a:pPr>
            <a:r>
              <a:rPr lang="pt-BR" sz="1200" b="1" dirty="0">
                <a:solidFill>
                  <a:srgbClr val="FFFFFF"/>
                </a:solidFill>
              </a:rPr>
              <a:t>Pergunta</a:t>
            </a:r>
          </a:p>
        </p:txBody>
      </p:sp>
      <p:sp>
        <p:nvSpPr>
          <p:cNvPr id="103" name="Cabeçalho 103"/>
          <p:cNvSpPr/>
          <p:nvPr/>
        </p:nvSpPr>
        <p:spPr>
          <a:xfrm>
            <a:off x="6967728" y="1737360"/>
            <a:ext cx="4553712" cy="365760"/>
          </a:xfrm>
          <a:prstGeom prst="rect">
            <a:avLst/>
          </a:prstGeom>
          <a:solidFill>
            <a:srgbClr val="0A2252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0" indent="0" algn="l">
              <a:buNone/>
            </a:pPr>
            <a:r>
              <a:rPr lang="pt-BR" sz="1200" b="1" dirty="0">
                <a:solidFill>
                  <a:srgbClr val="FFFFFF"/>
                </a:solidFill>
              </a:rPr>
              <a:t>Exemplo no Judiciário</a:t>
            </a:r>
          </a:p>
        </p:txBody>
      </p:sp>
      <p:sp>
        <p:nvSpPr>
          <p:cNvPr id="104" name="Célula 104"/>
          <p:cNvSpPr/>
          <p:nvPr/>
        </p:nvSpPr>
        <p:spPr>
          <a:xfrm>
            <a:off x="658368" y="2103120"/>
            <a:ext cx="27432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0" indent="0" algn="l">
              <a:buNone/>
            </a:pPr>
            <a:r>
              <a:rPr lang="pt-BR" sz="1250" b="1" dirty="0">
                <a:solidFill>
                  <a:srgbClr val="0A2252"/>
                </a:solidFill>
              </a:rPr>
              <a:t>M1 · Instrumentação</a:t>
            </a:r>
          </a:p>
        </p:txBody>
      </p:sp>
      <p:sp>
        <p:nvSpPr>
          <p:cNvPr id="105" name="Célula 105"/>
          <p:cNvSpPr/>
          <p:nvPr/>
        </p:nvSpPr>
        <p:spPr>
          <a:xfrm>
            <a:off x="3401568" y="2103120"/>
            <a:ext cx="356616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0" indent="0" algn="l">
              <a:buNone/>
            </a:pPr>
            <a:r>
              <a:rPr lang="pt-BR" sz="1250" dirty="0">
                <a:solidFill>
                  <a:srgbClr val="26364F"/>
                </a:solidFill>
              </a:rPr>
              <a:t>Como a norma vira arranjo concreto?</a:t>
            </a:r>
          </a:p>
        </p:txBody>
      </p:sp>
      <p:sp>
        <p:nvSpPr>
          <p:cNvPr id="106" name="Célula 106"/>
          <p:cNvSpPr/>
          <p:nvPr/>
        </p:nvSpPr>
        <p:spPr>
          <a:xfrm>
            <a:off x="6967728" y="2103120"/>
            <a:ext cx="4553712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91440" rIns="91440" bIns="9144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pt-BR" sz="1250" dirty="0">
                <a:solidFill>
                  <a:srgbClr val="26364F"/>
                </a:solidFill>
              </a:rPr>
              <a:t>Resolução de acessibilidade que vira, ou não, rampa e sinalização tátil</a:t>
            </a:r>
          </a:p>
        </p:txBody>
      </p:sp>
      <p:sp>
        <p:nvSpPr>
          <p:cNvPr id="107" name="Célula 107"/>
          <p:cNvSpPr/>
          <p:nvPr/>
        </p:nvSpPr>
        <p:spPr>
          <a:xfrm>
            <a:off x="658368" y="2651760"/>
            <a:ext cx="2743200" cy="548640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0" indent="0" algn="l">
              <a:buNone/>
            </a:pPr>
            <a:r>
              <a:rPr lang="pt-BR" sz="1250" b="1" dirty="0">
                <a:solidFill>
                  <a:srgbClr val="0A2252"/>
                </a:solidFill>
              </a:rPr>
              <a:t>M2 · Mediação do trabalho</a:t>
            </a:r>
          </a:p>
        </p:txBody>
      </p:sp>
      <p:sp>
        <p:nvSpPr>
          <p:cNvPr id="108" name="Célula 108"/>
          <p:cNvSpPr/>
          <p:nvPr/>
        </p:nvSpPr>
        <p:spPr>
          <a:xfrm>
            <a:off x="3401568" y="2651760"/>
            <a:ext cx="3566160" cy="548640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0" indent="0" algn="l">
              <a:buNone/>
            </a:pPr>
            <a:r>
              <a:rPr lang="pt-BR" sz="1250" dirty="0">
                <a:solidFill>
                  <a:srgbClr val="26364F"/>
                </a:solidFill>
              </a:rPr>
              <a:t>Como o arranjo organiza o trabalho?</a:t>
            </a:r>
          </a:p>
        </p:txBody>
      </p:sp>
      <p:sp>
        <p:nvSpPr>
          <p:cNvPr id="109" name="Célula 109"/>
          <p:cNvSpPr/>
          <p:nvPr/>
        </p:nvSpPr>
        <p:spPr>
          <a:xfrm>
            <a:off x="6967728" y="2651760"/>
            <a:ext cx="4553712" cy="548640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91440" tIns="91440" rIns="91440" bIns="9144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pt-BR" sz="1250" dirty="0">
                <a:solidFill>
                  <a:srgbClr val="26364F"/>
                </a:solidFill>
              </a:rPr>
              <a:t>Processos empilhados no corredor porque o arquivo fica em outro andar</a:t>
            </a:r>
          </a:p>
        </p:txBody>
      </p:sp>
      <p:sp>
        <p:nvSpPr>
          <p:cNvPr id="110" name="Célula 110"/>
          <p:cNvSpPr/>
          <p:nvPr/>
        </p:nvSpPr>
        <p:spPr>
          <a:xfrm>
            <a:off x="658368" y="3200400"/>
            <a:ext cx="27432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0" indent="0" algn="l">
              <a:buNone/>
            </a:pPr>
            <a:r>
              <a:rPr lang="pt-BR" sz="1250" b="1" dirty="0">
                <a:solidFill>
                  <a:srgbClr val="0A2252"/>
                </a:solidFill>
              </a:rPr>
              <a:t>M3 · Mediação da experiência</a:t>
            </a:r>
          </a:p>
        </p:txBody>
      </p:sp>
      <p:sp>
        <p:nvSpPr>
          <p:cNvPr id="111" name="Célula 111"/>
          <p:cNvSpPr/>
          <p:nvPr/>
        </p:nvSpPr>
        <p:spPr>
          <a:xfrm>
            <a:off x="3401568" y="3200400"/>
            <a:ext cx="356616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91440" rIns="91440" bIns="9144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pt-BR" sz="1250" dirty="0">
                <a:solidFill>
                  <a:srgbClr val="26364F"/>
                </a:solidFill>
              </a:rPr>
              <a:t>Como o lugar afeta a percepção de tratamento justo?</a:t>
            </a:r>
          </a:p>
        </p:txBody>
      </p:sp>
      <p:sp>
        <p:nvSpPr>
          <p:cNvPr id="112" name="Célula 112"/>
          <p:cNvSpPr/>
          <p:nvPr/>
        </p:nvSpPr>
        <p:spPr>
          <a:xfrm>
            <a:off x="6967728" y="3200400"/>
            <a:ext cx="4553712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91440" rIns="91440" bIns="9144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pt-BR" sz="1250" dirty="0">
                <a:solidFill>
                  <a:srgbClr val="26364F"/>
                </a:solidFill>
              </a:rPr>
              <a:t>Bancada elevada na sala de audiência reforça a distância institucional</a:t>
            </a:r>
          </a:p>
        </p:txBody>
      </p:sp>
      <p:sp>
        <p:nvSpPr>
          <p:cNvPr id="113" name="Célula 113"/>
          <p:cNvSpPr/>
          <p:nvPr/>
        </p:nvSpPr>
        <p:spPr>
          <a:xfrm>
            <a:off x="658368" y="3749040"/>
            <a:ext cx="2743200" cy="548640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0" indent="0" algn="l">
              <a:buNone/>
            </a:pPr>
            <a:r>
              <a:rPr lang="pt-BR" sz="1250" b="1" dirty="0">
                <a:solidFill>
                  <a:srgbClr val="0A2252"/>
                </a:solidFill>
              </a:rPr>
              <a:t>M4 · Legibilidade</a:t>
            </a:r>
          </a:p>
        </p:txBody>
      </p:sp>
      <p:sp>
        <p:nvSpPr>
          <p:cNvPr id="114" name="Célula 114"/>
          <p:cNvSpPr/>
          <p:nvPr/>
        </p:nvSpPr>
        <p:spPr>
          <a:xfrm>
            <a:off x="3401568" y="3749040"/>
            <a:ext cx="3566160" cy="548640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0" indent="0" algn="l">
              <a:buNone/>
            </a:pPr>
            <a:r>
              <a:rPr lang="pt-BR" sz="1250" dirty="0">
                <a:solidFill>
                  <a:srgbClr val="26364F"/>
                </a:solidFill>
              </a:rPr>
              <a:t>A instituição é compreensível para quem chega?</a:t>
            </a:r>
          </a:p>
        </p:txBody>
      </p:sp>
      <p:sp>
        <p:nvSpPr>
          <p:cNvPr id="115" name="Célula 115"/>
          <p:cNvSpPr/>
          <p:nvPr/>
        </p:nvSpPr>
        <p:spPr>
          <a:xfrm>
            <a:off x="6967728" y="3749040"/>
            <a:ext cx="4553712" cy="548640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91440" tIns="91440" rIns="91440" bIns="9144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pt-BR" sz="1250" dirty="0">
                <a:solidFill>
                  <a:srgbClr val="26364F"/>
                </a:solidFill>
              </a:rPr>
              <a:t>Tribunal sem sinalização obriga o cidadão a perguntar várias vezes</a:t>
            </a:r>
          </a:p>
        </p:txBody>
      </p:sp>
      <p:sp>
        <p:nvSpPr>
          <p:cNvPr id="116" name="Célula 116"/>
          <p:cNvSpPr/>
          <p:nvPr/>
        </p:nvSpPr>
        <p:spPr>
          <a:xfrm>
            <a:off x="658368" y="4297680"/>
            <a:ext cx="27432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0" indent="0" algn="l">
              <a:buNone/>
            </a:pPr>
            <a:r>
              <a:rPr lang="pt-BR" sz="1250" b="1" dirty="0">
                <a:solidFill>
                  <a:srgbClr val="0A2252"/>
                </a:solidFill>
              </a:rPr>
              <a:t>M5 · Aprendizagem</a:t>
            </a:r>
          </a:p>
        </p:txBody>
      </p:sp>
      <p:sp>
        <p:nvSpPr>
          <p:cNvPr id="117" name="Célula 117"/>
          <p:cNvSpPr/>
          <p:nvPr/>
        </p:nvSpPr>
        <p:spPr>
          <a:xfrm>
            <a:off x="3401568" y="4297680"/>
            <a:ext cx="356616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0" indent="0" algn="l">
              <a:buNone/>
            </a:pPr>
            <a:r>
              <a:rPr lang="pt-BR" sz="1250" dirty="0">
                <a:solidFill>
                  <a:srgbClr val="26364F"/>
                </a:solidFill>
              </a:rPr>
              <a:t>As fricções chegam a quem decide?</a:t>
            </a:r>
          </a:p>
        </p:txBody>
      </p:sp>
      <p:sp>
        <p:nvSpPr>
          <p:cNvPr id="118" name="Célula 118"/>
          <p:cNvSpPr/>
          <p:nvPr/>
        </p:nvSpPr>
        <p:spPr>
          <a:xfrm>
            <a:off x="6967728" y="4297680"/>
            <a:ext cx="4553712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91440" rIns="91440" bIns="9144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pt-BR" sz="1250" dirty="0">
                <a:solidFill>
                  <a:srgbClr val="26364F"/>
                </a:solidFill>
              </a:rPr>
              <a:t>Erros recorrentes do sistema eletrônico nunca notificados à gestão</a:t>
            </a:r>
          </a:p>
        </p:txBody>
      </p:sp>
      <p:sp>
        <p:nvSpPr>
          <p:cNvPr id="119" name="Roteiro 119"/>
          <p:cNvSpPr/>
          <p:nvPr/>
        </p:nvSpPr>
        <p:spPr>
          <a:xfrm>
            <a:off x="7269480" y="5230368"/>
            <a:ext cx="425196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D1BE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171450" indent="-171450" algn="l">
              <a:spcAft>
                <a:spcPts val="150"/>
              </a:spcAft>
              <a:buFont typeface="Arial"/>
              <a:buChar char="•"/>
            </a:pPr>
            <a:r>
              <a:rPr lang="pt-BR" sz="1050" dirty="0">
                <a:solidFill>
                  <a:srgbClr val="26364F"/>
                </a:solidFill>
              </a:rPr>
              <a:t>Norma que vira arranjo (Lascoumes; Le Galès, 2007)</a:t>
            </a:r>
          </a:p>
          <a:p>
            <a:pPr marL="171450" indent="-171450" algn="l">
              <a:spcAft>
                <a:spcPts val="150"/>
              </a:spcAft>
              <a:buFont typeface="Arial"/>
              <a:buChar char="•"/>
            </a:pPr>
            <a:r>
              <a:rPr lang="pt-BR" sz="1050" dirty="0">
                <a:solidFill>
                  <a:srgbClr val="26364F"/>
                </a:solidFill>
              </a:rPr>
              <a:t>Justiça procedimental (Tyler, 2003)</a:t>
            </a:r>
          </a:p>
          <a:p>
            <a:pPr marL="171450" indent="-171450" algn="l">
              <a:spcAft>
                <a:spcPts val="150"/>
              </a:spcAft>
              <a:buFont typeface="Arial"/>
              <a:buChar char="•"/>
            </a:pPr>
            <a:r>
              <a:rPr lang="pt-BR" sz="1050" dirty="0">
                <a:solidFill>
                  <a:srgbClr val="26364F"/>
                </a:solidFill>
              </a:rPr>
              <a:t>Aprendizagem organizacional (Argyris; Schön, 1978)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04672"/>
            <a:ext cx="10863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pt-BR" sz="2600" b="1">
                <a:solidFill>
                  <a:srgbClr val="0A225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ONDE ESTÁ O PROBLEMA?</a:t>
            </a:r>
          </a:p>
        </p:txBody>
      </p:sp>
      <p:sp>
        <p:nvSpPr>
          <p:cNvPr id="3" name="Shape 1"/>
          <p:cNvSpPr/>
          <p:nvPr/>
        </p:nvSpPr>
        <p:spPr>
          <a:xfrm>
            <a:off x="658368" y="1536192"/>
            <a:ext cx="822960" cy="0"/>
          </a:xfrm>
          <a:prstGeom prst="line">
            <a:avLst/>
          </a:prstGeom>
          <a:noFill/>
          <a:ln w="44450">
            <a:solidFill>
              <a:srgbClr val="FF5A1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35A0857D-7EDC-DFF6-3CFE-A70D6D0695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77" t="22570" r="577" b="16329"/>
          <a:stretch>
            <a:fillRect/>
          </a:stretch>
        </p:blipFill>
        <p:spPr>
          <a:xfrm>
            <a:off x="199282" y="5178555"/>
            <a:ext cx="2564091" cy="1566665"/>
          </a:xfrm>
          <a:prstGeom prst="rect">
            <a:avLst/>
          </a:prstGeom>
        </p:spPr>
      </p:pic>
      <p:sp>
        <p:nvSpPr>
          <p:cNvPr id="101" name="Lugar 101"/>
          <p:cNvSpPr/>
          <p:nvPr/>
        </p:nvSpPr>
        <p:spPr>
          <a:xfrm>
            <a:off x="658368" y="1828800"/>
            <a:ext cx="3499408" cy="914400"/>
          </a:xfrm>
          <a:prstGeom prst="roundRect">
            <a:avLst>
              <a:gd name="adj" fmla="val 8000"/>
            </a:avLst>
          </a:prstGeom>
          <a:solidFill>
            <a:srgbClr val="0A2252"/>
          </a:solidFill>
          <a:ln>
            <a:noFill/>
          </a:ln>
        </p:spPr>
        <p:txBody>
          <a:bodyPr wrap="square" lIns="201168" tIns="201168" rIns="201168" bIns="201168" rtlCol="0" anchor="ctr">
            <a:normAutofit/>
          </a:bodyPr>
          <a:lstStyle/>
          <a:p>
            <a:pPr marL="0" indent="0" algn="l">
              <a:buNone/>
            </a:pPr>
            <a:r>
              <a:rPr lang="pt-BR" sz="24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Fila</a:t>
            </a:r>
          </a:p>
        </p:txBody>
      </p:sp>
      <p:sp>
        <p:nvSpPr>
          <p:cNvPr id="102" name="Lugar 102"/>
          <p:cNvSpPr/>
          <p:nvPr/>
        </p:nvSpPr>
        <p:spPr>
          <a:xfrm>
            <a:off x="4338828" y="1828800"/>
            <a:ext cx="349940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2DA"/>
            </a:solidFill>
          </a:ln>
        </p:spPr>
        <p:txBody>
          <a:bodyPr wrap="square" lIns="201168" tIns="201168" rIns="201168" bIns="201168" rtlCol="0" anchor="ctr">
            <a:normAutofit/>
          </a:bodyPr>
          <a:lstStyle/>
          <a:p>
            <a:pPr marL="0" indent="0" algn="l">
              <a:buNone/>
            </a:pPr>
            <a:r>
              <a:rPr lang="pt-BR" sz="2400" b="1">
                <a:solidFill>
                  <a:srgbClr val="0A2252"/>
                </a:solidFill>
                <a:latin typeface="Aptos Display"/>
                <a:ea typeface="Aptos Display"/>
                <a:cs typeface="Aptos Display"/>
              </a:rPr>
              <a:t>Balcão</a:t>
            </a:r>
          </a:p>
        </p:txBody>
      </p:sp>
      <p:sp>
        <p:nvSpPr>
          <p:cNvPr id="103" name="Lugar 103"/>
          <p:cNvSpPr/>
          <p:nvPr/>
        </p:nvSpPr>
        <p:spPr>
          <a:xfrm>
            <a:off x="8019288" y="1828800"/>
            <a:ext cx="3499408" cy="914400"/>
          </a:xfrm>
          <a:prstGeom prst="roundRect">
            <a:avLst>
              <a:gd name="adj" fmla="val 8000"/>
            </a:avLst>
          </a:prstGeom>
          <a:solidFill>
            <a:srgbClr val="0A2252"/>
          </a:solidFill>
          <a:ln>
            <a:noFill/>
          </a:ln>
        </p:spPr>
        <p:txBody>
          <a:bodyPr wrap="square" lIns="201168" tIns="201168" rIns="201168" bIns="201168" rtlCol="0" anchor="ctr">
            <a:normAutofit/>
          </a:bodyPr>
          <a:lstStyle/>
          <a:p>
            <a:pPr marL="0" indent="0" algn="l">
              <a:buNone/>
            </a:pPr>
            <a:r>
              <a:rPr lang="pt-BR" sz="24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Formulário</a:t>
            </a:r>
          </a:p>
        </p:txBody>
      </p:sp>
      <p:sp>
        <p:nvSpPr>
          <p:cNvPr id="104" name="Lugar 104"/>
          <p:cNvSpPr/>
          <p:nvPr/>
        </p:nvSpPr>
        <p:spPr>
          <a:xfrm>
            <a:off x="658368" y="3017520"/>
            <a:ext cx="349940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2DA"/>
            </a:solidFill>
          </a:ln>
        </p:spPr>
        <p:txBody>
          <a:bodyPr wrap="square" lIns="201168" tIns="201168" rIns="201168" bIns="201168" rtlCol="0" anchor="ctr">
            <a:normAutofit/>
          </a:bodyPr>
          <a:lstStyle/>
          <a:p>
            <a:pPr marL="0" indent="0" algn="l">
              <a:buNone/>
            </a:pPr>
            <a:r>
              <a:rPr lang="pt-BR" sz="2400" b="1">
                <a:solidFill>
                  <a:srgbClr val="0A2252"/>
                </a:solidFill>
                <a:latin typeface="Aptos Display"/>
                <a:ea typeface="Aptos Display"/>
                <a:cs typeface="Aptos Display"/>
              </a:rPr>
              <a:t>Sistema</a:t>
            </a:r>
          </a:p>
        </p:txBody>
      </p:sp>
      <p:sp>
        <p:nvSpPr>
          <p:cNvPr id="105" name="Lugar 105"/>
          <p:cNvSpPr/>
          <p:nvPr/>
        </p:nvSpPr>
        <p:spPr>
          <a:xfrm>
            <a:off x="4338828" y="3017520"/>
            <a:ext cx="349940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2DA"/>
            </a:solidFill>
          </a:ln>
        </p:spPr>
        <p:txBody>
          <a:bodyPr wrap="square" lIns="201168" tIns="201168" rIns="201168" bIns="201168" rtlCol="0" anchor="ctr">
            <a:normAutofit/>
          </a:bodyPr>
          <a:lstStyle/>
          <a:p>
            <a:pPr marL="0" indent="0" algn="l">
              <a:buNone/>
            </a:pPr>
            <a:r>
              <a:rPr lang="pt-BR" sz="2400" b="1">
                <a:solidFill>
                  <a:srgbClr val="0A2252"/>
                </a:solidFill>
                <a:latin typeface="Aptos Display"/>
                <a:ea typeface="Aptos Display"/>
                <a:cs typeface="Aptos Display"/>
              </a:rPr>
              <a:t>Aplicativo</a:t>
            </a:r>
          </a:p>
        </p:txBody>
      </p:sp>
      <p:sp>
        <p:nvSpPr>
          <p:cNvPr id="106" name="Lugar 106"/>
          <p:cNvSpPr/>
          <p:nvPr/>
        </p:nvSpPr>
        <p:spPr>
          <a:xfrm>
            <a:off x="8019288" y="3017520"/>
            <a:ext cx="3499408" cy="914400"/>
          </a:xfrm>
          <a:prstGeom prst="roundRect">
            <a:avLst>
              <a:gd name="adj" fmla="val 8000"/>
            </a:avLst>
          </a:prstGeom>
          <a:solidFill>
            <a:srgbClr val="0A2252"/>
          </a:solidFill>
          <a:ln>
            <a:noFill/>
          </a:ln>
        </p:spPr>
        <p:txBody>
          <a:bodyPr wrap="square" lIns="201168" tIns="201168" rIns="201168" bIns="201168" rtlCol="0" anchor="ctr">
            <a:normAutofit/>
          </a:bodyPr>
          <a:lstStyle/>
          <a:p>
            <a:pPr marL="0" indent="0" algn="l">
              <a:buNone/>
            </a:pPr>
            <a:r>
              <a:rPr lang="pt-BR" sz="24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Equipe</a:t>
            </a:r>
          </a:p>
        </p:txBody>
      </p:sp>
      <p:sp>
        <p:nvSpPr>
          <p:cNvPr id="109" name="Texto 109"/>
          <p:cNvSpPr txBox="1"/>
          <p:nvPr/>
        </p:nvSpPr>
        <p:spPr>
          <a:xfrm>
            <a:off x="658368" y="4069080"/>
            <a:ext cx="10863072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pt-BR" sz="2400">
                <a:solidFill>
                  <a:srgbClr val="26364F"/>
                </a:solidFill>
              </a:rPr>
              <a:t>A política ganha forma nesses lugares, objetos e relações.</a:t>
            </a:r>
          </a:p>
        </p:txBody>
      </p:sp>
      <p:sp>
        <p:nvSpPr>
          <p:cNvPr id="110" name="Roteiro 110"/>
          <p:cNvSpPr/>
          <p:nvPr/>
        </p:nvSpPr>
        <p:spPr>
          <a:xfrm>
            <a:off x="7269480" y="5230368"/>
            <a:ext cx="425196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D1BE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marL="171450" indent="-171450" algn="l">
              <a:spcAft>
                <a:spcPts val="150"/>
              </a:spcAft>
              <a:buFont typeface="Arial"/>
              <a:buChar char="•"/>
            </a:pPr>
            <a:r>
              <a:rPr lang="pt-BR" sz="1050" dirty="0">
                <a:solidFill>
                  <a:srgbClr val="26364F"/>
                </a:solidFill>
              </a:rPr>
              <a:t>Ambiente e serviço: servicescape (Bitner, 1992)</a:t>
            </a:r>
          </a:p>
          <a:p>
            <a:pPr marL="171450" indent="-171450" algn="l">
              <a:spcAft>
                <a:spcPts val="150"/>
              </a:spcAft>
              <a:buFont typeface="Arial"/>
              <a:buChar char="•"/>
            </a:pPr>
            <a:r>
              <a:rPr lang="pt-BR" sz="1050" dirty="0">
                <a:solidFill>
                  <a:srgbClr val="26364F"/>
                </a:solidFill>
              </a:rPr>
              <a:t>Custos administrativos (Herd; Moynihan, 2019)</a:t>
            </a:r>
          </a:p>
          <a:p>
            <a:pPr marL="171450" indent="-171450" algn="l">
              <a:spcAft>
                <a:spcPts val="150"/>
              </a:spcAft>
              <a:buFont typeface="Arial"/>
              <a:buChar char="•"/>
            </a:pPr>
            <a:r>
              <a:rPr lang="pt-BR" sz="1050" dirty="0">
                <a:solidFill>
                  <a:srgbClr val="26364F"/>
                </a:solidFill>
              </a:rPr>
              <a:t>Instrumentos de política (Lascoumes; Le Galès, 2007)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82" y="5178555"/>
            <a:ext cx="2564091" cy="156666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804672"/>
            <a:ext cx="9509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09224E"/>
                </a:solidFill>
                <a:latin typeface="Aptos"/>
              </a:rPr>
              <a:t>DADOS COMO DIFERENCIAL DO ADMINISTRADOR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90472"/>
            <a:ext cx="749808" cy="32004"/>
          </a:xfrm>
          <a:prstGeom prst="rect">
            <a:avLst/>
          </a:prstGeom>
          <a:solidFill>
            <a:srgbClr val="FF4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755648"/>
            <a:ext cx="10149840" cy="566928"/>
          </a:xfrm>
          <a:prstGeom prst="roundRect">
            <a:avLst/>
          </a:prstGeom>
          <a:solidFill>
            <a:srgbClr val="FFF2EE"/>
          </a:solidFill>
          <a:ln w="8890">
            <a:solidFill>
              <a:srgbClr val="FF78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0">
                <a:solidFill>
                  <a:srgbClr val="09224E"/>
                </a:solidFill>
                <a:latin typeface="Aptos"/>
              </a:rPr>
              <a:t>O diferencial hoje é transformar dados brutos em informação para decidir melhor.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743200"/>
            <a:ext cx="2423160" cy="1060704"/>
          </a:xfrm>
          <a:prstGeom prst="roundRect">
            <a:avLst/>
          </a:prstGeom>
          <a:solidFill>
            <a:srgbClr val="F6F9FD"/>
          </a:solidFill>
          <a:ln w="12700">
            <a:solidFill>
              <a:srgbClr val="D5E1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09224E"/>
                </a:solidFill>
                <a:latin typeface="Aptos"/>
              </a:rPr>
              <a:t>INFORMAÇÕES</a:t>
            </a:r>
            <a:br/>
            <a:r>
              <a:rPr sz="1250" b="1">
                <a:solidFill>
                  <a:srgbClr val="09224E"/>
                </a:solidFill>
                <a:latin typeface="Aptos"/>
              </a:rPr>
              <a:t>BRUTAS</a:t>
            </a:r>
            <a:br/>
            <a:br/>
            <a:r>
              <a:rPr sz="1250" b="1">
                <a:solidFill>
                  <a:srgbClr val="09224E"/>
                </a:solidFill>
                <a:latin typeface="Aptos"/>
              </a:rPr>
              <a:t>planilhas • sistemas</a:t>
            </a:r>
            <a:br/>
            <a:r>
              <a:rPr sz="1250" b="1">
                <a:solidFill>
                  <a:srgbClr val="09224E"/>
                </a:solidFill>
                <a:latin typeface="Aptos"/>
              </a:rPr>
              <a:t>atendimentos • prazos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75304" y="30175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FF4622"/>
                </a:solidFill>
                <a:latin typeface="Aptos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41064" y="2743200"/>
            <a:ext cx="2606040" cy="1060704"/>
          </a:xfrm>
          <a:prstGeom prst="roundRect">
            <a:avLst/>
          </a:prstGeom>
          <a:solidFill>
            <a:srgbClr val="09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Aptos"/>
              </a:rPr>
              <a:t>MÉTODO</a:t>
            </a:r>
            <a:br/>
            <a:r>
              <a:rPr sz="1250" b="1">
                <a:solidFill>
                  <a:srgbClr val="FFFFFF"/>
                </a:solidFill>
                <a:latin typeface="Aptos"/>
              </a:rPr>
              <a:t>CIENTÍFICO + IA</a:t>
            </a:r>
            <a:br/>
            <a:br/>
            <a:r>
              <a:rPr sz="1250" b="1">
                <a:solidFill>
                  <a:srgbClr val="FFFFFF"/>
                </a:solidFill>
                <a:latin typeface="Aptos"/>
              </a:rPr>
              <a:t>pergunta • hipótese</a:t>
            </a:r>
            <a:br/>
            <a:r>
              <a:rPr sz="1250" b="1">
                <a:solidFill>
                  <a:srgbClr val="FFFFFF"/>
                </a:solidFill>
                <a:latin typeface="Aptos"/>
              </a:rPr>
              <a:t>variável • análise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93408" y="30175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FF4622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59168" y="2743200"/>
            <a:ext cx="2423160" cy="1060704"/>
          </a:xfrm>
          <a:prstGeom prst="roundRect">
            <a:avLst/>
          </a:prstGeom>
          <a:solidFill>
            <a:srgbClr val="F6F9FD"/>
          </a:solidFill>
          <a:ln w="12700">
            <a:solidFill>
              <a:srgbClr val="D5E1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09224E"/>
                </a:solidFill>
                <a:latin typeface="Aptos"/>
              </a:rPr>
              <a:t>DECISÃO</a:t>
            </a:r>
            <a:br/>
            <a:r>
              <a:rPr sz="1250" b="1">
                <a:solidFill>
                  <a:srgbClr val="09224E"/>
                </a:solidFill>
                <a:latin typeface="Aptos"/>
              </a:rPr>
              <a:t>FUNDAMENTADA</a:t>
            </a:r>
            <a:br/>
            <a:br/>
            <a:r>
              <a:rPr sz="1250" b="1">
                <a:solidFill>
                  <a:srgbClr val="09224E"/>
                </a:solidFill>
                <a:latin typeface="Aptos"/>
              </a:rPr>
              <a:t>diagnóstico • proposta</a:t>
            </a:r>
            <a:br/>
            <a:r>
              <a:rPr sz="1250" b="1">
                <a:solidFill>
                  <a:srgbClr val="09224E"/>
                </a:solidFill>
                <a:latin typeface="Aptos"/>
              </a:rPr>
              <a:t>indicador • aprendizagem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059936"/>
            <a:ext cx="9144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50" b="1">
                <a:solidFill>
                  <a:srgbClr val="09224E"/>
                </a:solidFill>
                <a:latin typeface="Aptos"/>
              </a:rPr>
              <a:t>Organizações já produzem dados. Método transforma registros dispersos em evidência para ação.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4507992"/>
            <a:ext cx="7543800" cy="566928"/>
          </a:xfrm>
          <a:prstGeom prst="roundRect">
            <a:avLst/>
          </a:prstGeom>
          <a:solidFill>
            <a:srgbClr val="09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Com método, a inteligência artificial acelera a análise.</a:t>
            </a:r>
            <a:br/>
            <a:r>
              <a:rPr sz="1700" b="1">
                <a:solidFill>
                  <a:srgbClr val="FFFFFF"/>
                </a:solidFill>
                <a:latin typeface="Aptos"/>
              </a:rPr>
              <a:t>Sem método, ela só acelera a confusão.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3160" y="5321808"/>
            <a:ext cx="6355080" cy="402336"/>
          </a:xfrm>
          <a:prstGeom prst="roundRect">
            <a:avLst/>
          </a:prstGeom>
          <a:solidFill>
            <a:srgbClr val="FFF2EE"/>
          </a:solidFill>
          <a:ln w="8890">
            <a:solidFill>
              <a:srgbClr val="FF78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0">
                <a:solidFill>
                  <a:srgbClr val="09224E"/>
                </a:solidFill>
                <a:latin typeface="Aptos"/>
              </a:rPr>
              <a:t>observar → medir → analisar → comunicar → decidir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5321808"/>
            <a:ext cx="1508760" cy="402336"/>
          </a:xfrm>
          <a:prstGeom prst="roundRect">
            <a:avLst/>
          </a:prstGeom>
          <a:solidFill>
            <a:srgbClr val="FFF8F5"/>
          </a:solidFill>
          <a:ln w="8890">
            <a:solidFill>
              <a:srgbClr val="FF78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19" b="0">
                <a:solidFill>
                  <a:srgbClr val="09224E"/>
                </a:solidFill>
                <a:latin typeface="Aptos"/>
              </a:rPr>
              <a:t>Simon (1947);</a:t>
            </a:r>
            <a:br/>
            <a:r>
              <a:rPr sz="819" b="0">
                <a:solidFill>
                  <a:srgbClr val="09224E"/>
                </a:solidFill>
                <a:latin typeface="Aptos"/>
              </a:rPr>
              <a:t>Briner et al. (2009)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dc42001-9759-4b38-a906-152fbf37e35a}" enabled="1" method="Privileged" siteId="{a50e7b76-8ea5-492c-bf17-97d652fc3ce9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197</TotalTime>
  <Words>5353</Words>
  <Application>Microsoft Office PowerPoint</Application>
  <PresentationFormat>Widescreen</PresentationFormat>
  <Paragraphs>608</Paragraphs>
  <Slides>22</Slides>
  <Notes>22</Notes>
  <HiddenSlides>6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22</vt:i4>
      </vt:variant>
    </vt:vector>
  </HeadingPairs>
  <TitlesOfParts>
    <vt:vector size="26" baseType="lpstr">
      <vt:lpstr>Aptos</vt:lpstr>
      <vt:lpstr>Aptos Display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Anhanguera Asa Norte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 papel do administrador na implementação de políticas públicas</dc:title>
  <dc:subject>Modelo de apresentação para palestrantes do IV Congresso Científico</dc:subject>
  <dc:creator>Igor Caires Machado</dc:creator>
  <cp:lastModifiedBy>Igor Caires</cp:lastModifiedBy>
  <cp:revision>6</cp:revision>
  <dcterms:created xsi:type="dcterms:W3CDTF">2026-09-23T20:36:15Z</dcterms:created>
  <dcterms:modified xsi:type="dcterms:W3CDTF">2026-10-07T00:58:20Z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Theme:3</vt:lpwstr>
  </property>
  <property fmtid="{D5CDD505-2E9C-101B-9397-08002B2CF9AE}" pid="3" name="ClassificationContentMarkingFooterText">
    <vt:lpwstr>Público</vt:lpwstr>
  </property>
</Properties>
</file>